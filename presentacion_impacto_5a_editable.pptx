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mpacto_leads_slid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377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F5130"/>
                </a:solidFill>
                <a:latin typeface="Segoe UI"/>
              </a:rPr>
              <a:t>Impacto </a:t>
            </a:r>
            <a:r>
              <a:rPr sz="2100" b="1">
                <a:solidFill>
                  <a:srgbClr val="9AA6A0"/>
                </a:solidFill>
                <a:latin typeface="Segoe UI"/>
              </a:rPr>
              <a:t>| Nuevos leads · 5 años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7315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Foto del apetito de riesgo: leads elegibles de la </a:t>
            </a:r>
            <a:r>
              <a:rPr sz="1000" b="1">
                <a:solidFill>
                  <a:srgbClr val="1F5130"/>
                </a:solidFill>
                <a:latin typeface="Segoe UI"/>
              </a:rPr>
              <a:t>base inicial</a:t>
            </a:r>
            <a:r>
              <a:rPr sz="1000" b="0">
                <a:solidFill>
                  <a:srgbClr val="5B6F66"/>
                </a:solidFill>
                <a:latin typeface="Segoe UI"/>
              </a:rPr>
              <a:t>, incremento vs. campaña actual y riesgo del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2440" y="27432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0456" y="31089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F5130"/>
                </a:solidFill>
                <a:latin typeface="Segoe UI"/>
              </a:rPr>
              <a:t>RD MÁXIMA 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0456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5130"/>
                </a:solidFill>
                <a:latin typeface="Segoe UI"/>
              </a:rPr>
              <a:t>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274320"/>
            <a:ext cx="1819656" cy="566928"/>
          </a:xfrm>
          <a:prstGeom prst="roundRect">
            <a:avLst>
              <a:gd name="adj" fmla="val 16129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31089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5130"/>
                </a:solidFill>
                <a:latin typeface="Segoe UI"/>
              </a:rPr>
              <a:t>APETITO RESULTANTE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502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hasta </a:t>
            </a:r>
            <a:r>
              <a:rPr sz="1300" b="1">
                <a:solidFill>
                  <a:srgbClr val="22B24C"/>
                </a:solidFill>
                <a:latin typeface="Segoe UI"/>
              </a:rPr>
              <a:t>B3</a:t>
            </a:r>
            <a:r>
              <a:rPr sz="950" b="0">
                <a:solidFill>
                  <a:srgbClr val="5B6F66"/>
                </a:solidFill>
                <a:latin typeface="Segoe UI"/>
              </a:rPr>
              <a:t> · 3 buckets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Leads elegibles (base inicial)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Segoe UI"/>
              </a:rPr>
              <a:t>83,873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E6F3EC"/>
                </a:solidFill>
                <a:latin typeface="Segoe UI"/>
              </a:rPr>
              <a:t>4.9% de la base inicial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3822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22B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1838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Nuevos leads (incremento vs. campaña)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1838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Segoe UI"/>
              </a:rPr>
              <a:t>+66,118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1838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E6F3EC"/>
                </a:solidFill>
                <a:latin typeface="Segoe UI"/>
              </a:rPr>
              <a:t>× 4.7 vs. campaña actual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3596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1612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5B6F66"/>
                </a:solidFill>
                <a:latin typeface="Segoe UI"/>
              </a:rPr>
              <a:t>Hoy en campaña (en estos buckets)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1612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F5130"/>
                </a:solidFill>
                <a:latin typeface="Segoe UI"/>
              </a:rPr>
              <a:t>17,755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1612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B6F66"/>
                </a:solidFill>
                <a:latin typeface="Segoe UI"/>
              </a:rPr>
              <a:t>base de campañas · 20260617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3371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1387" y="1170431"/>
            <a:ext cx="19623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5B6F66"/>
                </a:solidFill>
                <a:latin typeface="Segoe UI"/>
              </a:rPr>
              <a:t>Riesgo del pool seleccionado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387" y="1536192"/>
            <a:ext cx="6541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5B6F66"/>
                </a:solidFill>
                <a:latin typeface="Segoe UI"/>
              </a:rPr>
              <a:t>Prob. prom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1387" y="1700784"/>
            <a:ext cx="654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130"/>
                </a:solidFill>
                <a:latin typeface="Segoe UI"/>
              </a:rPr>
              <a:t>29.7%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8" y="1536192"/>
            <a:ext cx="6541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5B6F66"/>
                </a:solidFill>
                <a:latin typeface="Segoe UI"/>
              </a:rPr>
              <a:t>RD prom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8" y="1700784"/>
            <a:ext cx="654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130"/>
                </a:solidFill>
                <a:latin typeface="Segoe UI"/>
              </a:rPr>
              <a:t>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9588" y="1536192"/>
            <a:ext cx="6541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5B6F66"/>
                </a:solidFill>
                <a:latin typeface="Segoe UI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9588" y="1700784"/>
            <a:ext cx="654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130"/>
                </a:solidFill>
                <a:latin typeface="Segoe UI"/>
              </a:rPr>
              <a:t>703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3145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0A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1161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Nuevos leads por 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1161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Segoe UI"/>
              </a:rPr>
              <a:t>+11,020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E6F3EC"/>
                </a:solidFill>
                <a:latin typeface="Segoe UI"/>
              </a:rPr>
              <a:t>13,979 elegibles / mes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84048" y="2304288"/>
          <a:ext cx="11420852" cy="34061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99459"/>
                <a:gridCol w="970772"/>
                <a:gridCol w="970772"/>
                <a:gridCol w="1941545"/>
                <a:gridCol w="1027877"/>
                <a:gridCol w="1941545"/>
                <a:gridCol w="1713128"/>
                <a:gridCol w="2055754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RD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Base inicial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% base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Nuevos (fuera camp.)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Hoy en campaña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B1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ADEAB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28.2%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1F5130"/>
                          </a:solidFill>
                          <a:latin typeface="Segoe UI"/>
                        </a:rPr>
                        <a:t>7.2%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1F5130"/>
                          </a:solidFill>
                          <a:latin typeface="Segoe UI"/>
                        </a:rPr>
                        <a:t>20,304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1.2%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15,839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4,389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718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B2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AF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31.5%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1F5130"/>
                          </a:solidFill>
                          <a:latin typeface="Segoe UI"/>
                        </a:rPr>
                        <a:t>8.1%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1F5130"/>
                          </a:solidFill>
                          <a:latin typeface="Segoe UI"/>
                        </a:rPr>
                        <a:t>28,500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1.7%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23,084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4,578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685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B3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BB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29.0%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1F5130"/>
                          </a:solidFill>
                          <a:latin typeface="Segoe UI"/>
                        </a:rPr>
                        <a:t>6.8%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1F5130"/>
                          </a:solidFill>
                          <a:latin typeface="Segoe UI"/>
                        </a:rPr>
                        <a:t>35,069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2.1%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23,489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8,788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14271D"/>
                          </a:solidFill>
                          <a:latin typeface="Segoe UI"/>
                        </a:rPr>
                        <a:t>710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C7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35.0%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10.1%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104,996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94,328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7,713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3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35.2%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9.4%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187,958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11.1%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176,976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6,726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39.6%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13.4%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114,041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6.7%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110,243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5,248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603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E9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39.8%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13.5%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289,713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284,907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4,731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602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DD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13.2%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278,690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16.4%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273,776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4,806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598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D1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42.1%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86,512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85,508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2,536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579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C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44.9%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18.1%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111,032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6.5%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110,475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1,460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550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B9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45.0%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19.1%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147,087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8.7%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145,556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1,871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549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AD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47.8%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36.9%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70,579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70,323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3,844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40" b="1">
                          <a:solidFill>
                            <a:srgbClr val="112233"/>
                          </a:solidFill>
                          <a:latin typeface="Segoe UI"/>
                        </a:rPr>
                        <a:t>B13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ADB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52.2%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39.7%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223,194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13.1%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222,592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4,592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0">
                          <a:solidFill>
                            <a:srgbClr val="9FB0A8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Incluidos (3)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29.7%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7.4%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83,873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4.9%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62,412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17,755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40" b="1">
                          <a:solidFill>
                            <a:srgbClr val="0A4B44"/>
                          </a:solidFill>
                          <a:latin typeface="Segoe UI"/>
                        </a:rPr>
                        <a:t>703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</a:tr>
            </a:tbl>
          </a:graphicData>
        </a:graphic>
      </p:graphicFrame>
      <p:cxnSp>
        <p:nvCxnSpPr>
          <p:cNvPr id="35" name="Connector 34"/>
          <p:cNvCxnSpPr/>
          <p:nvPr/>
        </p:nvCxnSpPr>
        <p:spPr>
          <a:xfrm>
            <a:off x="384048" y="3214116"/>
            <a:ext cx="11420856" cy="0"/>
          </a:xfrm>
          <a:prstGeom prst="line">
            <a:avLst/>
          </a:prstGeom>
          <a:ln w="20320">
            <a:solidFill>
              <a:srgbClr val="D24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hlinkClick r:id="rId2"/>
          </p:cNvPr>
          <p:cNvSpPr/>
          <p:nvPr/>
        </p:nvSpPr>
        <p:spPr>
          <a:xfrm>
            <a:off x="4472787" y="5925312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1AA44C"/>
          </a:solidFill>
          <a:ln w="15875">
            <a:solidFill>
              <a:srgbClr val="1F5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▶  Abrir simulador interactivo (HTML)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4048" y="651967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Leads elegibles:</a:t>
            </a:r>
            <a:r>
              <a:rPr sz="760" b="0">
                <a:solidFill>
                  <a:srgbClr val="8A9B93"/>
                </a:solidFill>
                <a:latin typeface="Segoe UI"/>
              </a:rPr>
              <a:t> Σ Cantidad de la base inicial con RD ≤ 9%</a:t>
            </a:r>
            <a:r>
              <a:rPr sz="760" b="1">
                <a:solidFill>
                  <a:srgbClr val="26603A"/>
                </a:solidFill>
                <a:latin typeface="Segoe UI"/>
              </a:rPr>
              <a:t>  ·  RD</a:t>
            </a:r>
            <a:r>
              <a:rPr sz="760" b="0">
                <a:solidFill>
                  <a:srgbClr val="8A9B93"/>
                </a:solidFill>
                <a:latin typeface="Segoe UI"/>
              </a:rPr>
              <a:t> = tasa de riesgo / default observado  ·  </a:t>
            </a:r>
            <a:r>
              <a:rPr sz="760" b="1">
                <a:solidFill>
                  <a:srgbClr val="26603A"/>
                </a:solidFill>
                <a:latin typeface="Segoe UI"/>
              </a:rPr>
              <a:t>Nuevos:</a:t>
            </a:r>
            <a:r>
              <a:rPr sz="760" b="0">
                <a:solidFill>
                  <a:srgbClr val="8A9B93"/>
                </a:solidFill>
                <a:latin typeface="Segoe UI"/>
              </a:rPr>
              <a:t> elegibles − los de campaña.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5196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Enlace:</a:t>
            </a:r>
            <a:r>
              <a:rPr sz="760" b="0">
                <a:solidFill>
                  <a:srgbClr val="8A9B93"/>
                </a:solidFill>
                <a:latin typeface="Segoe UI"/>
              </a:rPr>
              <a:t> mantén el HTML junto a este PPT.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