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mpacto_leads_slide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37744"/>
            <a:ext cx="7498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F5130"/>
                </a:solidFill>
                <a:latin typeface="Segoe UI"/>
              </a:rPr>
              <a:t>Impacto </a:t>
            </a:r>
            <a:r>
              <a:rPr sz="2100" b="1">
                <a:solidFill>
                  <a:srgbClr val="9AA6A0"/>
                </a:solidFill>
                <a:latin typeface="Segoe UI"/>
              </a:rPr>
              <a:t>| Nuevos leads · 5 años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76656"/>
            <a:ext cx="7315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B6F66"/>
                </a:solidFill>
                <a:latin typeface="Segoe UI"/>
              </a:rPr>
              <a:t>Foto del apetito de riesgo: leads elegibles de la </a:t>
            </a:r>
            <a:r>
              <a:rPr sz="1000" b="1">
                <a:solidFill>
                  <a:srgbClr val="1F5130"/>
                </a:solidFill>
                <a:latin typeface="Segoe UI"/>
              </a:rPr>
              <a:t>base inicial</a:t>
            </a:r>
            <a:r>
              <a:rPr sz="1000" b="0">
                <a:solidFill>
                  <a:srgbClr val="5B6F66"/>
                </a:solidFill>
                <a:latin typeface="Segoe UI"/>
              </a:rPr>
              <a:t>, incremento vs. campaña actual y riesgo del pool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92440" y="274320"/>
            <a:ext cx="1783080" cy="566928"/>
          </a:xfrm>
          <a:prstGeom prst="roundRect">
            <a:avLst>
              <a:gd name="adj" fmla="val 16129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0456" y="31089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>
                <a:solidFill>
                  <a:srgbClr val="1F5130"/>
                </a:solidFill>
                <a:latin typeface="Segoe UI"/>
              </a:rPr>
              <a:t>RD MÁXIMA 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0456" y="5029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5130"/>
                </a:solidFill>
                <a:latin typeface="Segoe UI"/>
              </a:rPr>
              <a:t>9%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85248" y="274320"/>
            <a:ext cx="1819656" cy="566928"/>
          </a:xfrm>
          <a:prstGeom prst="roundRect">
            <a:avLst>
              <a:gd name="adj" fmla="val 16129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04120" y="31089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>
                <a:solidFill>
                  <a:srgbClr val="1F5130"/>
                </a:solidFill>
                <a:latin typeface="Segoe UI"/>
              </a:rPr>
              <a:t>APETITO RESULTANTE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04120" y="502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F66"/>
                </a:solidFill>
                <a:latin typeface="Segoe UI"/>
              </a:rPr>
              <a:t>hasta </a:t>
            </a:r>
            <a:r>
              <a:rPr sz="1300" b="1">
                <a:solidFill>
                  <a:srgbClr val="22B24C"/>
                </a:solidFill>
                <a:latin typeface="Segoe UI"/>
              </a:rPr>
              <a:t>B3</a:t>
            </a:r>
            <a:r>
              <a:rPr sz="950" b="0">
                <a:solidFill>
                  <a:srgbClr val="5B6F66"/>
                </a:solidFill>
                <a:latin typeface="Segoe UI"/>
              </a:rPr>
              <a:t> · 3 buckets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Leads elegibles (base inicial)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188,869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11.1% de la base inicial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93822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22B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21838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Nuevos leads (incremento vs. campaña)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1838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+171,932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21838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× 11.2 vs. campaña actual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3596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1612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5B6F66"/>
                </a:solidFill>
                <a:latin typeface="Segoe UI"/>
              </a:rPr>
              <a:t>Hoy en campaña (en estos buckets)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1612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1F5130"/>
                </a:solidFill>
                <a:latin typeface="Segoe UI"/>
              </a:rPr>
              <a:t>16,937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1612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5B6F66"/>
                </a:solidFill>
                <a:latin typeface="Segoe UI"/>
              </a:rPr>
              <a:t>base de campañas · 20260624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3371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EEF4F1"/>
          </a:solidFill>
          <a:ln w="12700">
            <a:solidFill>
              <a:srgbClr val="E0E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1387" y="1170431"/>
            <a:ext cx="196230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5B6F66"/>
                </a:solidFill>
                <a:latin typeface="Segoe UI"/>
              </a:rPr>
              <a:t>Riesgo del pool seleccionado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1387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Prob. prom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1387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32.6%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5488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RD 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5488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8.4%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9588" y="1536192"/>
            <a:ext cx="6541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0">
                <a:solidFill>
                  <a:srgbClr val="5B6F66"/>
                </a:solidFill>
                <a:latin typeface="Segoe UI"/>
              </a:rPr>
              <a:t>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9588" y="1700784"/>
            <a:ext cx="6541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F5130"/>
                </a:solidFill>
                <a:latin typeface="Segoe UI"/>
              </a:rPr>
              <a:t>673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23145" y="1060704"/>
            <a:ext cx="2181758" cy="1060704"/>
          </a:xfrm>
          <a:prstGeom prst="roundRect">
            <a:avLst>
              <a:gd name="adj" fmla="val 9482"/>
            </a:avLst>
          </a:prstGeom>
          <a:solidFill>
            <a:srgbClr val="0A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1161" y="1170431"/>
            <a:ext cx="196230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Nuevos leads por 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51161" y="1517904"/>
            <a:ext cx="196230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1">
                <a:solidFill>
                  <a:srgbClr val="FFFFFF"/>
                </a:solidFill>
                <a:latin typeface="Segoe UI"/>
              </a:rPr>
              <a:t>+28,655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1161" y="1901952"/>
            <a:ext cx="196230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>
                <a:solidFill>
                  <a:srgbClr val="E6F3EC"/>
                </a:solidFill>
                <a:latin typeface="Segoe UI"/>
              </a:rPr>
              <a:t>31,478 elegibles / mes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84048" y="2304288"/>
          <a:ext cx="11420852" cy="34015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99459"/>
                <a:gridCol w="970772"/>
                <a:gridCol w="970772"/>
                <a:gridCol w="1941545"/>
                <a:gridCol w="1027877"/>
                <a:gridCol w="1941545"/>
                <a:gridCol w="1713128"/>
                <a:gridCol w="2055754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Buck.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Prob.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RD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Base inicial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% base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Nuevos (fuera camp.)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Hoy en campaña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Segoe UI"/>
                        </a:rPr>
                        <a:t>Score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1F5130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ADEAB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28.2%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7.2%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20,304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17,656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2,358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718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B2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AF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31.5%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8.1%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28,500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27,642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642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685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B3  ✓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BB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33.5%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1F5130"/>
                          </a:solidFill>
                          <a:latin typeface="Segoe UI"/>
                        </a:rPr>
                        <a:t>140,065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8.3%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117,373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13,937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14271D"/>
                          </a:solidFill>
                          <a:latin typeface="Segoe UI"/>
                        </a:rPr>
                        <a:t>664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FAE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C7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35.2%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187,958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177,463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5,434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647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3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39.6%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114,041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110,285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4,018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603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EA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39.8%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13.5%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289,713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285,437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3,483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602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E9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40.1%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278,690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16.4%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276,720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1,306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598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DD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42.1%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17.1%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86,512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85,882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1,798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579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D1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44.9%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111,032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110,728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1,049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550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C5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45.0%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147,087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8.7%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146,876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420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549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B9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47.8%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36.9%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70,579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70,510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3,300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522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none"/>
                    <a:lstStyle/>
                    <a:p>
                      <a:pPr algn="ctr"/>
                      <a:r>
                        <a:rPr sz="840" b="1">
                          <a:solidFill>
                            <a:srgbClr val="112233"/>
                          </a:solidFill>
                          <a:latin typeface="Segoe UI"/>
                        </a:rPr>
                        <a:t>B12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EAADA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52.2%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39.7%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223,194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13.1%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223,102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3,642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0">
                          <a:solidFill>
                            <a:srgbClr val="9FB0A8"/>
                          </a:solidFill>
                          <a:latin typeface="Segoe UI"/>
                        </a:rPr>
                        <a:t>478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Incluidos (3)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32.6%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8.4%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188,869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162,671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16,937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40" b="1">
                          <a:solidFill>
                            <a:srgbClr val="0A4B44"/>
                          </a:solidFill>
                          <a:latin typeface="Segoe UI"/>
                        </a:rPr>
                        <a:t>673</a:t>
                      </a:r>
                    </a:p>
                  </a:txBody>
                  <a:tcPr anchor="ctr" marL="54864" marR="54864" marT="9144" marB="9144">
                    <a:lnL w="9525" cap="flat">
                      <a:solidFill>
                        <a:srgbClr val="EAF1ED"/>
                      </a:solidFill>
                    </a:lnL>
                    <a:lnR w="9525" cap="flat">
                      <a:solidFill>
                        <a:srgbClr val="EAF1ED"/>
                      </a:solidFill>
                    </a:lnR>
                    <a:lnT w="9525" cap="flat">
                      <a:solidFill>
                        <a:srgbClr val="EAF1ED"/>
                      </a:solidFill>
                    </a:lnT>
                    <a:lnB w="9525" cap="flat">
                      <a:solidFill>
                        <a:srgbClr val="EAF1ED"/>
                      </a:solidFill>
                    </a:lnB>
                    <a:solidFill>
                      <a:srgbClr val="DFF0EA"/>
                    </a:solidFill>
                  </a:tcPr>
                </a:tc>
              </a:tr>
            </a:tbl>
          </a:graphicData>
        </a:graphic>
      </p:graphicFrame>
      <p:cxnSp>
        <p:nvCxnSpPr>
          <p:cNvPr id="35" name="Connector 34"/>
          <p:cNvCxnSpPr/>
          <p:nvPr/>
        </p:nvCxnSpPr>
        <p:spPr>
          <a:xfrm>
            <a:off x="384048" y="3268980"/>
            <a:ext cx="11420856" cy="0"/>
          </a:xfrm>
          <a:prstGeom prst="line">
            <a:avLst/>
          </a:prstGeom>
          <a:ln w="20320">
            <a:solidFill>
              <a:srgbClr val="D24B3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hlinkClick r:id="rId2"/>
          </p:cNvPr>
          <p:cNvSpPr/>
          <p:nvPr/>
        </p:nvSpPr>
        <p:spPr>
          <a:xfrm>
            <a:off x="4472787" y="5925312"/>
            <a:ext cx="3246120" cy="438912"/>
          </a:xfrm>
          <a:prstGeom prst="roundRect">
            <a:avLst>
              <a:gd name="adj" fmla="val 50000"/>
            </a:avLst>
          </a:prstGeom>
          <a:solidFill>
            <a:srgbClr val="1AA44C"/>
          </a:solidFill>
          <a:ln w="15875">
            <a:solidFill>
              <a:srgbClr val="1F51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▶  Abrir simulador interactivo (HTML)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4048" y="6455664"/>
            <a:ext cx="11420856" cy="0"/>
          </a:xfrm>
          <a:prstGeom prst="line">
            <a:avLst/>
          </a:prstGeom>
          <a:ln w="12700">
            <a:solidFill>
              <a:srgbClr val="E3E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84048" y="65196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>
                <a:solidFill>
                  <a:srgbClr val="26603A"/>
                </a:solidFill>
                <a:latin typeface="Segoe UI"/>
              </a:rPr>
              <a:t>Leads elegibles:</a:t>
            </a:r>
            <a:r>
              <a:rPr sz="760" b="0">
                <a:solidFill>
                  <a:srgbClr val="8A9B93"/>
                </a:solidFill>
                <a:latin typeface="Segoe UI"/>
              </a:rPr>
              <a:t> Σ Cantidad de la base inicial con RD ≤ 9%</a:t>
            </a:r>
            <a:r>
              <a:rPr sz="760" b="1">
                <a:solidFill>
                  <a:srgbClr val="26603A"/>
                </a:solidFill>
                <a:latin typeface="Segoe UI"/>
              </a:rPr>
              <a:t>  ·  RD</a:t>
            </a:r>
            <a:r>
              <a:rPr sz="760" b="0">
                <a:solidFill>
                  <a:srgbClr val="8A9B93"/>
                </a:solidFill>
                <a:latin typeface="Segoe UI"/>
              </a:rPr>
              <a:t> = tasa de riesgo / default observado  ·  </a:t>
            </a:r>
            <a:r>
              <a:rPr sz="760" b="1">
                <a:solidFill>
                  <a:srgbClr val="26603A"/>
                </a:solidFill>
                <a:latin typeface="Segoe UI"/>
              </a:rPr>
              <a:t>Nuevos:</a:t>
            </a:r>
            <a:r>
              <a:rPr sz="760" b="0">
                <a:solidFill>
                  <a:srgbClr val="8A9B93"/>
                </a:solidFill>
                <a:latin typeface="Segoe UI"/>
              </a:rPr>
              <a:t> elegibles − los de campaña.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5196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>
                <a:solidFill>
                  <a:srgbClr val="26603A"/>
                </a:solidFill>
                <a:latin typeface="Segoe UI"/>
              </a:rPr>
              <a:t>Enlace:</a:t>
            </a:r>
            <a:r>
              <a:rPr sz="760" b="0">
                <a:solidFill>
                  <a:srgbClr val="8A9B93"/>
                </a:solidFill>
                <a:latin typeface="Segoe UI"/>
              </a:rPr>
              <a:t> mantén el HTML junto a este PPT.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