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5130"/>
                </a:solidFill>
                <a:latin typeface="Segoe UI"/>
              </a:rPr>
              <a:t>Ruta de construcción </a:t>
            </a:r>
            <a:r>
              <a:rPr sz="1900" b="1">
                <a:solidFill>
                  <a:srgbClr val="9AA6A0"/>
                </a:solidFill>
                <a:latin typeface="Segoe UI"/>
              </a:rPr>
              <a:t>| Score Rebank · el Árbol 1 alimenta al Árbol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7665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F66"/>
                </a:solidFill>
                <a:latin typeface="Segoe UI"/>
              </a:rPr>
              <a:t>Un solo recorrido: del score a los buckets finales · el </a:t>
            </a:r>
            <a:r>
              <a:rPr sz="1000" b="1">
                <a:solidFill>
                  <a:srgbClr val="1F5130"/>
                </a:solidFill>
                <a:latin typeface="Segoe UI"/>
              </a:rPr>
              <a:t>resultado del Árbol 1 entra como insumo del Árbol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59568" y="411480"/>
            <a:ext cx="100584" cy="100584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31089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24 meses y 5 años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6484" y="1517904"/>
            <a:ext cx="9618726" cy="0"/>
          </a:xfrm>
          <a:prstGeom prst="line">
            <a:avLst/>
          </a:prstGeom>
          <a:ln w="57150">
            <a:solidFill>
              <a:srgbClr val="CF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33975" y="1517904"/>
            <a:ext cx="1923745" cy="0"/>
          </a:xfrm>
          <a:prstGeom prst="line">
            <a:avLst/>
          </a:prstGeom>
          <a:ln w="69850">
            <a:solidFill>
              <a:srgbClr val="1AA4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879412" y="1417319"/>
            <a:ext cx="146304" cy="201169"/>
          </a:xfrm>
          <a:custGeom>
            <a:avLst/>
            <a:gdLst/>
            <a:ahLst/>
            <a:cxnLst/>
            <a:rect l="l" t="t" r="r" b="b"/>
            <a:pathLst>
              <a:path w="146304" h="201169">
                <a:moveTo>
                  <a:pt x="0" y="0"/>
                </a:moveTo>
                <a:lnTo>
                  <a:pt x="146304" y="100585"/>
                </a:lnTo>
                <a:lnTo>
                  <a:pt x="0" y="201169"/>
                </a:lnTo>
                <a:close/>
              </a:path>
            </a:pathLst>
          </a:cu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0007" y="101498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37A4A"/>
                </a:solidFill>
                <a:latin typeface="Segoe UI"/>
              </a:rPr>
              <a:t>el bucket del Árbol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0007" y="179222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B6F66"/>
                </a:solidFill>
                <a:latin typeface="Segoe UI"/>
              </a:rPr>
              <a:t>entra al Árbol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3382" y="95097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F7D70"/>
                </a:solidFill>
                <a:latin typeface="Segoe UI"/>
              </a:rPr>
              <a:t>ÁRBOL 1 · segmentación 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0229" y="1152144"/>
            <a:ext cx="1923746" cy="0"/>
          </a:xfrm>
          <a:prstGeom prst="line">
            <a:avLst/>
          </a:prstGeom>
          <a:ln w="17780">
            <a:solidFill>
              <a:srgbClr val="2F7D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10229" y="1152144"/>
            <a:ext cx="0" cy="73152"/>
          </a:xfrm>
          <a:prstGeom prst="line">
            <a:avLst/>
          </a:prstGeom>
          <a:ln w="17780">
            <a:solidFill>
              <a:srgbClr val="2F7D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33975" y="1152144"/>
            <a:ext cx="0" cy="73152"/>
          </a:xfrm>
          <a:prstGeom prst="line">
            <a:avLst/>
          </a:prstGeom>
          <a:ln w="17780">
            <a:solidFill>
              <a:srgbClr val="2F7D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30872" y="95097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9850"/>
                </a:solidFill>
                <a:latin typeface="Segoe UI"/>
              </a:rPr>
              <a:t>ÁRBOL 2 · refinamiento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57720" y="1152144"/>
            <a:ext cx="1923745" cy="0"/>
          </a:xfrm>
          <a:prstGeom prst="line">
            <a:avLst/>
          </a:prstGeom>
          <a:ln w="17780">
            <a:solidFill>
              <a:srgbClr val="1A9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57720" y="1152144"/>
            <a:ext cx="0" cy="73152"/>
          </a:xfrm>
          <a:prstGeom prst="line">
            <a:avLst/>
          </a:prstGeom>
          <a:ln w="17780">
            <a:solidFill>
              <a:srgbClr val="1A9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81465" y="1152144"/>
            <a:ext cx="0" cy="73152"/>
          </a:xfrm>
          <a:prstGeom prst="line">
            <a:avLst/>
          </a:prstGeom>
          <a:ln w="17780">
            <a:solidFill>
              <a:srgbClr val="1A9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89888" y="1321307"/>
            <a:ext cx="393192" cy="393192"/>
          </a:xfrm>
          <a:prstGeom prst="ellipse">
            <a:avLst/>
          </a:prstGeom>
          <a:solidFill>
            <a:srgbClr val="1F513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9888" y="132130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3013633" y="1321307"/>
            <a:ext cx="393192" cy="393192"/>
          </a:xfrm>
          <a:prstGeom prst="ellipse">
            <a:avLst/>
          </a:prstGeom>
          <a:solidFill>
            <a:srgbClr val="2F7D7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3633" y="132130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4937379" y="1321307"/>
            <a:ext cx="393192" cy="393192"/>
          </a:xfrm>
          <a:prstGeom prst="ellipse">
            <a:avLst/>
          </a:prstGeom>
          <a:solidFill>
            <a:srgbClr val="2F7D7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379" y="132130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6861124" y="1321307"/>
            <a:ext cx="393192" cy="393192"/>
          </a:xfrm>
          <a:prstGeom prst="ellipse">
            <a:avLst/>
          </a:prstGeom>
          <a:solidFill>
            <a:srgbClr val="1A985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1124" y="132130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8784869" y="1321307"/>
            <a:ext cx="393192" cy="393192"/>
          </a:xfrm>
          <a:prstGeom prst="ellipse">
            <a:avLst/>
          </a:prstGeom>
          <a:solidFill>
            <a:srgbClr val="1A985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4869" y="132130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10708614" y="1321307"/>
            <a:ext cx="393192" cy="393192"/>
          </a:xfrm>
          <a:prstGeom prst="ellipse">
            <a:avLst/>
          </a:prstGeom>
          <a:solidFill>
            <a:srgbClr val="1F513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08614" y="132130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1938528"/>
            <a:ext cx="1804873" cy="406908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4048" y="1938528"/>
            <a:ext cx="1804873" cy="365760"/>
          </a:xfrm>
          <a:prstGeom prst="roundRect">
            <a:avLst>
              <a:gd name="adj" fmla="val 27499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2203704"/>
            <a:ext cx="1804873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5488" y="2020824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20208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938528"/>
            <a:ext cx="142082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Score Rebank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2395728"/>
            <a:ext cx="1585417" cy="352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Se parte de la </a:t>
            </a:r>
            <a:r>
              <a:rPr sz="800" b="1">
                <a:solidFill>
                  <a:srgbClr val="1F5130"/>
                </a:solidFill>
                <a:latin typeface="Segoe UI"/>
              </a:rPr>
              <a:t>base de desarrollo</a:t>
            </a:r>
            <a:r>
              <a:rPr sz="800" b="0">
                <a:solidFill>
                  <a:srgbClr val="14271D"/>
                </a:solidFill>
                <a:latin typeface="Segoe UI"/>
              </a:rPr>
              <a:t> (clientes con resultado conocido de riesgo).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El score se </a:t>
            </a:r>
            <a:r>
              <a:rPr sz="800" b="1">
                <a:solidFill>
                  <a:srgbClr val="1F5130"/>
                </a:solidFill>
                <a:latin typeface="Segoe UI"/>
              </a:rPr>
              <a:t>agrupa en 6 tramos</a:t>
            </a:r>
            <a:r>
              <a:rPr sz="800" b="0">
                <a:solidFill>
                  <a:srgbClr val="14271D"/>
                </a:solidFill>
                <a:latin typeface="Segoe UI"/>
              </a:rPr>
              <a:t> según su nivel de riesgo.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Resultado: </a:t>
            </a:r>
            <a:r>
              <a:rPr sz="800" b="1">
                <a:solidFill>
                  <a:srgbClr val="1F5130"/>
                </a:solidFill>
                <a:latin typeface="Segoe UI"/>
              </a:rPr>
              <a:t>categoría de Score Rebank</a:t>
            </a:r>
            <a:r>
              <a:rPr sz="800" b="0">
                <a:solidFill>
                  <a:srgbClr val="14271D"/>
                </a:solidFill>
                <a:latin typeface="Segoe UI"/>
              </a:rPr>
              <a:t>, de </a:t>
            </a:r>
            <a:r>
              <a:rPr sz="800" b="1">
                <a:solidFill>
                  <a:srgbClr val="1F5130"/>
                </a:solidFill>
                <a:latin typeface="Segoe UI"/>
              </a:rPr>
              <a:t>1 (mejor)</a:t>
            </a:r>
            <a:r>
              <a:rPr sz="800" b="0">
                <a:solidFill>
                  <a:srgbClr val="14271D"/>
                </a:solidFill>
                <a:latin typeface="Segoe UI"/>
              </a:rPr>
              <a:t> a </a:t>
            </a:r>
            <a:r>
              <a:rPr sz="800" b="1">
                <a:solidFill>
                  <a:srgbClr val="1F5130"/>
                </a:solidFill>
                <a:latin typeface="Segoe UI"/>
              </a:rPr>
              <a:t>6 (peor)</a:t>
            </a:r>
            <a:r>
              <a:rPr sz="80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07793" y="1938528"/>
            <a:ext cx="1804873" cy="406908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07793" y="1938528"/>
            <a:ext cx="1804873" cy="365760"/>
          </a:xfrm>
          <a:prstGeom prst="roundRect">
            <a:avLst>
              <a:gd name="adj" fmla="val 27499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07793" y="2203704"/>
            <a:ext cx="1804873" cy="100584"/>
          </a:xfrm>
          <a:prstGeom prst="rect">
            <a:avLst/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399233" y="2020824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5F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99233" y="20208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5265" y="1938528"/>
            <a:ext cx="142082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Árbol 1 · segmentación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17521" y="2395728"/>
            <a:ext cx="1585417" cy="352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Entra: </a:t>
            </a:r>
            <a:r>
              <a:rPr sz="800" b="1">
                <a:solidFill>
                  <a:srgbClr val="1F5130"/>
                </a:solidFill>
                <a:latin typeface="Segoe UI"/>
              </a:rPr>
              <a:t>variables del cliente</a:t>
            </a:r>
            <a:r>
              <a:rPr sz="800" b="0">
                <a:solidFill>
                  <a:srgbClr val="14271D"/>
                </a:solidFill>
                <a:latin typeface="Segoe UI"/>
              </a:rPr>
              <a:t> — segmento comercial, ranking de ingreso y comportamiento de castigo (deuda, entidades, meses desde el castigo).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Cada variable se </a:t>
            </a:r>
            <a:r>
              <a:rPr sz="800" b="1">
                <a:solidFill>
                  <a:srgbClr val="1F5130"/>
                </a:solidFill>
                <a:latin typeface="Segoe UI"/>
              </a:rPr>
              <a:t>agrupa en tramos ordenados por riesgo</a:t>
            </a:r>
            <a:r>
              <a:rPr sz="800" b="0">
                <a:solidFill>
                  <a:srgbClr val="14271D"/>
                </a:solidFill>
                <a:latin typeface="Segoe UI"/>
              </a:rPr>
              <a:t>; sin dato = mayor riesgo.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Un </a:t>
            </a:r>
            <a:r>
              <a:rPr sz="800" b="1">
                <a:solidFill>
                  <a:srgbClr val="1F5130"/>
                </a:solidFill>
                <a:latin typeface="Segoe UI"/>
              </a:rPr>
              <a:t>árbol de decisión</a:t>
            </a:r>
            <a:r>
              <a:rPr sz="800" b="0">
                <a:solidFill>
                  <a:srgbClr val="14271D"/>
                </a:solidFill>
                <a:latin typeface="Segoe UI"/>
              </a:rPr>
              <a:t> que respeta la dirección de riesgo de cada variable (se prueban profundidades 4 a 7).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Se conserva </a:t>
            </a:r>
            <a:r>
              <a:rPr sz="800" b="1">
                <a:solidFill>
                  <a:srgbClr val="1F5130"/>
                </a:solidFill>
                <a:latin typeface="Segoe UI"/>
              </a:rPr>
              <a:t>solo las variables que aportan</a:t>
            </a:r>
            <a:r>
              <a:rPr sz="800" b="0">
                <a:solidFill>
                  <a:srgbClr val="14271D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Salida: </a:t>
            </a:r>
            <a:r>
              <a:rPr sz="800" b="1">
                <a:solidFill>
                  <a:srgbClr val="1F5130"/>
                </a:solidFill>
                <a:latin typeface="Segoe UI"/>
              </a:rPr>
              <a:t>estrategias</a:t>
            </a:r>
            <a:r>
              <a:rPr sz="800" b="0">
                <a:solidFill>
                  <a:srgbClr val="14271D"/>
                </a:solidFill>
                <a:latin typeface="Segoe UI"/>
              </a:rPr>
              <a:t> (hojas) ordenadas por riesgo.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31538" y="1938528"/>
            <a:ext cx="1804873" cy="406908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31538" y="1938528"/>
            <a:ext cx="1804873" cy="365760"/>
          </a:xfrm>
          <a:prstGeom prst="roundRect">
            <a:avLst>
              <a:gd name="adj" fmla="val 27499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31538" y="2203704"/>
            <a:ext cx="1804873" cy="100584"/>
          </a:xfrm>
          <a:prstGeom prst="rect">
            <a:avLst/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22978" y="2020824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5F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2978" y="20208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9010" y="1938528"/>
            <a:ext cx="142082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Buckets del Árbol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1266" y="2395728"/>
            <a:ext cx="1585417" cy="352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Las estrategias se </a:t>
            </a:r>
            <a:r>
              <a:rPr sz="800" b="1">
                <a:solidFill>
                  <a:srgbClr val="1F5130"/>
                </a:solidFill>
                <a:latin typeface="Segoe UI"/>
              </a:rPr>
              <a:t>agrupan en 7 buckets</a:t>
            </a:r>
            <a:r>
              <a:rPr sz="800" b="0">
                <a:solidFill>
                  <a:srgbClr val="14271D"/>
                </a:solidFill>
                <a:latin typeface="Segoe UI"/>
              </a:rPr>
              <a:t>, de menor a mayor riesgo.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1">
                <a:solidFill>
                  <a:srgbClr val="14271D"/>
                </a:solidFill>
                <a:latin typeface="Segoe UI"/>
              </a:rPr>
              <a:t>24 meses:</a:t>
            </a:r>
            <a:r>
              <a:rPr sz="800" b="0">
                <a:solidFill>
                  <a:srgbClr val="14271D"/>
                </a:solidFill>
                <a:latin typeface="Segoe UI"/>
              </a:rPr>
              <a:t> 21 estrategias → 7 buckets.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1">
                <a:solidFill>
                  <a:srgbClr val="14271D"/>
                </a:solidFill>
                <a:latin typeface="Segoe UI"/>
              </a:rPr>
              <a:t>5 años:</a:t>
            </a:r>
            <a:r>
              <a:rPr sz="800" b="0">
                <a:solidFill>
                  <a:srgbClr val="14271D"/>
                </a:solidFill>
                <a:latin typeface="Segoe UI"/>
              </a:rPr>
              <a:t> 15 estrategias → 7 buckets.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55283" y="1938528"/>
            <a:ext cx="1804873" cy="406908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55283" y="1938528"/>
            <a:ext cx="1804873" cy="365760"/>
          </a:xfrm>
          <a:prstGeom prst="roundRect">
            <a:avLst>
              <a:gd name="adj" fmla="val 27499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55283" y="2203704"/>
            <a:ext cx="1804873" cy="100584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46723" y="2020824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5F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6723" y="20208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2755" y="1938528"/>
            <a:ext cx="142082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Árbol 2 · refinamiento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5011" y="2395728"/>
            <a:ext cx="1585417" cy="352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Entra: el </a:t>
            </a:r>
            <a:r>
              <a:rPr sz="800" b="1">
                <a:solidFill>
                  <a:srgbClr val="1F5130"/>
                </a:solidFill>
                <a:latin typeface="Segoe UI"/>
              </a:rPr>
              <a:t>bucket del Árbol 1</a:t>
            </a:r>
            <a:r>
              <a:rPr sz="800" b="0">
                <a:solidFill>
                  <a:srgbClr val="14271D"/>
                </a:solidFill>
                <a:latin typeface="Segoe UI"/>
              </a:rPr>
              <a:t> + el </a:t>
            </a:r>
            <a:r>
              <a:rPr sz="800" b="1">
                <a:solidFill>
                  <a:srgbClr val="1F5130"/>
                </a:solidFill>
                <a:latin typeface="Segoe UI"/>
              </a:rPr>
              <a:t>saldo pasivo promedio (3 meses)</a:t>
            </a:r>
            <a:r>
              <a:rPr sz="800" b="0">
                <a:solidFill>
                  <a:srgbClr val="14271D"/>
                </a:solidFill>
                <a:latin typeface="Segoe UI"/>
              </a:rPr>
              <a:t> + la </a:t>
            </a:r>
            <a:r>
              <a:rPr sz="800" b="1">
                <a:solidFill>
                  <a:srgbClr val="1F5130"/>
                </a:solidFill>
                <a:latin typeface="Segoe UI"/>
              </a:rPr>
              <a:t>categoría de Score Rebank</a:t>
            </a:r>
            <a:r>
              <a:rPr sz="800" b="0">
                <a:solidFill>
                  <a:srgbClr val="14271D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1">
                <a:solidFill>
                  <a:srgbClr val="14271D"/>
                </a:solidFill>
                <a:latin typeface="Segoe UI"/>
              </a:rPr>
              <a:t>Mismo procedimiento</a:t>
            </a:r>
            <a:r>
              <a:rPr sz="800" b="0">
                <a:solidFill>
                  <a:srgbClr val="14271D"/>
                </a:solidFill>
                <a:latin typeface="Segoe UI"/>
              </a:rPr>
              <a:t>: agrupar variables por riesgo → árbol de decisión monótono → conservar solo lo que aporta.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De las variables de </a:t>
            </a:r>
            <a:r>
              <a:rPr sz="800" b="1">
                <a:solidFill>
                  <a:srgbClr val="1F5130"/>
                </a:solidFill>
                <a:latin typeface="Segoe UI"/>
              </a:rPr>
              <a:t>saldo pasivo</a:t>
            </a:r>
            <a:r>
              <a:rPr sz="800" b="0">
                <a:solidFill>
                  <a:srgbClr val="14271D"/>
                </a:solidFill>
                <a:latin typeface="Segoe UI"/>
              </a:rPr>
              <a:t> se deja </a:t>
            </a:r>
            <a:r>
              <a:rPr sz="800" b="1">
                <a:solidFill>
                  <a:srgbClr val="1F5130"/>
                </a:solidFill>
                <a:latin typeface="Segoe UI"/>
              </a:rPr>
              <a:t>una sola</a:t>
            </a:r>
            <a:r>
              <a:rPr sz="800" b="0">
                <a:solidFill>
                  <a:srgbClr val="14271D"/>
                </a:solidFill>
                <a:latin typeface="Segoe UI"/>
              </a:rPr>
              <a:t> (la más importante).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Salida: </a:t>
            </a:r>
            <a:r>
              <a:rPr sz="800" b="1">
                <a:solidFill>
                  <a:srgbClr val="1F5130"/>
                </a:solidFill>
                <a:latin typeface="Segoe UI"/>
              </a:rPr>
              <a:t>estrategias más finas</a:t>
            </a:r>
            <a:r>
              <a:rPr sz="80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79028" y="1938528"/>
            <a:ext cx="1804873" cy="406908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79028" y="1938528"/>
            <a:ext cx="1804873" cy="365760"/>
          </a:xfrm>
          <a:prstGeom prst="roundRect">
            <a:avLst>
              <a:gd name="adj" fmla="val 27499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79028" y="2203704"/>
            <a:ext cx="1804873" cy="100584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170468" y="2020824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5F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70468" y="20208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26500" y="1938528"/>
            <a:ext cx="142082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Buckets finales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88756" y="2395728"/>
            <a:ext cx="1585417" cy="352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Las estrategias se </a:t>
            </a:r>
            <a:r>
              <a:rPr sz="800" b="1">
                <a:solidFill>
                  <a:srgbClr val="1F5130"/>
                </a:solidFill>
                <a:latin typeface="Segoe UI"/>
              </a:rPr>
              <a:t>agrupan en 12 buckets finales</a:t>
            </a:r>
            <a:r>
              <a:rPr sz="800" b="0">
                <a:solidFill>
                  <a:srgbClr val="14271D"/>
                </a:solidFill>
                <a:latin typeface="Segoe UI"/>
              </a:rPr>
              <a:t> ordenados por riesgo.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1">
                <a:solidFill>
                  <a:srgbClr val="14271D"/>
                </a:solidFill>
                <a:latin typeface="Segoe UI"/>
              </a:rPr>
              <a:t>24 meses:</a:t>
            </a:r>
            <a:r>
              <a:rPr sz="800" b="0">
                <a:solidFill>
                  <a:srgbClr val="14271D"/>
                </a:solidFill>
                <a:latin typeface="Segoe UI"/>
              </a:rPr>
              <a:t> 30 estrategias → 12 · </a:t>
            </a:r>
            <a:r>
              <a:rPr sz="800" b="1">
                <a:solidFill>
                  <a:srgbClr val="14271D"/>
                </a:solidFill>
                <a:latin typeface="Segoe UI"/>
              </a:rPr>
              <a:t>5 años:</a:t>
            </a:r>
            <a:r>
              <a:rPr sz="800" b="0">
                <a:solidFill>
                  <a:srgbClr val="14271D"/>
                </a:solidFill>
                <a:latin typeface="Segoe UI"/>
              </a:rPr>
              <a:t> 16 → 12.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Métodos de </a:t>
            </a:r>
            <a:r>
              <a:rPr sz="800" b="1">
                <a:solidFill>
                  <a:srgbClr val="1F5130"/>
                </a:solidFill>
                <a:latin typeface="Segoe UI"/>
              </a:rPr>
              <a:t>ordenamiento</a:t>
            </a:r>
            <a:r>
              <a:rPr sz="800" b="0">
                <a:solidFill>
                  <a:srgbClr val="14271D"/>
                </a:solidFill>
                <a:latin typeface="Segoe UI"/>
              </a:rPr>
              <a:t> probados: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02774" y="1938528"/>
            <a:ext cx="1804873" cy="406908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002774" y="1938528"/>
            <a:ext cx="1804873" cy="365760"/>
          </a:xfrm>
          <a:prstGeom prst="roundRect">
            <a:avLst>
              <a:gd name="adj" fmla="val 27499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02774" y="2203704"/>
            <a:ext cx="1804873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094214" y="2020824"/>
            <a:ext cx="201168" cy="201168"/>
          </a:xfrm>
          <a:prstGeom prst="roundRect">
            <a:avLst>
              <a:gd name="adj" fmla="val 27272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94214" y="202082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50246" y="1938528"/>
            <a:ext cx="142082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Validación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12502" y="2395728"/>
            <a:ext cx="1585417" cy="352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1">
                <a:solidFill>
                  <a:srgbClr val="14271D"/>
                </a:solidFill>
                <a:latin typeface="Segoe UI"/>
              </a:rPr>
              <a:t>Base de campañas:</a:t>
            </a:r>
            <a:r>
              <a:rPr sz="800" b="0">
                <a:solidFill>
                  <a:srgbClr val="14271D"/>
                </a:solidFill>
                <a:latin typeface="Segoe UI"/>
              </a:rPr>
              <a:t> clientes que hoy se envían en los pilotos.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1">
                <a:solidFill>
                  <a:srgbClr val="14271D"/>
                </a:solidFill>
                <a:latin typeface="Segoe UI"/>
              </a:rPr>
              <a:t>Base inicial:</a:t>
            </a:r>
            <a:r>
              <a:rPr sz="800" b="0">
                <a:solidFill>
                  <a:srgbClr val="14271D"/>
                </a:solidFill>
                <a:latin typeface="Segoe UI"/>
              </a:rPr>
              <a:t> la base con la que se construyen los árboles.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1">
                <a:solidFill>
                  <a:srgbClr val="14271D"/>
                </a:solidFill>
                <a:latin typeface="Segoe UI"/>
              </a:rPr>
              <a:t>Base fuera de campaña:</a:t>
            </a:r>
            <a:r>
              <a:rPr sz="800" b="0">
                <a:solidFill>
                  <a:srgbClr val="14271D"/>
                </a:solidFill>
                <a:latin typeface="Segoe UI"/>
              </a:rPr>
              <a:t> clientes que no están en los pilotos actuales.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96"/>
              </a:spcAft>
            </a:pPr>
            <a:r>
              <a:rPr sz="800" b="1">
                <a:solidFill>
                  <a:srgbClr val="1AA44C"/>
                </a:solidFill>
                <a:latin typeface="Segoe UI"/>
              </a:rPr>
              <a:t>•  </a:t>
            </a:r>
            <a:r>
              <a:rPr sz="800" b="0">
                <a:solidFill>
                  <a:srgbClr val="14271D"/>
                </a:solidFill>
                <a:latin typeface="Segoe UI"/>
              </a:rPr>
              <a:t>En cada una se mide la </a:t>
            </a:r>
            <a:r>
              <a:rPr sz="800" b="1">
                <a:solidFill>
                  <a:srgbClr val="1F5130"/>
                </a:solidFill>
                <a:latin typeface="Segoe UI"/>
              </a:rPr>
              <a:t>distribución de los buckets</a:t>
            </a:r>
            <a:r>
              <a:rPr sz="80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22978" y="3346704"/>
            <a:ext cx="1621993" cy="36576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14418" y="3346704"/>
            <a:ext cx="14939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9A6A12"/>
                </a:solidFill>
                <a:latin typeface="Segoe UI"/>
              </a:rPr>
              <a:t>Este bucket es el insumo del Árbol 2.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8756" y="3364992"/>
            <a:ext cx="460857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88756" y="3364992"/>
            <a:ext cx="46085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Cascada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04478" y="3364992"/>
            <a:ext cx="508406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04478" y="3364992"/>
            <a:ext cx="50840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ChiMerge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67748" y="3364992"/>
            <a:ext cx="413308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67748" y="3364992"/>
            <a:ext cx="4133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OptBin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88756" y="3602736"/>
            <a:ext cx="555955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88756" y="3602736"/>
            <a:ext cx="55595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Shrinkage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99575" y="3602736"/>
            <a:ext cx="318211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99575" y="3602736"/>
            <a:ext cx="31821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MDLP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84048" y="6199632"/>
            <a:ext cx="11420856" cy="0"/>
          </a:xfrm>
          <a:prstGeom prst="line">
            <a:avLst/>
          </a:prstGeom>
          <a:ln w="12700">
            <a:solidFill>
              <a:srgbClr val="E3E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84048" y="627278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6603A"/>
                </a:solidFill>
                <a:latin typeface="Segoe UI"/>
              </a:rPr>
              <a:t>Objetivo del árbol: </a:t>
            </a:r>
            <a:r>
              <a:rPr sz="750" b="0">
                <a:solidFill>
                  <a:srgbClr val="8A9B93"/>
                </a:solidFill>
                <a:latin typeface="Segoe UI"/>
              </a:rPr>
              <a:t>ordenar por score (mayor score → menor riesgo) · las variables entran con su dirección de riesgo esperada.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49440" y="627278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6603A"/>
                </a:solidFill>
                <a:latin typeface="Segoe UI"/>
              </a:rPr>
              <a:t>Árbol 1 → Árbol 2: </a:t>
            </a:r>
            <a:r>
              <a:rPr sz="750" b="0">
                <a:solidFill>
                  <a:srgbClr val="8A9B93"/>
                </a:solidFill>
                <a:latin typeface="Segoe UI"/>
              </a:rPr>
              <a:t>el bucket del primer árbol es una entrada del segundo · el saldo pasivo solo aparece en el Árbol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