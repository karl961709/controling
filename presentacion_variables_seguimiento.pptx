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5130"/>
                </a:solidFill>
                <a:latin typeface="Segoe UI"/>
              </a:rPr>
              <a:t>Variables de entrada por árbol y escenario </a:t>
            </a:r>
            <a:r>
              <a:rPr sz="1900" b="1">
                <a:solidFill>
                  <a:srgbClr val="9AA6A0"/>
                </a:solidFill>
                <a:latin typeface="Segoe UI"/>
              </a:rPr>
              <a:t>| Score Rebank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9494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Qué variables alimentan cada árbol, descritas en lenguaje de negocio · el </a:t>
            </a:r>
            <a:r>
              <a:rPr sz="1000" b="1">
                <a:solidFill>
                  <a:srgbClr val="1F5130"/>
                </a:solidFill>
                <a:latin typeface="Segoe UI"/>
              </a:rPr>
              <a:t>Árbol 1</a:t>
            </a:r>
            <a:r>
              <a:rPr sz="1000" b="0">
                <a:solidFill>
                  <a:srgbClr val="5B6F66"/>
                </a:solidFill>
                <a:latin typeface="Segoe UI"/>
              </a:rPr>
              <a:t> segmenta y su resultado entra al </a:t>
            </a:r>
            <a:r>
              <a:rPr sz="1000" b="1">
                <a:solidFill>
                  <a:srgbClr val="1F5130"/>
                </a:solidFill>
                <a:latin typeface="Segoe UI"/>
              </a:rPr>
              <a:t>Árbol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6377" y="310896"/>
            <a:ext cx="1468526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4393" y="411480"/>
            <a:ext cx="100584" cy="100584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0697" y="310896"/>
            <a:ext cx="11942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24 meses y 5 años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42415"/>
            <a:ext cx="5596128" cy="261518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042415"/>
            <a:ext cx="5596128" cy="402336"/>
          </a:xfrm>
          <a:prstGeom prst="roundRect">
            <a:avLst>
              <a:gd name="adj" fmla="val 25000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44167"/>
            <a:ext cx="5596128" cy="100584"/>
          </a:xfrm>
          <a:prstGeom prst="rect">
            <a:avLst/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114300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5F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14300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042415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Árbol 1 · segmentación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1042415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variables del cliente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1536192"/>
            <a:ext cx="713780" cy="182880"/>
          </a:xfrm>
          <a:prstGeom prst="roundRect">
            <a:avLst>
              <a:gd name="adj" fmla="val 44999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536192"/>
            <a:ext cx="7137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Segoe UI"/>
              </a:rPr>
              <a:t>24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996" y="15361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3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1839772"/>
            <a:ext cx="534009" cy="164592"/>
          </a:xfrm>
          <a:prstGeom prst="roundRect">
            <a:avLst>
              <a:gd name="adj" fmla="val 27777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839772"/>
            <a:ext cx="53400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2B5AA6"/>
                </a:solidFill>
                <a:latin typeface="Segoe UI"/>
              </a:rPr>
              <a:t>segmento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081" y="1828800"/>
            <a:ext cx="1953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Segmento comercial del cliente</a:t>
            </a:r>
            <a:r>
              <a:rPr sz="930" b="0">
                <a:solidFill>
                  <a:srgbClr val="14271D"/>
                </a:solidFill>
                <a:latin typeface="Segoe UI"/>
              </a:rPr>
              <a:t> (grupos G1 a G8).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2205532"/>
            <a:ext cx="480974" cy="164592"/>
          </a:xfrm>
          <a:prstGeom prst="roundRect">
            <a:avLst>
              <a:gd name="adj" fmla="val 27777"/>
            </a:avLst>
          </a:prstGeom>
          <a:solidFill>
            <a:srgbClr val="EAF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205532"/>
            <a:ext cx="48097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2F8A34"/>
                </a:solidFill>
                <a:latin typeface="Segoe UI"/>
              </a:rPr>
              <a:t>ingreso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046" y="2194560"/>
            <a:ext cx="2006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Ranking de ingreso</a:t>
            </a:r>
            <a:r>
              <a:rPr sz="930" b="0">
                <a:solidFill>
                  <a:srgbClr val="14271D"/>
                </a:solidFill>
                <a:latin typeface="Segoe UI"/>
              </a:rPr>
              <a:t> del cliente.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2571292"/>
            <a:ext cx="480974" cy="164592"/>
          </a:xfrm>
          <a:prstGeom prst="roundRect">
            <a:avLst>
              <a:gd name="adj" fmla="val 27777"/>
            </a:avLst>
          </a:prstGeom>
          <a:solidFill>
            <a:srgbClr val="FF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571292"/>
            <a:ext cx="48097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B5502F"/>
                </a:solidFill>
                <a:latin typeface="Segoe UI"/>
              </a:rPr>
              <a:t>castigo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046" y="2560320"/>
            <a:ext cx="2006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Meses desde el primer castigo</a:t>
            </a:r>
            <a:r>
              <a:rPr sz="93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82112" y="1444751"/>
            <a:ext cx="7315" cy="173736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10128" y="1536192"/>
            <a:ext cx="570768" cy="182880"/>
          </a:xfrm>
          <a:prstGeom prst="roundRect">
            <a:avLst>
              <a:gd name="adj" fmla="val 44999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1536192"/>
            <a:ext cx="570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Segoe UI"/>
              </a:rPr>
              <a:t>5 años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4048" y="15361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4 variables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0128" y="1839772"/>
            <a:ext cx="534009" cy="164592"/>
          </a:xfrm>
          <a:prstGeom prst="roundRect">
            <a:avLst>
              <a:gd name="adj" fmla="val 27777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0128" y="1839772"/>
            <a:ext cx="53400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2B5AA6"/>
                </a:solidFill>
                <a:latin typeface="Segoe UI"/>
              </a:rPr>
              <a:t>segmento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8145" y="1828800"/>
            <a:ext cx="1953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Segmento comercial del cliente</a:t>
            </a:r>
            <a:r>
              <a:rPr sz="930" b="0">
                <a:solidFill>
                  <a:srgbClr val="14271D"/>
                </a:solidFill>
                <a:latin typeface="Segoe UI"/>
              </a:rPr>
              <a:t> (grupos G1 a G8).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0128" y="2205532"/>
            <a:ext cx="480974" cy="164592"/>
          </a:xfrm>
          <a:prstGeom prst="roundRect">
            <a:avLst>
              <a:gd name="adj" fmla="val 27777"/>
            </a:avLst>
          </a:prstGeom>
          <a:solidFill>
            <a:srgbClr val="EAF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2205532"/>
            <a:ext cx="48097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2F8A34"/>
                </a:solidFill>
                <a:latin typeface="Segoe UI"/>
              </a:rPr>
              <a:t>ingreso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5110" y="2194560"/>
            <a:ext cx="2006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Ranking de ingreso</a:t>
            </a:r>
            <a:r>
              <a:rPr sz="930" b="0">
                <a:solidFill>
                  <a:srgbClr val="14271D"/>
                </a:solidFill>
                <a:latin typeface="Segoe UI"/>
              </a:rPr>
              <a:t> del cliente.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8" y="2571292"/>
            <a:ext cx="480974" cy="164592"/>
          </a:xfrm>
          <a:prstGeom prst="roundRect">
            <a:avLst>
              <a:gd name="adj" fmla="val 27777"/>
            </a:avLst>
          </a:prstGeom>
          <a:solidFill>
            <a:srgbClr val="FF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2571292"/>
            <a:ext cx="48097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B5502F"/>
                </a:solidFill>
                <a:latin typeface="Segoe UI"/>
              </a:rPr>
              <a:t>castigo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5110" y="2560320"/>
            <a:ext cx="2006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Nº de entidades con castigo</a:t>
            </a:r>
            <a:r>
              <a:rPr sz="93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0128" y="2937052"/>
            <a:ext cx="480974" cy="164592"/>
          </a:xfrm>
          <a:prstGeom prst="roundRect">
            <a:avLst>
              <a:gd name="adj" fmla="val 27777"/>
            </a:avLst>
          </a:prstGeom>
          <a:solidFill>
            <a:srgbClr val="FF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2937052"/>
            <a:ext cx="48097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B5502F"/>
                </a:solidFill>
                <a:latin typeface="Segoe UI"/>
              </a:rPr>
              <a:t>castigo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5110" y="2926079"/>
            <a:ext cx="2006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Monto de deuda castigada</a:t>
            </a:r>
            <a:r>
              <a:rPr sz="93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3255264"/>
            <a:ext cx="5596128" cy="402336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048" y="3255264"/>
            <a:ext cx="5596128" cy="10972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255264"/>
            <a:ext cx="290998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No usa saldo pasivo</a:t>
            </a:r>
            <a:r>
              <a:rPr sz="950" b="0">
                <a:solidFill>
                  <a:srgbClr val="5B6F66"/>
                </a:solidFill>
                <a:latin typeface="Segoe UI"/>
              </a:rPr>
              <a:t> · solo perfil y comportamiento de castigo.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61918" y="3346704"/>
            <a:ext cx="1591055" cy="219456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 w="9525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4214" y="3346704"/>
            <a:ext cx="148132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B6F66"/>
                </a:solidFill>
                <a:latin typeface="Segoe UI"/>
              </a:rPr>
              <a:t>resultado  </a:t>
            </a:r>
            <a:r>
              <a:rPr sz="800" b="1">
                <a:solidFill>
                  <a:srgbClr val="1F5130"/>
                </a:solidFill>
                <a:latin typeface="Segoe UI"/>
              </a:rPr>
              <a:t>7 buckets → Árbol 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08776" y="1042415"/>
            <a:ext cx="5596128" cy="261518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08776" y="1042415"/>
            <a:ext cx="5596128" cy="402336"/>
          </a:xfrm>
          <a:prstGeom prst="roundRect">
            <a:avLst>
              <a:gd name="adj" fmla="val 25000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8776" y="1344167"/>
            <a:ext cx="5596128" cy="100584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18504" y="114300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5F9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18504" y="114300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1112" y="1042415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Árbol 2 · refinamiento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18904" y="1042415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bucket + saldo + score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36792" y="1536192"/>
            <a:ext cx="713780" cy="182880"/>
          </a:xfrm>
          <a:prstGeom prst="roundRect">
            <a:avLst>
              <a:gd name="adj" fmla="val 44999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1536192"/>
            <a:ext cx="7137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Segoe UI"/>
              </a:rPr>
              <a:t>24 meses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23724" y="15361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3 variables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36792" y="1839772"/>
            <a:ext cx="427939" cy="164592"/>
          </a:xfrm>
          <a:prstGeom prst="roundRect">
            <a:avLst>
              <a:gd name="adj" fmla="val 27777"/>
            </a:avLst>
          </a:prstGeom>
          <a:solidFill>
            <a:srgbClr val="E2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1839772"/>
            <a:ext cx="42793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0A7A6F"/>
                </a:solidFill>
                <a:latin typeface="Segoe UI"/>
              </a:rPr>
              <a:t>bucket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28739" y="1828800"/>
            <a:ext cx="20592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Bucket del Árbol 1</a:t>
            </a:r>
            <a:r>
              <a:rPr sz="930" b="0">
                <a:solidFill>
                  <a:srgbClr val="14271D"/>
                </a:solidFill>
                <a:latin typeface="Segoe UI"/>
              </a:rPr>
              <a:t> (segmento base ordenado por riesgo).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36792" y="2205532"/>
            <a:ext cx="374904" cy="164592"/>
          </a:xfrm>
          <a:prstGeom prst="roundRect">
            <a:avLst>
              <a:gd name="adj" fmla="val 27777"/>
            </a:avLst>
          </a:prstGeom>
          <a:solidFill>
            <a:srgbClr val="FF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36792" y="2205532"/>
            <a:ext cx="3749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9A6A12"/>
                </a:solidFill>
                <a:latin typeface="Segoe UI"/>
              </a:rPr>
              <a:t>saldo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75704" y="2194560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Saldo pasivo promedio</a:t>
            </a:r>
            <a:r>
              <a:rPr sz="930" b="0">
                <a:solidFill>
                  <a:srgbClr val="14271D"/>
                </a:solidFill>
                <a:latin typeface="Segoe UI"/>
              </a:rPr>
              <a:t> de los últimos 3 meses.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36792" y="2571292"/>
            <a:ext cx="374904" cy="164592"/>
          </a:xfrm>
          <a:prstGeom prst="roundRect">
            <a:avLst>
              <a:gd name="adj" fmla="val 27777"/>
            </a:avLst>
          </a:prstGeom>
          <a:solidFill>
            <a:srgbClr val="EF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36792" y="2571292"/>
            <a:ext cx="3749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6A45A0"/>
                </a:solidFill>
                <a:latin typeface="Segoe UI"/>
              </a:rPr>
              <a:t>score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75704" y="2560320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Categoría de Score Rebank</a:t>
            </a:r>
            <a:r>
              <a:rPr sz="930" b="0">
                <a:solidFill>
                  <a:srgbClr val="14271D"/>
                </a:solidFill>
                <a:latin typeface="Segoe UI"/>
              </a:rPr>
              <a:t> (de 1 a 6).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06840" y="1444751"/>
            <a:ext cx="7315" cy="173736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134856" y="1536192"/>
            <a:ext cx="570768" cy="182880"/>
          </a:xfrm>
          <a:prstGeom prst="roundRect">
            <a:avLst>
              <a:gd name="adj" fmla="val 44999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34856" y="1536192"/>
            <a:ext cx="5707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Segoe UI"/>
              </a:rPr>
              <a:t>5 años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78776" y="15361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3 variables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34856" y="1839772"/>
            <a:ext cx="427939" cy="164592"/>
          </a:xfrm>
          <a:prstGeom prst="roundRect">
            <a:avLst>
              <a:gd name="adj" fmla="val 27777"/>
            </a:avLst>
          </a:prstGeom>
          <a:solidFill>
            <a:srgbClr val="E2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34856" y="1839772"/>
            <a:ext cx="42793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0A7A6F"/>
                </a:solidFill>
                <a:latin typeface="Segoe UI"/>
              </a:rPr>
              <a:t>bucket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26803" y="1828800"/>
            <a:ext cx="20592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Bucket del Árbol 1</a:t>
            </a:r>
            <a:r>
              <a:rPr sz="930" b="0">
                <a:solidFill>
                  <a:srgbClr val="14271D"/>
                </a:solidFill>
                <a:latin typeface="Segoe UI"/>
              </a:rPr>
              <a:t> (segmento base ordenado por riesgo).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34856" y="2205532"/>
            <a:ext cx="374904" cy="164592"/>
          </a:xfrm>
          <a:prstGeom prst="roundRect">
            <a:avLst>
              <a:gd name="adj" fmla="val 27777"/>
            </a:avLst>
          </a:prstGeom>
          <a:solidFill>
            <a:srgbClr val="FF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34856" y="2205532"/>
            <a:ext cx="3749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9A6A12"/>
                </a:solidFill>
                <a:latin typeface="Segoe UI"/>
              </a:rPr>
              <a:t>saldo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73768" y="2194560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Saldo pasivo promedio</a:t>
            </a:r>
            <a:r>
              <a:rPr sz="930" b="0">
                <a:solidFill>
                  <a:srgbClr val="14271D"/>
                </a:solidFill>
                <a:latin typeface="Segoe UI"/>
              </a:rPr>
              <a:t> de los últimos 3 meses.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34856" y="2571292"/>
            <a:ext cx="374904" cy="164592"/>
          </a:xfrm>
          <a:prstGeom prst="roundRect">
            <a:avLst>
              <a:gd name="adj" fmla="val 27777"/>
            </a:avLst>
          </a:prstGeom>
          <a:solidFill>
            <a:srgbClr val="EF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34856" y="2571292"/>
            <a:ext cx="3749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6A45A0"/>
                </a:solidFill>
                <a:latin typeface="Segoe UI"/>
              </a:rPr>
              <a:t>score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73768" y="2560320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1F5130"/>
                </a:solidFill>
                <a:latin typeface="Segoe UI"/>
              </a:rPr>
              <a:t>Categoría de Score Rebank</a:t>
            </a:r>
            <a:r>
              <a:rPr sz="930" b="0">
                <a:solidFill>
                  <a:srgbClr val="14271D"/>
                </a:solidFill>
                <a:latin typeface="Segoe UI"/>
              </a:rPr>
              <a:t> (de 1 a 6).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08776" y="3255264"/>
            <a:ext cx="5596128" cy="402336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08776" y="3255264"/>
            <a:ext cx="5596128" cy="10972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36792" y="3255264"/>
            <a:ext cx="290998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F5130"/>
                </a:solidFill>
                <a:latin typeface="Segoe UI"/>
              </a:rPr>
              <a:t>Mismas variables</a:t>
            </a:r>
            <a:r>
              <a:rPr sz="950" b="0">
                <a:solidFill>
                  <a:srgbClr val="5B6F66"/>
                </a:solidFill>
                <a:latin typeface="Segoe UI"/>
              </a:rPr>
              <a:t> en ambos escenarios · aquí sí entra el saldo.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286646" y="3346704"/>
            <a:ext cx="735177" cy="219456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 w="9525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68942" y="3346704"/>
            <a:ext cx="62544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B6F66"/>
                </a:solidFill>
                <a:latin typeface="Segoe UI"/>
              </a:rPr>
              <a:t>24m  </a:t>
            </a:r>
            <a:r>
              <a:rPr sz="800" b="1">
                <a:solidFill>
                  <a:srgbClr val="1F5130"/>
                </a:solidFill>
                <a:latin typeface="Segoe UI"/>
              </a:rPr>
              <a:t>30 → 12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113264" y="3346704"/>
            <a:ext cx="687628" cy="219456"/>
          </a:xfrm>
          <a:prstGeom prst="roundRect">
            <a:avLst>
              <a:gd name="adj" fmla="val 29166"/>
            </a:avLst>
          </a:prstGeom>
          <a:solidFill>
            <a:srgbClr val="FFFFFF"/>
          </a:solidFill>
          <a:ln w="9525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95560" y="3346704"/>
            <a:ext cx="5779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B6F66"/>
                </a:solidFill>
                <a:latin typeface="Segoe UI"/>
              </a:rPr>
              <a:t>5a  </a:t>
            </a:r>
            <a:r>
              <a:rPr sz="800" b="1">
                <a:solidFill>
                  <a:srgbClr val="1F5130"/>
                </a:solidFill>
                <a:latin typeface="Segoe UI"/>
              </a:rPr>
              <a:t>16 → 12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4048" y="3877056"/>
            <a:ext cx="372160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4048" y="3877056"/>
            <a:ext cx="3721608" cy="329184"/>
          </a:xfrm>
          <a:prstGeom prst="roundRect">
            <a:avLst>
              <a:gd name="adj" fmla="val 30555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4048" y="4105656"/>
            <a:ext cx="3721608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84632" y="3959352"/>
            <a:ext cx="173736" cy="173736"/>
          </a:xfrm>
          <a:prstGeom prst="roundRect">
            <a:avLst>
              <a:gd name="adj" fmla="val 26315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" y="3959352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3232" y="3877056"/>
            <a:ext cx="33558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Cómo entra cada variable</a:t>
            </a:r>
          </a:p>
        </p:txBody>
      </p:sp>
      <p:sp>
        <p:nvSpPr>
          <p:cNvPr id="92" name="Oval 91"/>
          <p:cNvSpPr/>
          <p:nvPr/>
        </p:nvSpPr>
        <p:spPr>
          <a:xfrm>
            <a:off x="502920" y="4343400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42976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4271D"/>
                </a:solidFill>
                <a:latin typeface="Segoe UI"/>
              </a:rPr>
              <a:t>Cada variable entra con su </a:t>
            </a:r>
            <a:r>
              <a:rPr sz="900" b="1">
                <a:solidFill>
                  <a:srgbClr val="1F5130"/>
                </a:solidFill>
                <a:latin typeface="Segoe UI"/>
              </a:rPr>
              <a:t>dirección de riesgo esperada</a:t>
            </a:r>
            <a:r>
              <a:rPr sz="90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94" name="Oval 93"/>
          <p:cNvSpPr/>
          <p:nvPr/>
        </p:nvSpPr>
        <p:spPr>
          <a:xfrm>
            <a:off x="502920" y="4649724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1792" y="4604004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4271D"/>
                </a:solidFill>
                <a:latin typeface="Segoe UI"/>
              </a:rPr>
              <a:t>Los valores se </a:t>
            </a:r>
            <a:r>
              <a:rPr sz="900" b="1">
                <a:solidFill>
                  <a:srgbClr val="1F5130"/>
                </a:solidFill>
                <a:latin typeface="Segoe UI"/>
              </a:rPr>
              <a:t>agrupan en tramos ordenados por riesgo</a:t>
            </a:r>
            <a:r>
              <a:rPr sz="90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sp>
        <p:nvSpPr>
          <p:cNvPr id="96" name="Oval 95"/>
          <p:cNvSpPr/>
          <p:nvPr/>
        </p:nvSpPr>
        <p:spPr>
          <a:xfrm>
            <a:off x="502920" y="4956048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1792" y="4910328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4271D"/>
                </a:solidFill>
                <a:latin typeface="Segoe UI"/>
              </a:rPr>
              <a:t>Cliente </a:t>
            </a:r>
            <a:r>
              <a:rPr sz="900" b="1">
                <a:solidFill>
                  <a:srgbClr val="1F5130"/>
                </a:solidFill>
                <a:latin typeface="Segoe UI"/>
              </a:rPr>
              <a:t>sin dato</a:t>
            </a:r>
            <a:r>
              <a:rPr sz="900" b="0">
                <a:solidFill>
                  <a:srgbClr val="14271D"/>
                </a:solidFill>
                <a:latin typeface="Segoe UI"/>
              </a:rPr>
              <a:t> → tramo de mayor riesgo.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233672" y="3877056"/>
            <a:ext cx="372160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233672" y="3877056"/>
            <a:ext cx="3721608" cy="329184"/>
          </a:xfrm>
          <a:prstGeom prst="roundRect">
            <a:avLst>
              <a:gd name="adj" fmla="val 30555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233672" y="4105656"/>
            <a:ext cx="3721608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334256" y="3959352"/>
            <a:ext cx="173736" cy="173736"/>
          </a:xfrm>
          <a:prstGeom prst="roundRect">
            <a:avLst>
              <a:gd name="adj" fmla="val 26315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34256" y="3959352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62856" y="3877056"/>
            <a:ext cx="33558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Qué se conserva</a:t>
            </a:r>
          </a:p>
        </p:txBody>
      </p:sp>
      <p:sp>
        <p:nvSpPr>
          <p:cNvPr id="104" name="Oval 103"/>
          <p:cNvSpPr/>
          <p:nvPr/>
        </p:nvSpPr>
        <p:spPr>
          <a:xfrm>
            <a:off x="4352544" y="4343400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71416" y="42976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4271D"/>
                </a:solidFill>
                <a:latin typeface="Segoe UI"/>
              </a:rPr>
              <a:t>Solo las </a:t>
            </a:r>
            <a:r>
              <a:rPr sz="900" b="1">
                <a:solidFill>
                  <a:srgbClr val="1F5130"/>
                </a:solidFill>
                <a:latin typeface="Segoe UI"/>
              </a:rPr>
              <a:t>variables que aportan</a:t>
            </a:r>
            <a:r>
              <a:rPr sz="900" b="0">
                <a:solidFill>
                  <a:srgbClr val="14271D"/>
                </a:solidFill>
                <a:latin typeface="Segoe UI"/>
              </a:rPr>
              <a:t> (el resto se descarta).</a:t>
            </a:r>
          </a:p>
        </p:txBody>
      </p:sp>
      <p:sp>
        <p:nvSpPr>
          <p:cNvPr id="106" name="Oval 105"/>
          <p:cNvSpPr/>
          <p:nvPr/>
        </p:nvSpPr>
        <p:spPr>
          <a:xfrm>
            <a:off x="4352544" y="4649724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71416" y="4604004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Una sola variable de saldo</a:t>
            </a:r>
            <a:r>
              <a:rPr sz="900" b="0">
                <a:solidFill>
                  <a:srgbClr val="14271D"/>
                </a:solidFill>
                <a:latin typeface="Segoe UI"/>
              </a:rPr>
              <a:t> — solo en el Árbol 2.</a:t>
            </a:r>
          </a:p>
        </p:txBody>
      </p:sp>
      <p:sp>
        <p:nvSpPr>
          <p:cNvPr id="108" name="Oval 107"/>
          <p:cNvSpPr/>
          <p:nvPr/>
        </p:nvSpPr>
        <p:spPr>
          <a:xfrm>
            <a:off x="4352544" y="4956048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71416" y="4910328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4271D"/>
                </a:solidFill>
                <a:latin typeface="Segoe UI"/>
              </a:rPr>
              <a:t>Métodos de </a:t>
            </a:r>
            <a:r>
              <a:rPr sz="900" b="1">
                <a:solidFill>
                  <a:srgbClr val="1F5130"/>
                </a:solidFill>
                <a:latin typeface="Segoe UI"/>
              </a:rPr>
              <a:t>ordenamiento</a:t>
            </a:r>
            <a:r>
              <a:rPr sz="900" b="0">
                <a:solidFill>
                  <a:srgbClr val="14271D"/>
                </a:solidFill>
                <a:latin typeface="Segoe UI"/>
              </a:rPr>
              <a:t> probados: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53128" y="5216652"/>
            <a:ext cx="583387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53128" y="5216652"/>
            <a:ext cx="58338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Cascada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91379" y="5216652"/>
            <a:ext cx="646480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91379" y="5216652"/>
            <a:ext cx="646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ChiMerge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792724" y="5216652"/>
            <a:ext cx="520293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92724" y="5216652"/>
            <a:ext cx="52029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OptBin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67881" y="5216652"/>
            <a:ext cx="709574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67881" y="5216652"/>
            <a:ext cx="70957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Shrinkage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132320" y="5216652"/>
            <a:ext cx="394106" cy="182880"/>
          </a:xfrm>
          <a:prstGeom prst="roundRect">
            <a:avLst>
              <a:gd name="adj" fmla="val 44999"/>
            </a:avLst>
          </a:prstGeom>
          <a:solidFill>
            <a:srgbClr val="E9EEFB"/>
          </a:solidFill>
          <a:ln w="9525">
            <a:solidFill>
              <a:srgbClr val="D4D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132320" y="5216652"/>
            <a:ext cx="39410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34529C"/>
                </a:solidFill>
                <a:latin typeface="Segoe UI"/>
              </a:rPr>
              <a:t>MDLP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083296" y="3877056"/>
            <a:ext cx="372160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8083296" y="3877056"/>
            <a:ext cx="3721608" cy="329184"/>
          </a:xfrm>
          <a:prstGeom prst="roundRect">
            <a:avLst>
              <a:gd name="adj" fmla="val 30555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83296" y="4105656"/>
            <a:ext cx="3721608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8183879" y="3959352"/>
            <a:ext cx="173736" cy="173736"/>
          </a:xfrm>
          <a:prstGeom prst="roundRect">
            <a:avLst>
              <a:gd name="adj" fmla="val 26315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83879" y="3959352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◎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12480" y="3877056"/>
            <a:ext cx="33558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Variables evaluadas (Árbol 1)</a:t>
            </a:r>
          </a:p>
        </p:txBody>
      </p:sp>
      <p:sp>
        <p:nvSpPr>
          <p:cNvPr id="126" name="Oval 125"/>
          <p:cNvSpPr/>
          <p:nvPr/>
        </p:nvSpPr>
        <p:spPr>
          <a:xfrm>
            <a:off x="8202168" y="4343400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21040" y="42976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Comportamiento de castigo:</a:t>
            </a:r>
            <a:r>
              <a:rPr sz="900" b="0">
                <a:solidFill>
                  <a:srgbClr val="14271D"/>
                </a:solidFill>
                <a:latin typeface="Segoe UI"/>
              </a:rPr>
              <a:t> deuda, montos, entidades, meses.</a:t>
            </a:r>
          </a:p>
        </p:txBody>
      </p:sp>
      <p:sp>
        <p:nvSpPr>
          <p:cNvPr id="128" name="Oval 127"/>
          <p:cNvSpPr/>
          <p:nvPr/>
        </p:nvSpPr>
        <p:spPr>
          <a:xfrm>
            <a:off x="8202168" y="4649724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321040" y="4604004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Ingreso y perfil:</a:t>
            </a:r>
            <a:r>
              <a:rPr sz="900" b="0">
                <a:solidFill>
                  <a:srgbClr val="14271D"/>
                </a:solidFill>
                <a:latin typeface="Segoe UI"/>
              </a:rPr>
              <a:t> ranking, sexo, nivel profesional, segmento.</a:t>
            </a:r>
          </a:p>
        </p:txBody>
      </p:sp>
      <p:sp>
        <p:nvSpPr>
          <p:cNvPr id="130" name="Oval 129"/>
          <p:cNvSpPr/>
          <p:nvPr/>
        </p:nvSpPr>
        <p:spPr>
          <a:xfrm>
            <a:off x="8202168" y="4956048"/>
            <a:ext cx="45720" cy="45720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21040" y="4910328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4271D"/>
                </a:solidFill>
                <a:latin typeface="Segoe UI"/>
              </a:rPr>
              <a:t>La </a:t>
            </a:r>
            <a:r>
              <a:rPr sz="900" b="1">
                <a:solidFill>
                  <a:srgbClr val="1F5130"/>
                </a:solidFill>
                <a:latin typeface="Segoe UI"/>
              </a:rPr>
              <a:t>edad</a:t>
            </a:r>
            <a:r>
              <a:rPr sz="900" b="0">
                <a:solidFill>
                  <a:srgbClr val="14271D"/>
                </a:solidFill>
                <a:latin typeface="Segoe UI"/>
              </a:rPr>
              <a:t> se prueba en una versión aparte.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84048" y="6419088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384048" y="6492240"/>
            <a:ext cx="5532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Árbol 1 → Árbol 2: </a:t>
            </a:r>
            <a:r>
              <a:rPr sz="760" b="0">
                <a:solidFill>
                  <a:srgbClr val="8A9B93"/>
                </a:solidFill>
                <a:latin typeface="Segoe UI"/>
              </a:rPr>
              <a:t>el bucket del primer árbol es una entrada del segundo · el saldo pasivo solo aparece en el Árbol 2.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44768" y="6492240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Escenarios: </a:t>
            </a:r>
            <a:r>
              <a:rPr sz="760" b="0">
                <a:solidFill>
                  <a:srgbClr val="8A9B93"/>
                </a:solidFill>
                <a:latin typeface="Segoe UI"/>
              </a:rPr>
              <a:t>24 meses y 5 años cambian variables y nº de estrategias, no el procedimiento.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5130"/>
                </a:solidFill>
                <a:latin typeface="Segoe UI"/>
              </a:rPr>
              <a:t>Propuesta de seguimiento del proceso </a:t>
            </a:r>
            <a:r>
              <a:rPr sz="1900" b="1">
                <a:solidFill>
                  <a:srgbClr val="9AA6A0"/>
                </a:solidFill>
                <a:latin typeface="Segoe UI"/>
              </a:rPr>
              <a:t>| Score Rebank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9494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Cómo vigilar en el tiempo que los </a:t>
            </a:r>
            <a:r>
              <a:rPr sz="1000" b="1">
                <a:solidFill>
                  <a:srgbClr val="1F5130"/>
                </a:solidFill>
                <a:latin typeface="Segoe UI"/>
              </a:rPr>
              <a:t>árboles</a:t>
            </a:r>
            <a:r>
              <a:rPr sz="1000" b="0">
                <a:solidFill>
                  <a:srgbClr val="5B6F66"/>
                </a:solidFill>
                <a:latin typeface="Segoe UI"/>
              </a:rPr>
              <a:t> y las </a:t>
            </a:r>
            <a:r>
              <a:rPr sz="1000" b="1">
                <a:solidFill>
                  <a:srgbClr val="1F5130"/>
                </a:solidFill>
                <a:latin typeface="Segoe UI"/>
              </a:rPr>
              <a:t>campañas de rebancarización</a:t>
            </a:r>
            <a:r>
              <a:rPr sz="1000" b="0">
                <a:solidFill>
                  <a:srgbClr val="5B6F66"/>
                </a:solidFill>
                <a:latin typeface="Segoe UI"/>
              </a:rPr>
              <a:t> siguen funcionando, y cuándo actuar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65054" y="310896"/>
            <a:ext cx="1539849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93070" y="411480"/>
            <a:ext cx="100584" cy="100584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9374" y="310896"/>
            <a:ext cx="12655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monitoreo continuo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2615184" cy="512064"/>
          </a:xfrm>
          <a:prstGeom prst="roundRect">
            <a:avLst>
              <a:gd name="adj" fmla="val 17857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133856"/>
            <a:ext cx="2432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1 · 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353312"/>
            <a:ext cx="2432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FFFFFF"/>
                </a:solidFill>
                <a:latin typeface="Segoe UI"/>
              </a:rPr>
              <a:t>Árbol 1 → Árbol 2 → buckets finales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078992"/>
            <a:ext cx="3108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8FB3A3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7" y="1078992"/>
            <a:ext cx="2615184" cy="512064"/>
          </a:xfrm>
          <a:prstGeom prst="roundRect">
            <a:avLst>
              <a:gd name="adj" fmla="val 17857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33856"/>
            <a:ext cx="2432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2 · Despliegue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353312"/>
            <a:ext cx="2432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FFFFFF"/>
                </a:solidFill>
                <a:latin typeface="Segoe UI"/>
              </a:rPr>
              <a:t>buckets aplicados a campañas / pilotos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078992"/>
            <a:ext cx="3108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8FB3A3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078992"/>
            <a:ext cx="2615184" cy="512064"/>
          </a:xfrm>
          <a:prstGeom prst="roundRect">
            <a:avLst>
              <a:gd name="adj" fmla="val 17857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133856"/>
            <a:ext cx="2432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3 · Seguimiento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353312"/>
            <a:ext cx="2432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FFFFFF"/>
                </a:solidFill>
                <a:latin typeface="Segoe UI"/>
              </a:rPr>
              <a:t>estabilidad · poder ·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1078992"/>
            <a:ext cx="31089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8FB3A3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078992"/>
            <a:ext cx="2615184" cy="512064"/>
          </a:xfrm>
          <a:prstGeom prst="roundRect">
            <a:avLst>
              <a:gd name="adj" fmla="val 17857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5" y="1133856"/>
            <a:ext cx="24323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4 ·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5" y="1353312"/>
            <a:ext cx="2432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FFFFFF"/>
                </a:solidFill>
                <a:latin typeface="Segoe UI"/>
              </a:rPr>
              <a:t>mantener · recalibrar · reentrenar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1609344"/>
            <a:ext cx="11420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Ciclo cerrado: </a:t>
            </a:r>
            <a:r>
              <a:rPr sz="900" b="0">
                <a:solidFill>
                  <a:srgbClr val="5B6F66"/>
                </a:solidFill>
                <a:latin typeface="Segoe UI"/>
              </a:rPr>
              <a:t>la Decisión realimenta la Construcción — el seguimiento es lo que dispara recalibrar o reentrenar.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84048" y="2139696"/>
          <a:ext cx="11420854" cy="27980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41545"/>
                <a:gridCol w="3083631"/>
                <a:gridCol w="2284171"/>
                <a:gridCol w="1827336"/>
                <a:gridCol w="2284171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Dimensión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Qué vigila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Métrica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Umbral de alerta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Acción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Estabilidad de la población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0">
                          <a:solidFill>
                            <a:srgbClr val="14271D"/>
                          </a:solidFill>
                          <a:latin typeface="Segoe UI"/>
                        </a:rPr>
                        <a:t>Que la mezcla de clientes por bucket no se desvíe de la base de construcción.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PSI de la distribución de buckets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E79A1E"/>
                          </a:solidFill>
                          <a:latin typeface="Segoe UI"/>
                        </a:rPr>
                        <a:t>ámbar &gt; 0.10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D24B3E"/>
                          </a:solidFill>
                          <a:latin typeface="Segoe UI"/>
                        </a:rPr>
                        <a:t>rojo &gt; 0.25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Revisar la mezcla y recalibrar los cortes.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Estabilidad de las variables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0">
                          <a:solidFill>
                            <a:srgbClr val="14271D"/>
                          </a:solidFill>
                          <a:latin typeface="Segoe UI"/>
                        </a:rPr>
                        <a:t>Que cada variable de entrada mantenga su distribución en el tiempo.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PSI por variable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E79A1E"/>
                          </a:solidFill>
                          <a:latin typeface="Segoe UI"/>
                        </a:rPr>
                        <a:t>ámbar &gt; 0.10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D24B3E"/>
                          </a:solidFill>
                          <a:latin typeface="Segoe UI"/>
                        </a:rPr>
                        <a:t>rojo &gt; 0.25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Re-agrupar los tramos de la variable.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Orden y poder del modelo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0">
                          <a:solidFill>
                            <a:srgbClr val="14271D"/>
                          </a:solidFill>
                          <a:latin typeface="Segoe UI"/>
                        </a:rPr>
                        <a:t>Que los buckets sigan ordenados por riesgo y separando bien.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Monotonía de la tasa de malos · KS / Gini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E79A1E"/>
                          </a:solidFill>
                          <a:latin typeface="Segoe UI"/>
                        </a:rPr>
                        <a:t>se rompe el orden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D24B3E"/>
                          </a:solidFill>
                          <a:latin typeface="Segoe UI"/>
                        </a:rPr>
                        <a:t>caída de KS / Gini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Reentrenar el árbol.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Calibración del riesgo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0">
                          <a:solidFill>
                            <a:srgbClr val="14271D"/>
                          </a:solidFill>
                          <a:latin typeface="Segoe UI"/>
                        </a:rPr>
                        <a:t>Que la tasa de malos observada coincida con la esperada por bucket.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Observado vs. esperado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E79A1E"/>
                          </a:solidFill>
                          <a:latin typeface="Segoe UI"/>
                        </a:rPr>
                        <a:t>desvío moderado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D24B3E"/>
                          </a:solidFill>
                          <a:latin typeface="Segoe UI"/>
                        </a:rPr>
                        <a:t>desvío alto sostenido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Recalibrar los puntos de corte.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Desempeño de negocio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0">
                          <a:solidFill>
                            <a:srgbClr val="14271D"/>
                          </a:solidFill>
                          <a:latin typeface="Segoe UI"/>
                        </a:rPr>
                        <a:t>Que la rebancarización genere valor frente a un grupo de control.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Activación · mora temprana · recupero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E79A1E"/>
                          </a:solidFill>
                          <a:latin typeface="Segoe UI"/>
                        </a:rPr>
                        <a:t>bajo el objetivo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D24B3E"/>
                          </a:solidFill>
                          <a:latin typeface="Segoe UI"/>
                        </a:rPr>
                        <a:t>mora sobre lo tolerado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Ajustar la estrategia comercial.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5130"/>
                          </a:solidFill>
                          <a:latin typeface="Segoe UI"/>
                        </a:rPr>
                        <a:t>Cobertura y rechazo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0">
                          <a:solidFill>
                            <a:srgbClr val="14271D"/>
                          </a:solidFill>
                          <a:latin typeface="Segoe UI"/>
                        </a:rPr>
                        <a:t>Cuántos clientes objetivo capturan las reglas y cuántos quedan fuera.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% capturado · % de rechazo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E79A1E"/>
                          </a:solidFill>
                          <a:latin typeface="Segoe UI"/>
                        </a:rPr>
                        <a:t>cae la cobertura</a:t>
                      </a:r>
                    </a:p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D24B3E"/>
                          </a:solidFill>
                          <a:latin typeface="Segoe UI"/>
                        </a:rPr>
                        <a:t>rechazo creciente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2000"/>
                        </a:lnSpc>
                        <a:spcAft>
                          <a:spcPts val="100"/>
                        </a:spcAft>
                      </a:pPr>
                      <a:r>
                        <a:rPr sz="830" b="1">
                          <a:solidFill>
                            <a:srgbClr val="26603A"/>
                          </a:solidFill>
                          <a:latin typeface="Segoe UI"/>
                        </a:rPr>
                        <a:t>Revisar o ampliar las reglas.</a:t>
                      </a:r>
                    </a:p>
                  </a:txBody>
                  <a:tcPr anchor="ctr" marL="64008" marR="54864" marT="27432" marB="27432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84048" y="4974336"/>
            <a:ext cx="6903720" cy="1353312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" y="4974336"/>
            <a:ext cx="6903720" cy="310896"/>
          </a:xfrm>
          <a:prstGeom prst="roundRect">
            <a:avLst>
              <a:gd name="adj" fmla="val 32352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5184648"/>
            <a:ext cx="6903720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974336"/>
            <a:ext cx="6720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Cadencia propuesta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5358384"/>
            <a:ext cx="2154936" cy="877824"/>
          </a:xfrm>
          <a:prstGeom prst="roundRect">
            <a:avLst>
              <a:gd name="adj" fmla="val 7291"/>
            </a:avLst>
          </a:prstGeom>
          <a:solidFill>
            <a:srgbClr val="F9FCFB"/>
          </a:solidFill>
          <a:ln w="9525">
            <a:solidFill>
              <a:srgbClr val="EE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5431536"/>
            <a:ext cx="568756" cy="182880"/>
          </a:xfrm>
          <a:prstGeom prst="roundRect">
            <a:avLst>
              <a:gd name="adj" fmla="val 44999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31536"/>
            <a:ext cx="56875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1">
                <a:solidFill>
                  <a:srgbClr val="FFFFFF"/>
                </a:solidFill>
                <a:latin typeface="Segoe UI"/>
              </a:rPr>
              <a:t>Mensual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" y="5710428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Estabilidad (PSI población y variables)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" y="5907024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65876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Cobertura y rechazo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" y="6103620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62472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Desempeño de campañas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58440" y="5358384"/>
            <a:ext cx="2154936" cy="877824"/>
          </a:xfrm>
          <a:prstGeom prst="roundRect">
            <a:avLst>
              <a:gd name="adj" fmla="val 7291"/>
            </a:avLst>
          </a:prstGeom>
          <a:solidFill>
            <a:srgbClr val="F9FCFB"/>
          </a:solidFill>
          <a:ln w="9525">
            <a:solidFill>
              <a:srgbClr val="EE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40736" y="5431536"/>
            <a:ext cx="749808" cy="182880"/>
          </a:xfrm>
          <a:prstGeom prst="roundRect">
            <a:avLst>
              <a:gd name="adj" fmla="val 44999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0736" y="5431536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1">
                <a:solidFill>
                  <a:srgbClr val="FFFFFF"/>
                </a:solidFill>
                <a:latin typeface="Segoe UI"/>
              </a:rPr>
              <a:t>Trimestral</a:t>
            </a:r>
          </a:p>
        </p:txBody>
      </p:sp>
      <p:sp>
        <p:nvSpPr>
          <p:cNvPr id="40" name="Oval 39"/>
          <p:cNvSpPr/>
          <p:nvPr/>
        </p:nvSpPr>
        <p:spPr>
          <a:xfrm>
            <a:off x="2868168" y="5710428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7896" y="5669280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Orden y poder (KS / Gini)</a:t>
            </a:r>
          </a:p>
        </p:txBody>
      </p:sp>
      <p:sp>
        <p:nvSpPr>
          <p:cNvPr id="42" name="Oval 41"/>
          <p:cNvSpPr/>
          <p:nvPr/>
        </p:nvSpPr>
        <p:spPr>
          <a:xfrm>
            <a:off x="2868168" y="5907024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7896" y="5865876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Calibración del riesgo</a:t>
            </a:r>
          </a:p>
        </p:txBody>
      </p:sp>
      <p:sp>
        <p:nvSpPr>
          <p:cNvPr id="44" name="Oval 43"/>
          <p:cNvSpPr/>
          <p:nvPr/>
        </p:nvSpPr>
        <p:spPr>
          <a:xfrm>
            <a:off x="2868168" y="6103620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7896" y="6062472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Monotonía por bucket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04815" y="5358384"/>
            <a:ext cx="2154936" cy="877824"/>
          </a:xfrm>
          <a:prstGeom prst="roundRect">
            <a:avLst>
              <a:gd name="adj" fmla="val 7291"/>
            </a:avLst>
          </a:prstGeom>
          <a:solidFill>
            <a:srgbClr val="F9FCFB"/>
          </a:solidFill>
          <a:ln w="9525">
            <a:solidFill>
              <a:srgbClr val="EE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87111" y="5431536"/>
            <a:ext cx="1232611" cy="182880"/>
          </a:xfrm>
          <a:prstGeom prst="roundRect">
            <a:avLst>
              <a:gd name="adj" fmla="val 44999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7111" y="5431536"/>
            <a:ext cx="123261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1">
                <a:solidFill>
                  <a:srgbClr val="FFFFFF"/>
                </a:solidFill>
                <a:latin typeface="Segoe UI"/>
              </a:rPr>
              <a:t>Anual / por alerta</a:t>
            </a:r>
          </a:p>
        </p:txBody>
      </p:sp>
      <p:sp>
        <p:nvSpPr>
          <p:cNvPr id="49" name="Oval 48"/>
          <p:cNvSpPr/>
          <p:nvPr/>
        </p:nvSpPr>
        <p:spPr>
          <a:xfrm>
            <a:off x="5114544" y="5710428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24272" y="5669280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Reentrenamiento completo de los árboles</a:t>
            </a:r>
          </a:p>
        </p:txBody>
      </p:sp>
      <p:sp>
        <p:nvSpPr>
          <p:cNvPr id="51" name="Oval 50"/>
          <p:cNvSpPr/>
          <p:nvPr/>
        </p:nvSpPr>
        <p:spPr>
          <a:xfrm>
            <a:off x="5114544" y="5907024"/>
            <a:ext cx="41148" cy="41148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4272" y="5865876"/>
            <a:ext cx="1862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14271D"/>
                </a:solidFill>
                <a:latin typeface="Segoe UI"/>
              </a:rPr>
              <a:t>Revisión del universo de variables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70648" y="4974336"/>
            <a:ext cx="4334256" cy="1353312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70648" y="4974336"/>
            <a:ext cx="4334256" cy="310896"/>
          </a:xfrm>
          <a:prstGeom prst="roundRect">
            <a:avLst>
              <a:gd name="adj" fmla="val 32352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70648" y="5184648"/>
            <a:ext cx="4334256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664" y="4974336"/>
            <a:ext cx="41513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Semáforo y gobierno</a:t>
            </a:r>
          </a:p>
        </p:txBody>
      </p:sp>
      <p:sp>
        <p:nvSpPr>
          <p:cNvPr id="57" name="Oval 56"/>
          <p:cNvSpPr/>
          <p:nvPr/>
        </p:nvSpPr>
        <p:spPr>
          <a:xfrm>
            <a:off x="7616952" y="5376672"/>
            <a:ext cx="118872" cy="118872"/>
          </a:xfrm>
          <a:prstGeom prst="ellipse">
            <a:avLst/>
          </a:prstGeom>
          <a:solidFill>
            <a:srgbClr val="2FA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20" y="5358384"/>
            <a:ext cx="3877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Verde</a:t>
            </a:r>
            <a:r>
              <a:rPr sz="900" b="0">
                <a:solidFill>
                  <a:srgbClr val="14271D"/>
                </a:solidFill>
                <a:latin typeface="Segoe UI"/>
              </a:rPr>
              <a:t>  · dentro de rango — sin acción.</a:t>
            </a:r>
          </a:p>
        </p:txBody>
      </p:sp>
      <p:sp>
        <p:nvSpPr>
          <p:cNvPr id="59" name="Oval 58"/>
          <p:cNvSpPr/>
          <p:nvPr/>
        </p:nvSpPr>
        <p:spPr>
          <a:xfrm>
            <a:off x="7616952" y="5586984"/>
            <a:ext cx="118872" cy="118872"/>
          </a:xfrm>
          <a:prstGeom prst="ellipse">
            <a:avLst/>
          </a:prstGeom>
          <a:solidFill>
            <a:srgbClr val="E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18120" y="5568696"/>
            <a:ext cx="3877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Ámbar</a:t>
            </a:r>
            <a:r>
              <a:rPr sz="900" b="0">
                <a:solidFill>
                  <a:srgbClr val="14271D"/>
                </a:solidFill>
                <a:latin typeface="Segoe UI"/>
              </a:rPr>
              <a:t>  · vigilar y documentar.</a:t>
            </a:r>
          </a:p>
        </p:txBody>
      </p:sp>
      <p:sp>
        <p:nvSpPr>
          <p:cNvPr id="61" name="Oval 60"/>
          <p:cNvSpPr/>
          <p:nvPr/>
        </p:nvSpPr>
        <p:spPr>
          <a:xfrm>
            <a:off x="7616952" y="5797296"/>
            <a:ext cx="118872" cy="118872"/>
          </a:xfrm>
          <a:prstGeom prst="ellipse">
            <a:avLst/>
          </a:prstGeom>
          <a:solidFill>
            <a:srgbClr val="D2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5779008"/>
            <a:ext cx="3877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Rojo</a:t>
            </a:r>
            <a:r>
              <a:rPr sz="900" b="0">
                <a:solidFill>
                  <a:srgbClr val="14271D"/>
                </a:solidFill>
                <a:latin typeface="Segoe UI"/>
              </a:rPr>
              <a:t>  · recalibrar o reentrenar.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616952" y="5998464"/>
            <a:ext cx="4041648" cy="0"/>
          </a:xfrm>
          <a:prstGeom prst="line">
            <a:avLst/>
          </a:prstGeom>
          <a:ln w="12700">
            <a:solidFill>
              <a:srgbClr val="EEF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16952" y="6044184"/>
            <a:ext cx="4041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1F5130"/>
                </a:solidFill>
                <a:latin typeface="Segoe UI"/>
              </a:rPr>
              <a:t>Roles: </a:t>
            </a:r>
            <a:r>
              <a:rPr sz="800" b="0">
                <a:solidFill>
                  <a:srgbClr val="5B6F66"/>
                </a:solidFill>
                <a:latin typeface="Segoe UI"/>
              </a:rPr>
              <a:t>Riesgos define umbrales · Modelos ejecuta el monitoreo · Negocio actúa en campañas · toda decisión queda en bitácora.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84048" y="6419088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84048" y="649224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PSI: </a:t>
            </a:r>
            <a:r>
              <a:rPr sz="760" b="0">
                <a:solidFill>
                  <a:srgbClr val="8A9B93"/>
                </a:solidFill>
                <a:latin typeface="Segoe UI"/>
              </a:rPr>
              <a:t>mide cuánto se desplaza una distribución respecto a la base de construcción.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67528" y="649224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KS / Gini: </a:t>
            </a:r>
            <a:r>
              <a:rPr sz="760" b="0">
                <a:solidFill>
                  <a:srgbClr val="8A9B93"/>
                </a:solidFill>
                <a:latin typeface="Segoe UI"/>
              </a:rPr>
              <a:t>miden qué tan bien el modelo separa clientes buenos de malos.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6608" y="649224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Control: </a:t>
            </a:r>
            <a:r>
              <a:rPr sz="760" b="0">
                <a:solidFill>
                  <a:srgbClr val="8A9B93"/>
                </a:solidFill>
                <a:latin typeface="Segoe UI"/>
              </a:rPr>
              <a:t>grupo comparable que no recibe la campaña.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