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37744"/>
            <a:ext cx="10058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F5130"/>
                </a:solidFill>
                <a:latin typeface="Segoe UI"/>
              </a:rPr>
              <a:t>Rebank </a:t>
            </a:r>
            <a:r>
              <a:rPr sz="2100" b="1">
                <a:solidFill>
                  <a:srgbClr val="22B24C"/>
                </a:solidFill>
                <a:latin typeface="Segoe UI"/>
              </a:rPr>
              <a:t>| Modelamiento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76656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F66"/>
                </a:solidFill>
                <a:latin typeface="Segoe UI"/>
              </a:rPr>
              <a:t>Ficha técnica del modelo, desempeño (Gini) y variables de mayor importancia — modelo de riesgo para la rebancarización de Altas TC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32136" y="27432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60152" y="374904"/>
            <a:ext cx="100584" cy="100584"/>
          </a:xfrm>
          <a:prstGeom prst="ellipse">
            <a:avLst/>
          </a:prstGeom>
          <a:solidFill>
            <a:srgbClr val="1A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06456" y="274320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F5130"/>
                </a:solidFill>
                <a:latin typeface="Segoe UI"/>
              </a:rPr>
              <a:t>Altas TC · SSFF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24128"/>
            <a:ext cx="6601968" cy="2798064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024128"/>
            <a:ext cx="6601968" cy="365760"/>
          </a:xfrm>
          <a:prstGeom prst="roundRect">
            <a:avLst>
              <a:gd name="adj" fmla="val 27499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89304"/>
            <a:ext cx="6601968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024128"/>
            <a:ext cx="66019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Ficha técnica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1463040"/>
            <a:ext cx="932688" cy="219456"/>
          </a:xfrm>
          <a:prstGeom prst="roundRect">
            <a:avLst>
              <a:gd name="adj" fmla="val 29166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46304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>
                <a:solidFill>
                  <a:srgbClr val="FFFFFF"/>
                </a:solidFill>
                <a:latin typeface="Segoe UI"/>
              </a:rP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1444752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>
                <a:solidFill>
                  <a:srgbClr val="14271D"/>
                </a:solidFill>
                <a:latin typeface="Segoe UI"/>
              </a:rPr>
              <a:t>Estimar el </a:t>
            </a:r>
            <a:r>
              <a:rPr sz="960" b="1">
                <a:solidFill>
                  <a:srgbClr val="1F5130"/>
                </a:solidFill>
                <a:latin typeface="Segoe UI"/>
              </a:rPr>
              <a:t>riesgo de mal comportamiento</a:t>
            </a:r>
            <a:r>
              <a:rPr sz="960" b="0">
                <a:solidFill>
                  <a:srgbClr val="14271D"/>
                </a:solidFill>
                <a:latin typeface="Segoe UI"/>
              </a:rPr>
              <a:t> de clientes con alta de tarjeta de crédito en el sistema financiero, para </a:t>
            </a:r>
            <a:r>
              <a:rPr sz="960" b="1">
                <a:solidFill>
                  <a:srgbClr val="1F5130"/>
                </a:solidFill>
                <a:latin typeface="Segoe UI"/>
              </a:rPr>
              <a:t>apoyar la rebancarización</a:t>
            </a:r>
            <a:r>
              <a:rPr sz="96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776" y="1417320"/>
            <a:ext cx="6382512" cy="0"/>
          </a:xfrm>
          <a:prstGeom prst="line">
            <a:avLst/>
          </a:prstGeom>
          <a:ln w="9525">
            <a:solidFill>
              <a:srgbClr val="EAF1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" y="1879092"/>
            <a:ext cx="932688" cy="219456"/>
          </a:xfrm>
          <a:prstGeom prst="roundRect">
            <a:avLst>
              <a:gd name="adj" fmla="val 29166"/>
            </a:avLst>
          </a:prstGeom>
          <a:solidFill>
            <a:srgbClr val="22B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87909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>
                <a:solidFill>
                  <a:srgbClr val="FFFFFF"/>
                </a:solidFill>
                <a:latin typeface="Segoe UI"/>
              </a:rPr>
              <a:t>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1860804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1">
                <a:solidFill>
                  <a:srgbClr val="1F5130"/>
                </a:solidFill>
                <a:latin typeface="Segoe UI"/>
              </a:rPr>
              <a:t>Ordenar y priorizar clientes</a:t>
            </a:r>
            <a:r>
              <a:rPr sz="960" b="0">
                <a:solidFill>
                  <a:srgbClr val="14271D"/>
                </a:solidFill>
                <a:latin typeface="Segoe UI"/>
              </a:rPr>
              <a:t> en campañas: a quién ofrecer y con qué nivel de riesgo, y separar segmentos (TC Bank / TC No Bank).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" y="1833372"/>
            <a:ext cx="6382512" cy="0"/>
          </a:xfrm>
          <a:prstGeom prst="line">
            <a:avLst/>
          </a:prstGeom>
          <a:ln w="9525">
            <a:solidFill>
              <a:srgbClr val="EAF1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064" y="2276856"/>
            <a:ext cx="932688" cy="219456"/>
          </a:xfrm>
          <a:prstGeom prst="roundRect">
            <a:avLst>
              <a:gd name="adj" fmla="val 29166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276856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>
                <a:solidFill>
                  <a:srgbClr val="FFFFFF"/>
                </a:solidFill>
                <a:latin typeface="Segoe UI"/>
              </a:rPr>
              <a:t>Población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225856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1">
                <a:solidFill>
                  <a:srgbClr val="1F5130"/>
                </a:solidFill>
                <a:latin typeface="Segoe UI"/>
              </a:rPr>
              <a:t>Altas de TC en el SSFF</a:t>
            </a:r>
            <a:r>
              <a:rPr sz="960" b="0">
                <a:solidFill>
                  <a:srgbClr val="14271D"/>
                </a:solidFill>
                <a:latin typeface="Segoe UI"/>
              </a:rPr>
              <a:t>  </a:t>
            </a:r>
            <a:r>
              <a:rPr sz="960" b="0">
                <a:solidFill>
                  <a:srgbClr val="5B6F66"/>
                </a:solidFill>
                <a:latin typeface="Segoe UI"/>
              </a:rPr>
              <a:t>(clientes que sacaron tarjeta en el sistema financiero).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36192" y="2473452"/>
            <a:ext cx="304678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36192" y="2473452"/>
            <a:ext cx="30467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BCP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86590" y="2473452"/>
            <a:ext cx="363565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6590" y="2473452"/>
            <a:ext cx="36356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BBVA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95875" y="2473452"/>
            <a:ext cx="716889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95875" y="2473452"/>
            <a:ext cx="71688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Scotiabank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58485" y="2473452"/>
            <a:ext cx="481340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58485" y="2473452"/>
            <a:ext cx="4813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BanBif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85545" y="2473452"/>
            <a:ext cx="658002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5545" y="2473452"/>
            <a:ext cx="65800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Falabella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9267" y="2473452"/>
            <a:ext cx="304678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9267" y="2473452"/>
            <a:ext cx="30467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SIP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3776" y="2231136"/>
            <a:ext cx="6382512" cy="0"/>
          </a:xfrm>
          <a:prstGeom prst="line">
            <a:avLst/>
          </a:prstGeom>
          <a:ln w="9525">
            <a:solidFill>
              <a:srgbClr val="EAF1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12064" y="2711196"/>
            <a:ext cx="932688" cy="219456"/>
          </a:xfrm>
          <a:prstGeom prst="roundRect">
            <a:avLst>
              <a:gd name="adj" fmla="val 29166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2711196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>
                <a:solidFill>
                  <a:srgbClr val="FFFFFF"/>
                </a:solidFill>
                <a:latin typeface="Segoe UI"/>
              </a:rPr>
              <a:t>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" y="269290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1">
                <a:solidFill>
                  <a:srgbClr val="1F5130"/>
                </a:solidFill>
                <a:latin typeface="Segoe UI"/>
              </a:rPr>
              <a:t>Cliente malo</a:t>
            </a:r>
            <a:r>
              <a:rPr sz="960" b="0">
                <a:solidFill>
                  <a:srgbClr val="14271D"/>
                </a:solidFill>
                <a:latin typeface="Segoe UI"/>
              </a:rPr>
              <a:t> en horizonte de </a:t>
            </a:r>
            <a:r>
              <a:rPr sz="960" b="1">
                <a:solidFill>
                  <a:srgbClr val="1F5130"/>
                </a:solidFill>
                <a:latin typeface="Segoe UI"/>
              </a:rPr>
              <a:t>12 meses</a:t>
            </a:r>
            <a:r>
              <a:rPr sz="960" b="0">
                <a:solidFill>
                  <a:srgbClr val="14271D"/>
                </a:solidFill>
                <a:latin typeface="Segoe UI"/>
              </a:rPr>
              <a:t>: atraso </a:t>
            </a:r>
            <a:r>
              <a:rPr sz="960" b="1">
                <a:solidFill>
                  <a:srgbClr val="1F5130"/>
                </a:solidFill>
                <a:latin typeface="Segoe UI"/>
              </a:rPr>
              <a:t>&gt; 60 días</a:t>
            </a:r>
            <a:r>
              <a:rPr sz="960" b="0">
                <a:solidFill>
                  <a:srgbClr val="14271D"/>
                </a:solidFill>
                <a:latin typeface="Segoe UI"/>
              </a:rPr>
              <a:t> o refinanciado.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3776" y="2665476"/>
            <a:ext cx="6382512" cy="0"/>
          </a:xfrm>
          <a:prstGeom prst="line">
            <a:avLst/>
          </a:prstGeom>
          <a:ln w="9525">
            <a:solidFill>
              <a:srgbClr val="EAF1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12064" y="2999232"/>
            <a:ext cx="932688" cy="219456"/>
          </a:xfrm>
          <a:prstGeom prst="roundRect">
            <a:avLst>
              <a:gd name="adj" fmla="val 29166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9923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>
                <a:solidFill>
                  <a:srgbClr val="FFFFFF"/>
                </a:solidFill>
                <a:latin typeface="Segoe UI"/>
              </a:rPr>
              <a:t>Periodos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6192" y="2980944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1">
                <a:solidFill>
                  <a:srgbClr val="1F5130"/>
                </a:solidFill>
                <a:latin typeface="Segoe UI"/>
              </a:rPr>
              <a:t>Desarrollo:</a:t>
            </a:r>
            <a:r>
              <a:rPr sz="960" b="0">
                <a:solidFill>
                  <a:srgbClr val="14271D"/>
                </a:solidFill>
                <a:latin typeface="Segoe UI"/>
              </a:rPr>
              <a:t> Nov'23 – Ene'25 </a:t>
            </a:r>
            <a:r>
              <a:rPr sz="960" b="0">
                <a:solidFill>
                  <a:srgbClr val="5B6F66"/>
                </a:solidFill>
                <a:latin typeface="Segoe UI"/>
              </a:rPr>
              <a:t>(15 meses)</a:t>
            </a:r>
            <a:r>
              <a:rPr sz="960" b="0">
                <a:solidFill>
                  <a:srgbClr val="14271D"/>
                </a:solidFill>
                <a:latin typeface="Segoe UI"/>
              </a:rPr>
              <a:t> · </a:t>
            </a:r>
            <a:r>
              <a:rPr sz="960" b="1">
                <a:solidFill>
                  <a:srgbClr val="1F5130"/>
                </a:solidFill>
                <a:latin typeface="Segoe UI"/>
              </a:rPr>
              <a:t>OOT:</a:t>
            </a:r>
            <a:r>
              <a:rPr sz="960" b="0">
                <a:solidFill>
                  <a:srgbClr val="14271D"/>
                </a:solidFill>
                <a:latin typeface="Segoe UI"/>
              </a:rPr>
              <a:t> Feb'25 – Abr'25 </a:t>
            </a:r>
            <a:r>
              <a:rPr sz="960" b="0">
                <a:solidFill>
                  <a:srgbClr val="5B6F66"/>
                </a:solidFill>
                <a:latin typeface="Segoe UI"/>
              </a:rPr>
              <a:t>(3 meses)</a:t>
            </a:r>
            <a:r>
              <a:rPr sz="960" b="0">
                <a:solidFill>
                  <a:srgbClr val="14271D"/>
                </a:solidFill>
                <a:latin typeface="Segoe UI"/>
              </a:rPr>
              <a:t>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3776" y="2953512"/>
            <a:ext cx="6382512" cy="0"/>
          </a:xfrm>
          <a:prstGeom prst="line">
            <a:avLst/>
          </a:prstGeom>
          <a:ln w="9525">
            <a:solidFill>
              <a:srgbClr val="EAF1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12064" y="3287268"/>
            <a:ext cx="932688" cy="219456"/>
          </a:xfrm>
          <a:prstGeom prst="roundRect">
            <a:avLst>
              <a:gd name="adj" fmla="val 29166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3287268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>
                <a:solidFill>
                  <a:srgbClr val="FFFFFF"/>
                </a:solidFill>
                <a:latin typeface="Segoe UI"/>
              </a:rPr>
              <a:t>Metodología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6192" y="326898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1">
                <a:solidFill>
                  <a:srgbClr val="1F5130"/>
                </a:solidFill>
                <a:latin typeface="Segoe UI"/>
              </a:rPr>
              <a:t>LightGBM</a:t>
            </a:r>
            <a:r>
              <a:rPr sz="960" b="0">
                <a:solidFill>
                  <a:srgbClr val="14271D"/>
                </a:solidFill>
                <a:latin typeface="Segoe UI"/>
              </a:rPr>
              <a:t>  </a:t>
            </a:r>
            <a:r>
              <a:rPr sz="960" b="0">
                <a:solidFill>
                  <a:srgbClr val="5B6F66"/>
                </a:solidFill>
                <a:latin typeface="Segoe UI"/>
              </a:rPr>
              <a:t>(gradient boosting sobre árboles de decisión).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3241548"/>
            <a:ext cx="6382512" cy="0"/>
          </a:xfrm>
          <a:prstGeom prst="line">
            <a:avLst/>
          </a:prstGeom>
          <a:ln w="9525">
            <a:solidFill>
              <a:srgbClr val="EAF1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12064" y="3575304"/>
            <a:ext cx="932688" cy="219456"/>
          </a:xfrm>
          <a:prstGeom prst="roundRect">
            <a:avLst>
              <a:gd name="adj" fmla="val 29166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575304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69" b="1">
                <a:solidFill>
                  <a:srgbClr val="FFFFFF"/>
                </a:solidFill>
                <a:latin typeface="Segoe UI"/>
              </a:rPr>
              <a:t>Variables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3557016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1">
                <a:solidFill>
                  <a:srgbClr val="1F5130"/>
                </a:solidFill>
                <a:latin typeface="Segoe UI"/>
              </a:rPr>
              <a:t>52 candidatas</a:t>
            </a:r>
            <a:r>
              <a:rPr sz="960" b="0">
                <a:solidFill>
                  <a:srgbClr val="14271D"/>
                </a:solidFill>
                <a:latin typeface="Segoe UI"/>
              </a:rPr>
              <a:t> de múltiples fuentes externas e internas.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36192" y="3771900"/>
            <a:ext cx="304678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36192" y="3771900"/>
            <a:ext cx="30467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RCC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86590" y="3771900"/>
            <a:ext cx="481340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86590" y="3771900"/>
            <a:ext cx="4813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Sunedu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13650" y="3771900"/>
            <a:ext cx="599114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13650" y="3771900"/>
            <a:ext cx="59911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Sentinel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58485" y="3771900"/>
            <a:ext cx="304678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58485" y="3771900"/>
            <a:ext cx="30467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IBK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08883" y="3771900"/>
            <a:ext cx="422452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8883" y="3771900"/>
            <a:ext cx="42245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Sunat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77056" y="3771900"/>
            <a:ext cx="481340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77056" y="3771900"/>
            <a:ext cx="4813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Reniec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04116" y="3771900"/>
            <a:ext cx="481340" cy="173736"/>
          </a:xfrm>
          <a:prstGeom prst="roundRect">
            <a:avLst>
              <a:gd name="adj" fmla="val 47368"/>
            </a:avLst>
          </a:prstGeom>
          <a:solidFill>
            <a:srgbClr val="EEF4F1"/>
          </a:solidFill>
          <a:ln w="762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04116" y="3771900"/>
            <a:ext cx="4813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6603A"/>
                </a:solidFill>
                <a:latin typeface="Segoe UI"/>
              </a:rPr>
              <a:t>Sunarp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93776" y="3529584"/>
            <a:ext cx="6382512" cy="0"/>
          </a:xfrm>
          <a:prstGeom prst="line">
            <a:avLst/>
          </a:prstGeom>
          <a:ln w="9525">
            <a:solidFill>
              <a:srgbClr val="EAF1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141464" y="1024128"/>
            <a:ext cx="4663440" cy="2798064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141464" y="1024128"/>
            <a:ext cx="4663440" cy="365760"/>
          </a:xfrm>
          <a:prstGeom prst="roundRect">
            <a:avLst>
              <a:gd name="adj" fmla="val 27499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41464" y="1289304"/>
            <a:ext cx="4663440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41464" y="102412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Resultados · poder del modelo (Gini)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7269480" y="1481328"/>
          <a:ext cx="4407407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66296"/>
                <a:gridCol w="1762963"/>
                <a:gridCol w="1278148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5B6F66"/>
                          </a:solidFill>
                          <a:latin typeface="Segoe UI"/>
                        </a:rPr>
                        <a:t>Etapa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5B6F66"/>
                          </a:solidFill>
                          <a:latin typeface="Segoe UI"/>
                        </a:rPr>
                        <a:t>Muestra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Gini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3D4A63"/>
                    </a:solidFill>
                  </a:tcPr>
                </a:tc>
              </a:tr>
              <a:tr h="292608">
                <a:tc rowSpan="2"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F5130"/>
                          </a:solidFill>
                          <a:latin typeface="Segoe UI"/>
                        </a:rPr>
                        <a:t>Desarrollo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Train (80%)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22B2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26603A"/>
                          </a:solidFill>
                          <a:latin typeface="Segoe UI"/>
                        </a:rPr>
                        <a:t>51%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 vMerge="1"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Test (20%)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7FB8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26603A"/>
                          </a:solidFill>
                          <a:latin typeface="Segoe UI"/>
                        </a:rPr>
                        <a:t>47%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F5130"/>
                          </a:solidFill>
                          <a:latin typeface="Segoe UI"/>
                        </a:rPr>
                        <a:t>Validación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OOT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9AA6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26603A"/>
                          </a:solidFill>
                          <a:latin typeface="Segoe UI"/>
                        </a:rPr>
                        <a:t>46%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</a:tr>
              <a:tr h="292608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5B6F66"/>
                          </a:solidFill>
                          <a:latin typeface="Segoe UI"/>
                        </a:rPr>
                        <a:t>OOT · segmento </a:t>
                      </a:r>
                      <a:r>
                        <a:rPr sz="869" b="1">
                          <a:solidFill>
                            <a:srgbClr val="14271D"/>
                          </a:solidFill>
                          <a:latin typeface="Segoe UI"/>
                        </a:rPr>
                        <a:t>TC Bank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26603A"/>
                          </a:solidFill>
                          <a:latin typeface="Segoe UI"/>
                        </a:rPr>
                        <a:t>29%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9" b="0">
                          <a:solidFill>
                            <a:srgbClr val="5B6F66"/>
                          </a:solidFill>
                          <a:latin typeface="Segoe UI"/>
                        </a:rPr>
                        <a:t>OOT · segmento </a:t>
                      </a:r>
                      <a:r>
                        <a:rPr sz="869" b="1">
                          <a:solidFill>
                            <a:srgbClr val="14271D"/>
                          </a:solidFill>
                          <a:latin typeface="Segoe UI"/>
                        </a:rPr>
                        <a:t>TC No Bank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26603A"/>
                          </a:solidFill>
                          <a:latin typeface="Segoe UI"/>
                        </a:rPr>
                        <a:t>23%</a:t>
                      </a:r>
                    </a:p>
                  </a:txBody>
                  <a:tcPr anchor="ctr" marL="54864" marR="45720" marT="18288" marB="18288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7FBF9"/>
                    </a:solidFill>
                  </a:tcPr>
                </a:tc>
              </a:tr>
            </a:tbl>
          </a:graphicData>
        </a:graphic>
      </p:graphicFrame>
      <p:sp>
        <p:nvSpPr>
          <p:cNvPr id="70" name="Rounded Rectangle 69"/>
          <p:cNvSpPr/>
          <p:nvPr/>
        </p:nvSpPr>
        <p:spPr>
          <a:xfrm>
            <a:off x="7269479" y="3218688"/>
            <a:ext cx="2148839" cy="512064"/>
          </a:xfrm>
          <a:prstGeom prst="roundRect">
            <a:avLst>
              <a:gd name="adj" fmla="val 16071"/>
            </a:avLst>
          </a:prstGeom>
          <a:solidFill>
            <a:srgbClr val="EEF5FB"/>
          </a:solidFill>
          <a:ln w="9525">
            <a:solidFill>
              <a:srgbClr val="D8E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0063" y="3273552"/>
            <a:ext cx="196595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3A6EA5"/>
                </a:solidFill>
                <a:latin typeface="Segoe UI"/>
              </a:rPr>
              <a:t>Brecha OOT → TC Bank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0063" y="3401568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45B96"/>
                </a:solidFill>
                <a:latin typeface="Segoe UI"/>
              </a:rPr>
              <a:t>+17 pp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70063" y="3602736"/>
            <a:ext cx="196595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B6F66"/>
                </a:solidFill>
                <a:latin typeface="Segoe UI"/>
              </a:rPr>
              <a:t>Gini 46% → 29%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28047" y="3218688"/>
            <a:ext cx="2148839" cy="512064"/>
          </a:xfrm>
          <a:prstGeom prst="roundRect">
            <a:avLst>
              <a:gd name="adj" fmla="val 16071"/>
            </a:avLst>
          </a:prstGeom>
          <a:solidFill>
            <a:srgbClr val="EEF5FB"/>
          </a:solidFill>
          <a:ln w="9525">
            <a:solidFill>
              <a:srgbClr val="D8E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28631" y="3273552"/>
            <a:ext cx="196595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3A6EA5"/>
                </a:solidFill>
                <a:latin typeface="Segoe UI"/>
              </a:rPr>
              <a:t>Brecha OOT → TC No Bank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28631" y="3401568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45B96"/>
                </a:solidFill>
                <a:latin typeface="Segoe UI"/>
              </a:rPr>
              <a:t>+20 pp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28631" y="3602736"/>
            <a:ext cx="196595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5B6F66"/>
                </a:solidFill>
                <a:latin typeface="Segoe UI"/>
              </a:rPr>
              <a:t>respecto al Gini global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84048" y="3968496"/>
            <a:ext cx="11420856" cy="2130552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84048" y="3968496"/>
            <a:ext cx="11420856" cy="347472"/>
          </a:xfrm>
          <a:prstGeom prst="roundRect">
            <a:avLst>
              <a:gd name="adj" fmla="val 31578"/>
            </a:avLst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84048" y="4215383"/>
            <a:ext cx="11420856" cy="100584"/>
          </a:xfrm>
          <a:prstGeom prst="rect">
            <a:avLst/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" y="3968496"/>
            <a:ext cx="11146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Variables de mayor importancia (SHAP · Top 10) y fuentes de datos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32904" y="4315968"/>
            <a:ext cx="7315" cy="178308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" y="4389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1F5130"/>
                </a:solidFill>
                <a:latin typeface="Segoe UI"/>
              </a:rPr>
              <a:t>VARIABLES RELEVANTES · % DE IMPORTANCIA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0352" y="4608576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Nº de deudas castigadas u24m </a:t>
            </a:r>
            <a:r>
              <a:rPr sz="740" b="1">
                <a:solidFill>
                  <a:srgbClr val="5B6F66"/>
                </a:solidFill>
                <a:latin typeface="Segoe UI"/>
              </a:rPr>
              <a:t>(RCC)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31920" y="4634179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31920" y="4634179"/>
            <a:ext cx="1783080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69864" y="4608576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19.7%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352" y="4747564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Máximo saldo peor clasificación u12m </a:t>
            </a:r>
            <a:r>
              <a:rPr sz="740" b="1">
                <a:solidFill>
                  <a:srgbClr val="5B6F66"/>
                </a:solidFill>
                <a:latin typeface="Segoe UI"/>
              </a:rPr>
              <a:t>(RCC)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931920" y="4773168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931920" y="4773168"/>
            <a:ext cx="642632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69864" y="4747564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7.1%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4886553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Nivel educativo con títulos profesionales </a:t>
            </a:r>
            <a:r>
              <a:rPr sz="740" b="1">
                <a:solidFill>
                  <a:srgbClr val="5B6F66"/>
                </a:solidFill>
                <a:latin typeface="Segoe UI"/>
              </a:rPr>
              <a:t>(Sunedu)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31920" y="4912156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931920" y="4912156"/>
            <a:ext cx="561172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69864" y="4886553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6.2%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0352" y="5025542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Antigüedad desde alta del último producto en SSFF </a:t>
            </a:r>
            <a:r>
              <a:rPr sz="740" b="1">
                <a:solidFill>
                  <a:srgbClr val="5B6F66"/>
                </a:solidFill>
                <a:latin typeface="Segoe UI"/>
              </a:rPr>
              <a:t>(RCC)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31920" y="5051145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931920" y="5051145"/>
            <a:ext cx="425404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69864" y="502554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4.7%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0352" y="5164531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Desviación saldo préstamos comerciales y personales u3m </a:t>
            </a:r>
            <a:r>
              <a:rPr sz="740" b="1">
                <a:solidFill>
                  <a:srgbClr val="5B6F66"/>
                </a:solidFill>
                <a:latin typeface="Segoe UI"/>
              </a:rPr>
              <a:t>(RCC)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31920" y="5190134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931920" y="5190134"/>
            <a:ext cx="371097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69864" y="5164531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4.1%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0352" y="5303520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Mínimo saldo total pasivos retail Interbank u12m </a:t>
            </a:r>
            <a:r>
              <a:rPr sz="740" b="1">
                <a:solidFill>
                  <a:srgbClr val="5B6F66"/>
                </a:solidFill>
                <a:latin typeface="Segoe UI"/>
              </a:rPr>
              <a:t>(IBK)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31920" y="5329123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931920" y="5329123"/>
            <a:ext cx="371097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769864" y="5303520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4.1%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0352" y="5442508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Ratio saldo riesgo total u1m / máximo u12m </a:t>
            </a:r>
            <a:r>
              <a:rPr sz="740" b="1">
                <a:solidFill>
                  <a:srgbClr val="5B6F66"/>
                </a:solidFill>
                <a:latin typeface="Segoe UI"/>
              </a:rPr>
              <a:t>(RCC)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931920" y="5468112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931920" y="5468112"/>
            <a:ext cx="352995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769864" y="5442508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3.9%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0352" y="5581497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Cantidad de empresas reportadas u12m </a:t>
            </a:r>
            <a:r>
              <a:rPr sz="740" b="1">
                <a:solidFill>
                  <a:srgbClr val="5B6F66"/>
                </a:solidFill>
                <a:latin typeface="Segoe UI"/>
              </a:rPr>
              <a:t>(Sentinel)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931920" y="5607100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931920" y="5607100"/>
            <a:ext cx="343944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769864" y="5581497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3.8%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0352" y="5720486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Máximo saldo pasivo u12m </a:t>
            </a:r>
            <a:r>
              <a:rPr sz="740" b="1">
                <a:solidFill>
                  <a:srgbClr val="5B6F66"/>
                </a:solidFill>
                <a:latin typeface="Segoe UI"/>
              </a:rPr>
              <a:t>(IBK)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31920" y="5746089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931920" y="5746089"/>
            <a:ext cx="325842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769864" y="5720486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3.6%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0352" y="5859475"/>
            <a:ext cx="331012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40" b="0">
                <a:solidFill>
                  <a:srgbClr val="14271D"/>
                </a:solidFill>
                <a:latin typeface="Segoe UI"/>
              </a:rPr>
              <a:t>Descripción de grupo carrera profesional </a:t>
            </a:r>
            <a:r>
              <a:rPr sz="740" b="1">
                <a:solidFill>
                  <a:srgbClr val="5B6F66"/>
                </a:solidFill>
                <a:latin typeface="Segoe UI"/>
              </a:rPr>
              <a:t>(Sunedu)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931920" y="5885078"/>
            <a:ext cx="1783080" cy="86868"/>
          </a:xfrm>
          <a:prstGeom prst="rect">
            <a:avLst/>
          </a:prstGeom>
          <a:solidFill>
            <a:srgbClr val="EC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931920" y="5885078"/>
            <a:ext cx="244381" cy="86868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69864" y="5859475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26603A"/>
                </a:solidFill>
                <a:latin typeface="Segoe UI"/>
              </a:rPr>
              <a:t>2.7%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79208" y="438912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1F5130"/>
                </a:solidFill>
                <a:latin typeface="Segoe UI"/>
              </a:rPr>
              <a:t>FUENTES DE LA IMPORTANCIA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79208" y="4590288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5130"/>
                </a:solidFill>
                <a:latin typeface="Segoe UI"/>
              </a:rPr>
              <a:t>RCC · 61% de la importancia total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379208" y="480974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Intercorp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311896" y="4835347"/>
            <a:ext cx="1417320" cy="68580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84080" y="480974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5B6F66"/>
                </a:solidFill>
                <a:latin typeface="Segoe UI"/>
              </a:rPr>
              <a:t>13%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79208" y="4926787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Sunedu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11896" y="4952390"/>
            <a:ext cx="981221" cy="68580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347981" y="492678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5B6F66"/>
                </a:solidFill>
                <a:latin typeface="Segoe UI"/>
              </a:rPr>
              <a:t>9%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79208" y="504383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Sentinel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311896" y="5069433"/>
            <a:ext cx="763172" cy="68580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129932" y="504383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5B6F66"/>
                </a:solidFill>
                <a:latin typeface="Segoe UI"/>
              </a:rPr>
              <a:t>7%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79208" y="5160873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IBK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311896" y="5186476"/>
            <a:ext cx="545123" cy="68580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1883" y="516087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5B6F66"/>
                </a:solidFill>
                <a:latin typeface="Segoe UI"/>
              </a:rPr>
              <a:t>5%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79208" y="527791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Sunat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311896" y="5303520"/>
            <a:ext cx="327073" cy="68580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693833" y="527791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5B6F66"/>
                </a:solidFill>
                <a:latin typeface="Segoe UI"/>
              </a:rPr>
              <a:t>3%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79208" y="539496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Reniec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311896" y="5420563"/>
            <a:ext cx="109024" cy="68580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475784" y="539496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5B6F66"/>
                </a:solidFill>
                <a:latin typeface="Segoe UI"/>
              </a:rPr>
              <a:t>1%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379208" y="5512003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Sunarp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311896" y="5537606"/>
            <a:ext cx="109024" cy="68580"/>
          </a:xfrm>
          <a:prstGeom prst="rect">
            <a:avLst/>
          </a:prstGeom>
          <a:solidFill>
            <a:srgbClr val="3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475784" y="551200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5B6F66"/>
                </a:solidFill>
                <a:latin typeface="Segoe UI"/>
              </a:rPr>
              <a:t>1%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379208" y="5665622"/>
            <a:ext cx="4279392" cy="384048"/>
          </a:xfrm>
          <a:prstGeom prst="roundRect">
            <a:avLst>
              <a:gd name="adj" fmla="val 19047"/>
            </a:avLst>
          </a:prstGeom>
          <a:solidFill>
            <a:srgbClr val="FFF4E0"/>
          </a:solidFill>
          <a:ln w="9525">
            <a:solidFill>
              <a:srgbClr val="F4E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470648" y="5665622"/>
            <a:ext cx="40965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>
                <a:solidFill>
                  <a:srgbClr val="9A6A12"/>
                </a:solidFill>
                <a:latin typeface="Segoe UI"/>
              </a:rPr>
              <a:t>Ingresó al modelo la variable construida de </a:t>
            </a:r>
            <a:r>
              <a:rPr sz="819" b="1">
                <a:solidFill>
                  <a:srgbClr val="7A5200"/>
                </a:solidFill>
                <a:latin typeface="Segoe UI"/>
              </a:rPr>
              <a:t>Perfil Castigado</a:t>
            </a:r>
            <a:r>
              <a:rPr sz="819" b="0">
                <a:solidFill>
                  <a:srgbClr val="9A6A12"/>
                </a:solidFill>
                <a:latin typeface="Segoe UI"/>
              </a:rPr>
              <a:t>: </a:t>
            </a:r>
            <a:r>
              <a:rPr sz="819" b="1">
                <a:solidFill>
                  <a:srgbClr val="7A5200"/>
                </a:solidFill>
                <a:latin typeface="Segoe UI"/>
              </a:rPr>
              <a:t>Nº de Deudas Castigadas (19.7%)</a:t>
            </a:r>
            <a:r>
              <a:rPr sz="819" b="0">
                <a:solidFill>
                  <a:srgbClr val="9A6A12"/>
                </a:solidFill>
                <a:latin typeface="Segoe UI"/>
              </a:rPr>
              <a:t> — la de mayor peso.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384048" y="6419088"/>
            <a:ext cx="11420856" cy="0"/>
          </a:xfrm>
          <a:prstGeom prst="line">
            <a:avLst/>
          </a:prstGeom>
          <a:ln w="12700">
            <a:solidFill>
              <a:srgbClr val="E3E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384048" y="649224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Gini: </a:t>
            </a:r>
            <a:r>
              <a:rPr sz="760" b="0">
                <a:solidFill>
                  <a:srgbClr val="8A9B93"/>
                </a:solidFill>
                <a:latin typeface="Segoe UI"/>
              </a:rPr>
              <a:t>mide qué tan bien el modelo separa buenos de malos (0 = azar, 100% = perfecto).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367528" y="6492240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OOT: </a:t>
            </a:r>
            <a:r>
              <a:rPr sz="760" b="0">
                <a:solidFill>
                  <a:srgbClr val="8A9B93"/>
                </a:solidFill>
                <a:latin typeface="Segoe UI"/>
              </a:rPr>
              <a:t>validación fuera de tiempo, en meses posteriores al desarrollo.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345167" y="649224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SHAP: </a:t>
            </a:r>
            <a:r>
              <a:rPr sz="760" b="0">
                <a:solidFill>
                  <a:srgbClr val="8A9B93"/>
                </a:solidFill>
                <a:latin typeface="Segoe UI"/>
              </a:rPr>
              <a:t>aporte de cada variable a la predicción.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