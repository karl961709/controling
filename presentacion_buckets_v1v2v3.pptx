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37744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5130"/>
                </a:solidFill>
                <a:latin typeface="Segoe UI"/>
              </a:rPr>
              <a:t>Buckets · 24 meses </a:t>
            </a:r>
            <a:r>
              <a:rPr sz="2500" b="1">
                <a:solidFill>
                  <a:srgbClr val="9AA6A0"/>
                </a:solidFill>
                <a:latin typeface="Segoe UI"/>
              </a:rPr>
              <a:t>| Tasa de riesgo y distribución V1 / V2 /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7132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Escenario 24m_sinedad_6 · 7 buckets sobre 21 estrategias del Árbol 2 · verde = menor riesgo, rojo = mayor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5603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560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24m_sinedad_6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133856"/>
            <a:ext cx="5605272" cy="250545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133856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325880"/>
            <a:ext cx="5605272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133856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Tasa de riesgo por bucket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08760"/>
          <a:ext cx="5349239" cy="196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298448"/>
                <a:gridCol w="868680"/>
                <a:gridCol w="868680"/>
                <a:gridCol w="960120"/>
                <a:gridCol w="896111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Estrat.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Tasa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% tot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1, 2, 3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16.89%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31.6%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1,403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4, 5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20.56%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35.3%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214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6–10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20.75%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40.6%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32,719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72%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11, 12, 13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21.41%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42.4%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4,611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14–17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27.28%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44.4%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942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18, 19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26.86%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45.7%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4,318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20, 21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26.92%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47.5%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1,252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21 est.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21.58%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41.2%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45,459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63056" y="1133856"/>
            <a:ext cx="5605272" cy="250545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3056" y="1133856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1325880"/>
            <a:ext cx="5605272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133856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Base inicial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91072" y="1508760"/>
          <a:ext cx="5349239" cy="196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417319"/>
                <a:gridCol w="960120"/>
                <a:gridCol w="1234440"/>
                <a:gridCol w="128016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Cantidad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19,103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670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19,102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35.4%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646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76,066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39.5%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605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150,105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25.8%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42.2%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577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245,492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42.1%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44.6%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553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53,558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46.3%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537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19,501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48.2%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518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582,927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42.9%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570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20624" y="3712463"/>
            <a:ext cx="5605272" cy="250545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" y="3712463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" y="3904487"/>
            <a:ext cx="5605272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712463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Fuera de campaña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087368"/>
          <a:ext cx="5349239" cy="196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417319"/>
                <a:gridCol w="960120"/>
                <a:gridCol w="1234440"/>
                <a:gridCol w="128016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Cantidad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13,317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33.7%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663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13,673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36.3%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636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57,746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40.4%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596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125,534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569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240,860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44.7%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552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52,916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46.3%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536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19,438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48.2%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517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523,484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43.6%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563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63056" y="3712463"/>
            <a:ext cx="5605272" cy="250545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63056" y="3712463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904487"/>
            <a:ext cx="5605272" cy="118872"/>
          </a:xfrm>
          <a:prstGeom prst="rect">
            <a:avLst/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712463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Base de campañas</a:t>
            </a:r>
            <a:r>
              <a:rPr sz="1000" b="0">
                <a:solidFill>
                  <a:srgbClr val="FFFFFF"/>
                </a:solidFill>
                <a:latin typeface="Segoe UI"/>
              </a:rPr>
              <a:t>   · periodo 20260624 · tipo × bucket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291072" y="4087368"/>
          <a:ext cx="5349237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"/>
                <a:gridCol w="1368551"/>
                <a:gridCol w="1368551"/>
                <a:gridCol w="1368551"/>
                <a:gridCol w="841248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Segoe UI"/>
                        </a:rPr>
                        <a:t>TC_CMP_EST_CAST_24_T_CL1_3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Segoe UI"/>
                        </a:rPr>
                        <a:t>TC_CMP_EST_CAST_24_T_CL4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Segoe UI"/>
                        </a:rPr>
                        <a:t>TC_CMP_EST_CAS_24_IC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A5A52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9,641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675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10,316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6,807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6,807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12,901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4,106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17,007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21,133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21,133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3,930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3,930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472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472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42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22,542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32,721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4,444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59,707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Tasa malos:</a:t>
            </a:r>
            <a:r>
              <a:rPr sz="800" b="0">
                <a:solidFill>
                  <a:srgbClr val="9AA6A0"/>
                </a:solidFill>
                <a:latin typeface="Segoe UI"/>
              </a:rPr>
              <a:t> % de target_60_12m=1 en la base de modelamiento (RD, n=45,459).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V1:</a:t>
            </a:r>
            <a:r>
              <a:rPr sz="800" b="0">
                <a:solidFill>
                  <a:srgbClr val="9AA6A0"/>
                </a:solidFill>
                <a:latin typeface="Segoe UI"/>
              </a:rPr>
              <a:t> base de campañas por tipo · V2: base de generación · V3: fuera de campaña.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Prob. / score:</a:t>
            </a:r>
            <a:r>
              <a:rPr sz="800" b="0">
                <a:solidFill>
                  <a:srgbClr val="9AA6A0"/>
                </a:solidFill>
                <a:latin typeface="Segoe UI"/>
              </a:rPr>
              <a:t> promedios por bucket · Rechazo: sin bucket asignado.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37744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5130"/>
                </a:solidFill>
                <a:latin typeface="Segoe UI"/>
              </a:rPr>
              <a:t>Buckets · 24 meses </a:t>
            </a:r>
            <a:r>
              <a:rPr sz="2500" b="1">
                <a:solidFill>
                  <a:srgbClr val="9AA6A0"/>
                </a:solidFill>
                <a:latin typeface="Segoe UI"/>
              </a:rPr>
              <a:t>| Reglas por bucket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7132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Escenario 24m_sinedad_6 · 21 estrategias del Árbol 2 agrupadas en 7 buckets · cada regla = una hoja del árbol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5603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560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24m_sinedad_6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170432"/>
            <a:ext cx="11347704" cy="5118811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170432"/>
            <a:ext cx="11347704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362456"/>
            <a:ext cx="11347704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170432"/>
            <a:ext cx="11073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Reglas por bucket</a:t>
            </a:r>
            <a:r>
              <a:rPr sz="1000" b="0">
                <a:solidFill>
                  <a:srgbClr val="FFFFFF"/>
                </a:solidFill>
                <a:latin typeface="Segoe UI"/>
              </a:rPr>
              <a:t>   · estrategia → condición de la hoja → tasa de malos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45336"/>
          <a:ext cx="11091672" cy="46158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365760"/>
                <a:gridCol w="8165592"/>
                <a:gridCol w="731520"/>
                <a:gridCol w="594360"/>
                <a:gridCol w="77724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Regla (condición de la hoja)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Tasa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% tot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08483">
                <a:tc rowSpan="3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2.5 &amp; rk_ing_num &gt; 3,383.5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16.8%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1,294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(2.5, 3.5] &amp; rk_ing_num &gt; 3,383.5 &amp; meses_desde_primer_castigo &gt; 22.5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16.5%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79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(2.5, 3.5] &amp; rk_ing_num &gt; 3,383.5 &amp; meses_desde_primer_castigo ≤ 22.5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(3.5, 4.5] &amp; rk_ing_num &gt; 3,383.5 &amp; meses_desde_primer_castigo &gt; 22.5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19.0%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158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(3.5, 4.5] &amp; rk_ing_num &gt; 3,383.5 &amp; meses_desde_primer_castigo ≤ 22.5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25.0%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56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rowSpan="5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3.5 &amp; rk_ing_num (3,088.5, 3,383.5]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17.3%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301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3.5 &amp; rk_ing_num (2,746.5, 3,088.5]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20.5%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533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3.5 &amp; rk_ing_num (1,411.5, 2,746.5] &amp; meses_desde_primer_castigo &gt; 22.5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19.1%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4.6%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2,071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3.5 &amp; rk_ing_num (1,411.5, 2,746.5] &amp; meses_desde_primer_castigo ≤ 22.5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730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3.5 &amp; rk_ing_num ≤ 1,411.5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20.9%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64%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29,084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rowSpan="3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(3.5, 4.5] &amp; rk_ing_num (2,910.5, 3,383.5]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23.7%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97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(3.5, 4.5] &amp; rk_ing_num (2,746.5, 2,910.5]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15.7%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51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(3.5, 4.5] &amp; rk_ing_num ≤ 2,746.5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21.4%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9.8%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4,463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rowSpan="4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rk_ing_num &gt; 2,746.5 &amp; meses_desde_primer_castigo &gt; 22.5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26.4%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269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rk_ing_num &gt; 2,746.5 &amp; meses_desde_primer_castigo (9.5, 22.5]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17.6%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rk_ing_num &gt; 2,746.5 &amp; meses_desde_primer_castigo ≤ 9.5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rk_ing_num (1,348.5, 2,746.5] &amp; meses_desde_primer_castigo &gt; 22.5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29.0%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594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rk_ing_num ≤ 1,348.5 &amp; meses_desde_primer_castigo &gt; 22.5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26.8%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9.1%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4,155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rk_ing_num (1,348.5, 2,746.5] &amp; meses_desde_primer_castigo (9.5, 22.5]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28.2%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163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rk_ing_num ≤ 1,348.5 &amp; meses_desde_primer_castigo (9.5, 22.5]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27.5%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1,152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08483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rk_ing_num ≤ 2,746.5 &amp; meses_desde_primer_castigo ≤ 9.5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Regla:</a:t>
            </a:r>
            <a:r>
              <a:rPr sz="800" b="0">
                <a:solidFill>
                  <a:srgbClr val="9AA6A0"/>
                </a:solidFill>
                <a:latin typeface="Segoe UI"/>
              </a:rPr>
              <a:t> condición de la hoja del Árbol 2 (variables binarizadas con OptBinning).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Tasa:</a:t>
            </a:r>
            <a:r>
              <a:rPr sz="800" b="0">
                <a:solidFill>
                  <a:srgbClr val="9AA6A0"/>
                </a:solidFill>
                <a:latin typeface="Segoe UI"/>
              </a:rPr>
              <a:t> % de malos de la estrategia · % tot / N: peso y tamaño en la base.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Variables:</a:t>
            </a:r>
            <a:r>
              <a:rPr sz="800" b="0">
                <a:solidFill>
                  <a:srgbClr val="9AA6A0"/>
                </a:solidFill>
                <a:latin typeface="Segoe UI"/>
              </a:rPr>
              <a:t> segmentacion_gdp_v2, rk_ing_num, meses_desde_primer_castigo.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37744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5130"/>
                </a:solidFill>
                <a:latin typeface="Segoe UI"/>
              </a:rPr>
              <a:t>Buckets · 5 años </a:t>
            </a:r>
            <a:r>
              <a:rPr sz="2500" b="1">
                <a:solidFill>
                  <a:srgbClr val="9AA6A0"/>
                </a:solidFill>
                <a:latin typeface="Segoe UI"/>
              </a:rPr>
              <a:t>| Tasa de riesgo y distribución V1 / V2 / V3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7132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Escenario 5años_sinedad_6 · 7 buckets sobre 15 estrategias del Árbol 2 · verde = menor riesgo, rojo = mayor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5603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560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5años_sinedad_6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133856"/>
            <a:ext cx="5605272" cy="250545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133856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325880"/>
            <a:ext cx="5605272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133856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Tasa de riesgo por bucket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08760"/>
          <a:ext cx="5349239" cy="196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298448"/>
                <a:gridCol w="868680"/>
                <a:gridCol w="868680"/>
                <a:gridCol w="960120"/>
                <a:gridCol w="896111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Estrat.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Tasa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% tot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16.82%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32.1%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1,290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2, 3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19.75%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35.5%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319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5, 6, 7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20.75%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38.5%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32,661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71.8%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9, 10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18.26%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115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21.46%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40.9%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4,562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13, 14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26.96%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42.8%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6,496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14.3%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18.75%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44.6%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15 est.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21.58%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39.1%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45,459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63056" y="1133856"/>
            <a:ext cx="5605272" cy="250545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63056" y="1133856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63056" y="1325880"/>
            <a:ext cx="5605272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133856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Base inicial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91072" y="1508760"/>
          <a:ext cx="5349239" cy="196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417319"/>
                <a:gridCol w="960120"/>
                <a:gridCol w="1234440"/>
                <a:gridCol w="128016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Cantidad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12,897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32.1%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679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51,199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35.6%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644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230,088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13.6%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38.8%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612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98,755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599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533,913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31.4%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40.9%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591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612,572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36.1%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42.9%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571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158,251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44.6%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553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1,697,675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41.4%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586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20624" y="3712463"/>
            <a:ext cx="5605272" cy="250545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0624" y="3712463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" y="3904487"/>
            <a:ext cx="5605272" cy="118872"/>
          </a:xfrm>
          <a:prstGeom prst="rect">
            <a:avLst/>
          </a:prstGeom>
          <a:solidFill>
            <a:srgbClr val="1A9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712463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Fuera de campaña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4087368"/>
          <a:ext cx="5349239" cy="196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1417319"/>
                <a:gridCol w="960120"/>
                <a:gridCol w="1234440"/>
                <a:gridCol w="1280160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Cantidad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Prob.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9,525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33.5%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665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45,934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36.2%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637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212,618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12.9%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39.3%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607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94,600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40.4%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596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522,188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31.7%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590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607,375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36.8%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42.9%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570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157,434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9.5%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44.7%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553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13055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1,649,674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41.6%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583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163056" y="3712463"/>
            <a:ext cx="5605272" cy="2505456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63056" y="3712463"/>
            <a:ext cx="5605272" cy="310896"/>
          </a:xfrm>
          <a:prstGeom prst="roundRect">
            <a:avLst>
              <a:gd name="adj" fmla="val 35294"/>
            </a:avLst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3904487"/>
            <a:ext cx="5605272" cy="118872"/>
          </a:xfrm>
          <a:prstGeom prst="rect">
            <a:avLst/>
          </a:prstGeom>
          <a:solidFill>
            <a:srgbClr val="3A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712463"/>
            <a:ext cx="533095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· Base de campañas</a:t>
            </a:r>
            <a:r>
              <a:rPr sz="1000" b="0">
                <a:solidFill>
                  <a:srgbClr val="FFFFFF"/>
                </a:solidFill>
                <a:latin typeface="Segoe UI"/>
              </a:rPr>
              <a:t>   · periodo 20260624 · tipo × bucket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291072" y="4087368"/>
          <a:ext cx="5349238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"/>
                <a:gridCol w="2052827"/>
                <a:gridCol w="2052827"/>
                <a:gridCol w="841248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Segoe UI"/>
                        </a:rPr>
                        <a:t>TC_CMP_EST_5A_CAST_T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Segoe UI"/>
                        </a:rPr>
                        <a:t>TC_CMP_EST_CAS_5A_IC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A5A52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2,886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837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3,723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1,195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3,881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5,076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7,532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6,520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14,052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1,198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2,015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3,213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10,097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10,097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4,486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4,486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4271D"/>
                          </a:solidFill>
                          <a:latin typeface="Segoe UI"/>
                        </a:rPr>
                        <a:t>740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A5A52"/>
                          </a:solidFill>
                          <a:latin typeface="Segoe UI"/>
                        </a:rPr>
                        <a:t>740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DFF0ED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Tot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12,811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28,576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84B44"/>
                          </a:solidFill>
                          <a:latin typeface="Segoe UI"/>
                        </a:rPr>
                        <a:t>41,387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FE9E4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Tasa malos:</a:t>
            </a:r>
            <a:r>
              <a:rPr sz="800" b="0">
                <a:solidFill>
                  <a:srgbClr val="9AA6A0"/>
                </a:solidFill>
                <a:latin typeface="Segoe UI"/>
              </a:rPr>
              <a:t> % de target_60_12m=1 en la base de modelamiento (RD, n=45,459).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V1:</a:t>
            </a:r>
            <a:r>
              <a:rPr sz="800" b="0">
                <a:solidFill>
                  <a:srgbClr val="9AA6A0"/>
                </a:solidFill>
                <a:latin typeface="Segoe UI"/>
              </a:rPr>
              <a:t> base de campañas por tipo · V2: base de generación · V3: fuera de campaña.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Prob. / score:</a:t>
            </a:r>
            <a:r>
              <a:rPr sz="800" b="0">
                <a:solidFill>
                  <a:srgbClr val="9AA6A0"/>
                </a:solidFill>
                <a:latin typeface="Segoe UI"/>
              </a:rPr>
              <a:t> promedios por bucket · Rechazo: sin bucket asignado.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237744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F5130"/>
                </a:solidFill>
                <a:latin typeface="Segoe UI"/>
              </a:rPr>
              <a:t>Buckets · 5 años </a:t>
            </a:r>
            <a:r>
              <a:rPr sz="2500" b="1">
                <a:solidFill>
                  <a:srgbClr val="9AA6A0"/>
                </a:solidFill>
                <a:latin typeface="Segoe UI"/>
              </a:rPr>
              <a:t>| Reglas por bucket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7132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F66"/>
                </a:solidFill>
                <a:latin typeface="Segoe UI"/>
              </a:rPr>
              <a:t>Escenario 5años_sinedad_6 · 15 estrategias del Árbol 2 agrupadas en 7 buckets · cada regla = una hoja del árbol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85071" y="25603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5071" y="25603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1AA44C"/>
                </a:solidFill>
                <a:latin typeface="Segoe UI"/>
              </a:rPr>
              <a:t>●  </a:t>
            </a:r>
            <a:r>
              <a:rPr sz="1100" b="1">
                <a:solidFill>
                  <a:srgbClr val="1F5130"/>
                </a:solidFill>
                <a:latin typeface="Segoe UI"/>
              </a:rPr>
              <a:t>5años_sinedad_6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170432"/>
            <a:ext cx="11347704" cy="4032503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12700">
            <a:solidFill>
              <a:srgbClr val="E7E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170432"/>
            <a:ext cx="11347704" cy="310896"/>
          </a:xfrm>
          <a:prstGeom prst="roundRect">
            <a:avLst>
              <a:gd name="adj" fmla="val 35294"/>
            </a:avLst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" y="1362456"/>
            <a:ext cx="11347704" cy="118872"/>
          </a:xfrm>
          <a:prstGeom prst="rect">
            <a:avLst/>
          </a:prstGeom>
          <a:solidFill>
            <a:srgbClr val="1F5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170432"/>
            <a:ext cx="11073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Reglas por bucket</a:t>
            </a:r>
            <a:r>
              <a:rPr sz="1000" b="0">
                <a:solidFill>
                  <a:srgbClr val="FFFFFF"/>
                </a:solidFill>
                <a:latin typeface="Segoe UI"/>
              </a:rPr>
              <a:t>   · estrategia → condición de la hoja → tasa de malos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545336"/>
          <a:ext cx="11091672" cy="3529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365760"/>
                <a:gridCol w="8165592"/>
                <a:gridCol w="731520"/>
                <a:gridCol w="594360"/>
                <a:gridCol w="77724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Buck.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Regla (condición de la hoja)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Tasa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% tot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45720" marR="36576" marT="27432" marB="27432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0A5A4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A5E8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2.5 &amp; rk_ing_num &gt; 3,391.5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16.8%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1,290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B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(2.5, 3.5] &amp; rk_ing_num &gt; 3,391.5 &amp; nro_entidades_castigo ≤ 1.5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17.4%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0.2%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109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(3.5, 4.5] &amp; rk_ing_num &gt; 3,391.5 &amp; nro_entidades_castigo ≤ 1.5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21.0%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 rowSpan="3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CA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3.5 &amp; rk_ing_num ≤ 3,391.5 &amp; nro_entidades_castigo ≤ 1.5 &amp; deuda_cas ≤ 218.33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20.3%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23.8%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10,802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3.5 &amp; rk_ing_num (3,100.5, 3,391.5] &amp; nro_entidades_castigo ≤ 1.5 &amp; deuda_cas &gt; 218.33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21.6%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185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3.5 &amp; rk_ing_num ≤ 3,100.5 &amp; nro_entidades_castigo ≤ 1.5 &amp; deuda_cas &gt; 218.33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21.0%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47.7%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21,674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2E8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≤ 3.5 &amp; rk_ing_num ≤ 3,100.5 &amp; nro_entidades_castigo &gt; 1.5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21.0%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62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(3.5, 4.5] &amp; rk_ing_num (3,100.5, 3,391.5] &amp; nro_entidades_castigo ≤ 1.5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15.1%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53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D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(3.5, 4.5] &amp; rk_ing_num ≤ 3,100.5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21.5%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4,562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BD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nro_entidades_castigo ≤ 1.5 &amp; deuda_cas ≤ 218.33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26.7%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4%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1,818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nro_entidades_castigo ≤ 1.5 &amp; deuda_cas &gt; 218.33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27.1%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10.3%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4,678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4271D"/>
                          </a:solidFill>
                          <a:latin typeface="Segoe UI"/>
                        </a:rPr>
                        <a:t>B7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solidFill>
                      <a:srgbClr val="E8A5A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A5A44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80" b="0">
                          <a:solidFill>
                            <a:srgbClr val="23433C"/>
                          </a:solidFill>
                          <a:latin typeface="Consolas"/>
                        </a:rPr>
                        <a:t>segmentacion_gdp_v2 &gt; 4.5 &amp; nro_entidades_castigo &gt; 1.5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18.8%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4271D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anchor="ctr" marL="45720" marR="36576" marT="18288" marB="18288">
                    <a:lnL w="9525" cap="flat">
                      <a:solidFill>
                        <a:srgbClr val="DDE7E4"/>
                      </a:solidFill>
                    </a:lnL>
                    <a:lnR w="9525" cap="flat">
                      <a:solidFill>
                        <a:srgbClr val="DDE7E4"/>
                      </a:solidFill>
                    </a:lnR>
                    <a:lnT w="9525" cap="flat">
                      <a:solidFill>
                        <a:srgbClr val="DDE7E4"/>
                      </a:solidFill>
                    </a:lnT>
                    <a:lnB w="9525" cap="flat">
                      <a:solidFill>
                        <a:srgbClr val="DDE7E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20624" y="6419088"/>
            <a:ext cx="11350447" cy="10972"/>
          </a:xfrm>
          <a:prstGeom prst="rect">
            <a:avLst/>
          </a:prstGeom>
          <a:solidFill>
            <a:srgbClr val="E3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6473952"/>
            <a:ext cx="113504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6603A"/>
                </a:solidFill>
                <a:latin typeface="Segoe UI"/>
              </a:rPr>
              <a:t>Regla:</a:t>
            </a:r>
            <a:r>
              <a:rPr sz="800" b="0">
                <a:solidFill>
                  <a:srgbClr val="9AA6A0"/>
                </a:solidFill>
                <a:latin typeface="Segoe UI"/>
              </a:rPr>
              <a:t> condición de la hoja del Árbol 2 (variables binarizadas con OptBinning).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Tasa:</a:t>
            </a:r>
            <a:r>
              <a:rPr sz="800" b="0">
                <a:solidFill>
                  <a:srgbClr val="9AA6A0"/>
                </a:solidFill>
                <a:latin typeface="Segoe UI"/>
              </a:rPr>
              <a:t> % de malos de la estrategia · % tot / N: peso y tamaño en la base.</a:t>
            </a:r>
            <a:r>
              <a:rPr sz="800" b="0">
                <a:solidFill>
                  <a:srgbClr val="9AA6A0"/>
                </a:solidFill>
                <a:latin typeface="Segoe UI"/>
              </a:rPr>
              <a:t>      </a:t>
            </a:r>
            <a:r>
              <a:rPr sz="800" b="1">
                <a:solidFill>
                  <a:srgbClr val="26603A"/>
                </a:solidFill>
                <a:latin typeface="Segoe UI"/>
              </a:rPr>
              <a:t>Variables:</a:t>
            </a:r>
            <a:r>
              <a:rPr sz="800" b="0">
                <a:solidFill>
                  <a:srgbClr val="9AA6A0"/>
                </a:solidFill>
                <a:latin typeface="Segoe UI"/>
              </a:rPr>
              <a:t> segmentacion_gdp_v2, rk_ing_num, nro_entidades_castigo, deuda_cas.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