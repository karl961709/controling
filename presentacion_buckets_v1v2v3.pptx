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37744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5130"/>
                </a:solidFill>
                <a:latin typeface="Segoe UI"/>
              </a:rPr>
              <a:t>Buckets · 24 meses </a:t>
            </a:r>
            <a:r>
              <a:rPr sz="2500" b="1">
                <a:solidFill>
                  <a:srgbClr val="9AA6A0"/>
                </a:solidFill>
                <a:latin typeface="Segoe UI"/>
              </a:rPr>
              <a:t>| Tasa de riesgo y distribución V1 / V2 /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7132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Escenario 24m_sinedad_6 · 7 buckets sobre 21 estrategias del Árbol 2 · verde = menor riesgo, rojo = mayor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56032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56032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24m_sinedad_6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280160"/>
            <a:ext cx="4434840" cy="2999232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280160"/>
            <a:ext cx="4434840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472184"/>
            <a:ext cx="4434840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80160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Tasa de riesgo por bucket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55064"/>
          <a:ext cx="4178807" cy="19385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/>
                <a:gridCol w="1371600"/>
                <a:gridCol w="777240"/>
                <a:gridCol w="914400"/>
                <a:gridCol w="658367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Estrategias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Tasa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% tot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1, 2, 3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16.89%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1,403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3.1%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2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4, 5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20.56%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214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0.5%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A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6, 7, 8, 9, 10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20.75%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32,719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72.0%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2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11, 12, 13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21.41%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4,611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10.1%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14, 15, 16, 17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27.28%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942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2.1%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D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18, 19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26.86%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4,318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9.5%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20, 21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26.92%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1,252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2.8%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21 estrat.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21.58%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45,459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020056" y="1280160"/>
            <a:ext cx="3346704" cy="2999232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0056" y="1280160"/>
            <a:ext cx="3346704" cy="310896"/>
          </a:xfrm>
          <a:prstGeom prst="roundRect">
            <a:avLst>
              <a:gd name="adj" fmla="val 35294"/>
            </a:avLst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0056" y="1472184"/>
            <a:ext cx="3346704" cy="118872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128016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V2 · Base inicial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148072" y="1655064"/>
          <a:ext cx="3090672" cy="19385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"/>
                <a:gridCol w="877824"/>
                <a:gridCol w="502920"/>
                <a:gridCol w="640080"/>
                <a:gridCol w="649224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Cantidad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prob_jd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score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19,103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3.3%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0.330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669.9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2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19,102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3.3%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0.354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646.0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A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76,066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13.0%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0.395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604.9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2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150,105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25.8%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0.422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577.2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245,492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42.1%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0.446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553.4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D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53,558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9.2%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0.463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536.9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19,501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3.3%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0.482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517.5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582,927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0.429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570.4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8531352" y="1280160"/>
            <a:ext cx="3236976" cy="2999232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531352" y="1280160"/>
            <a:ext cx="3236976" cy="310896"/>
          </a:xfrm>
          <a:prstGeom prst="roundRect">
            <a:avLst>
              <a:gd name="adj" fmla="val 35294"/>
            </a:avLst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31352" y="1472184"/>
            <a:ext cx="3236976" cy="118872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68512" y="1280160"/>
            <a:ext cx="29626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V3 · Fuera de campaña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659368" y="1655064"/>
          <a:ext cx="2980943" cy="19385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"/>
                <a:gridCol w="877824"/>
                <a:gridCol w="502920"/>
                <a:gridCol w="640080"/>
                <a:gridCol w="539495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Cantidad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prob_jd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score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13,317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2.5%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0.337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663.0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2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13,673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2.6%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0.363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636.3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A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57,746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11.0%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0.404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595.7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2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125,534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24.0%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0.430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569.3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240,860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46.0%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0.447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552.1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D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52,916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10.1%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0.463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536.2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19,438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3.7%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0.482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517.3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523,484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0.436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563.2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420624" y="4425696"/>
            <a:ext cx="11347704" cy="1719072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0624" y="4425696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3A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0624" y="4617720"/>
            <a:ext cx="11347704" cy="118872"/>
          </a:xfrm>
          <a:prstGeom prst="rect">
            <a:avLst/>
          </a:prstGeom>
          <a:solidFill>
            <a:srgbClr val="3A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" y="4425696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V1 · Base de campañas</a:t>
            </a:r>
            <a:r>
              <a:rPr sz="1050" b="0">
                <a:solidFill>
                  <a:srgbClr val="FFFFFF"/>
                </a:solidFill>
                <a:latin typeface="Segoe UI"/>
              </a:rPr>
              <a:t>   · 3 fechas de junio (5 pilotos) × bucket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48640" y="4800600"/>
          <a:ext cx="11091666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101198"/>
                <a:gridCol w="1101198"/>
                <a:gridCol w="1101198"/>
                <a:gridCol w="1101198"/>
                <a:gridCol w="1101198"/>
                <a:gridCol w="1101198"/>
                <a:gridCol w="1101198"/>
                <a:gridCol w="960120"/>
                <a:gridCol w="960120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p_fecinformacion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4A5A56"/>
                          </a:solidFill>
                          <a:latin typeface="Segoe UI"/>
                        </a:rPr>
                        <a:t>Rechazo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5A52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433C"/>
                          </a:solidFill>
                          <a:latin typeface="Segoe UI"/>
                        </a:rPr>
                        <a:t>20260617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11,889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8,486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20,120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26,544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5,363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615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57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4A5A56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A5A52"/>
                          </a:solidFill>
                          <a:latin typeface="Segoe UI"/>
                        </a:rPr>
                        <a:t>73,074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433C"/>
                          </a:solidFill>
                          <a:latin typeface="Segoe UI"/>
                        </a:rPr>
                        <a:t>20260623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10,310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6,806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17,009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21,140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3,942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472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42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4A5A56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A5A52"/>
                          </a:solidFill>
                          <a:latin typeface="Segoe UI"/>
                        </a:rPr>
                        <a:t>59,721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433C"/>
                          </a:solidFill>
                          <a:latin typeface="Segoe UI"/>
                        </a:rPr>
                        <a:t>20260624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10,316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6,807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17,007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21,133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3,930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472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42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4A5A56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A5A52"/>
                          </a:solidFill>
                          <a:latin typeface="Segoe UI"/>
                        </a:rPr>
                        <a:t>59,707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32,515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22,099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54,136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68,817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13,235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1,559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141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192,502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Tasa malos:</a:t>
            </a:r>
            <a:r>
              <a:rPr sz="800" b="0">
                <a:solidFill>
                  <a:srgbClr val="9AA6A0"/>
                </a:solidFill>
                <a:latin typeface="Segoe UI"/>
              </a:rPr>
              <a:t> % de target_60_12m=1 en la base de modelamiento (RD, n=45,459).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V1:</a:t>
            </a:r>
            <a:r>
              <a:rPr sz="800" b="0">
                <a:solidFill>
                  <a:srgbClr val="9AA6A0"/>
                </a:solidFill>
                <a:latin typeface="Segoe UI"/>
              </a:rPr>
              <a:t> base de campañas (5 pilotos) · V2: base de generación · V3: fuera de campaña.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prob_jd / score:</a:t>
            </a:r>
            <a:r>
              <a:rPr sz="800" b="0">
                <a:solidFill>
                  <a:srgbClr val="9AA6A0"/>
                </a:solidFill>
                <a:latin typeface="Segoe UI"/>
              </a:rPr>
              <a:t> promedios por bucket · Rechazo: sin bucket asignado.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37744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5130"/>
                </a:solidFill>
                <a:latin typeface="Segoe UI"/>
              </a:rPr>
              <a:t>Buckets · 24 meses </a:t>
            </a:r>
            <a:r>
              <a:rPr sz="2500" b="1">
                <a:solidFill>
                  <a:srgbClr val="9AA6A0"/>
                </a:solidFill>
                <a:latin typeface="Segoe UI"/>
              </a:rPr>
              <a:t>| Reglas por bucket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7132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Escenario 24m_sinedad_6 · 21 estrategias del Árbol 2 agrupadas en 7 buckets · cada regla = una hoja del árbol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56032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56032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24m_sinedad_6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170432"/>
            <a:ext cx="11347704" cy="5118811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170432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362456"/>
            <a:ext cx="11347704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170432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Reglas por bucket</a:t>
            </a:r>
            <a:r>
              <a:rPr sz="1050" b="0">
                <a:solidFill>
                  <a:srgbClr val="FFFFFF"/>
                </a:solidFill>
                <a:latin typeface="Segoe UI"/>
              </a:rPr>
              <a:t>   · estrategia → condición de la hoja → tasa de malos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545336"/>
          <a:ext cx="11091672" cy="46158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/>
                <a:gridCol w="365760"/>
                <a:gridCol w="8165592"/>
                <a:gridCol w="731520"/>
                <a:gridCol w="594360"/>
                <a:gridCol w="777240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Regla (condición de la hoja)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Tasa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% tot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208483">
                <a:tc rowSpan="3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≤ 2.5 &amp; rk_ing_num &gt; 3,383.5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16.8%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2.8%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1,294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848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(2.5, 3.5] &amp; rk_ing_num &gt; 3,383.5 &amp; meses_desde_primer_castigo &gt; 22.5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16.5%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0.2%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79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848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(2.5, 3.5] &amp; rk_ing_num &gt; 3,383.5 &amp; meses_desde_primer_castigo ≤ 22.5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20.0%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0.1%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8483">
                <a:tc rowSpan="2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2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(3.5, 4.5] &amp; rk_ing_num &gt; 3,383.5 &amp; meses_desde_primer_castigo &gt; 22.5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19.0%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0.3%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158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848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(3.5, 4.5] &amp; rk_ing_num &gt; 3,383.5 &amp; meses_desde_primer_castigo ≤ 22.5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25.0%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0.1%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8483">
                <a:tc rowSpan="5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A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≤ 3.5 &amp; rk_ing_num (3,088.5, 3,383.5]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17.3%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0.7%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301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848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≤ 3.5 &amp; rk_ing_num (2,746.5, 3,088.5]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20.5%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1.2%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533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848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≤ 3.5 &amp; rk_ing_num (1,411.5, 2,746.5] &amp; meses_desde_primer_castigo &gt; 22.5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19.1%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4.6%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2,071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848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≤ 3.5 &amp; rk_ing_num (1,411.5, 2,746.5] &amp; meses_desde_primer_castigo ≤ 22.5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20.1%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1.6%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730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848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≤ 3.5 &amp; rk_ing_num ≤ 1,411.5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20.9%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64.0%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29,084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8483">
                <a:tc rowSpan="3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2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(3.5, 4.5] &amp; rk_ing_num (2,910.5, 3,383.5]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23.7%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0.2%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97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848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(3.5, 4.5] &amp; rk_ing_num (2,746.5, 2,910.5]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15.7%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0.1%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51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848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(3.5, 4.5] &amp; rk_ing_num ≤ 2,746.5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21.4%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9.8%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4,463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8483">
                <a:tc rowSpan="4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&gt; 4.5 &amp; rk_ing_num &gt; 2,746.5 &amp; meses_desde_primer_castigo &gt; 22.5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26.4%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0.6%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269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848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&gt; 4.5 &amp; rk_ing_num &gt; 2,746.5 &amp; meses_desde_primer_castigo (9.5, 22.5]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17.6%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0.2%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848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&gt; 4.5 &amp; rk_ing_num &gt; 2,746.5 &amp; meses_desde_primer_castigo ≤ 9.5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20.0%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0.0%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848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&gt; 4.5 &amp; rk_ing_num (1,348.5, 2,746.5] &amp; meses_desde_primer_castigo &gt; 22.5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29.0%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1.3%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594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8483">
                <a:tc rowSpan="2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D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&gt; 4.5 &amp; rk_ing_num ≤ 1,348.5 &amp; meses_desde_primer_castigo &gt; 22.5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26.8%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9.1%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4,155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848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&gt; 4.5 &amp; rk_ing_num (1,348.5, 2,746.5] &amp; meses_desde_primer_castigo (9.5, 22.5]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28.2%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0.4%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163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8483">
                <a:tc rowSpan="2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&gt; 4.5 &amp; rk_ing_num ≤ 1,348.5 &amp; meses_desde_primer_castigo (9.5, 22.5]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27.5%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2.5%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1,152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848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&gt; 4.5 &amp; rk_ing_num ≤ 2,746.5 &amp; meses_desde_primer_castigo ≤ 9.5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20.0%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0.2%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100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Regla:</a:t>
            </a:r>
            <a:r>
              <a:rPr sz="800" b="0">
                <a:solidFill>
                  <a:srgbClr val="9AA6A0"/>
                </a:solidFill>
                <a:latin typeface="Segoe UI"/>
              </a:rPr>
              <a:t> condición de la hoja del Árbol 2 (variables binarizadas con OptBinning).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Tasa:</a:t>
            </a:r>
            <a:r>
              <a:rPr sz="800" b="0">
                <a:solidFill>
                  <a:srgbClr val="9AA6A0"/>
                </a:solidFill>
                <a:latin typeface="Segoe UI"/>
              </a:rPr>
              <a:t> % de malos de la estrategia · % tot / N: peso y tamaño en la base.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Variables:</a:t>
            </a:r>
            <a:r>
              <a:rPr sz="800" b="0">
                <a:solidFill>
                  <a:srgbClr val="9AA6A0"/>
                </a:solidFill>
                <a:latin typeface="Segoe UI"/>
              </a:rPr>
              <a:t> segmentacion_gdp_v2, rk_ing_num, meses_desde_primer_castigo.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37744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5130"/>
                </a:solidFill>
                <a:latin typeface="Segoe UI"/>
              </a:rPr>
              <a:t>Buckets · 5 años </a:t>
            </a:r>
            <a:r>
              <a:rPr sz="2500" b="1">
                <a:solidFill>
                  <a:srgbClr val="9AA6A0"/>
                </a:solidFill>
                <a:latin typeface="Segoe UI"/>
              </a:rPr>
              <a:t>| Tasa de riesgo y distribución V1 / V2 /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7132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Escenario 5años_sinedad_6 · 7 buckets sobre 15 estrategias del Árbol 2 · verde = menor riesgo, rojo = mayor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56032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56032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5años_sinedad_6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280160"/>
            <a:ext cx="4434840" cy="2999232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280160"/>
            <a:ext cx="4434840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472184"/>
            <a:ext cx="4434840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80160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Tasa de riesgo por bucket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55064"/>
          <a:ext cx="4178807" cy="19385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/>
                <a:gridCol w="1371600"/>
                <a:gridCol w="777240"/>
                <a:gridCol w="914400"/>
                <a:gridCol w="658367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Estrategias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Tasa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% tot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16.82%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1,290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2.8%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2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2, 3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19.75%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319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0.7%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A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5, 6, 7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20.75%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32,661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71.8%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2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9, 10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18.26%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115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0.3%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21.46%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4,562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10.0%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D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13, 14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26.96%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6,496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14.3%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18.75%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0.0%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15 estrat.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21.58%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45,459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020056" y="1280160"/>
            <a:ext cx="3346704" cy="2999232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0056" y="1280160"/>
            <a:ext cx="3346704" cy="310896"/>
          </a:xfrm>
          <a:prstGeom prst="roundRect">
            <a:avLst>
              <a:gd name="adj" fmla="val 35294"/>
            </a:avLst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0056" y="1472184"/>
            <a:ext cx="3346704" cy="118872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128016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V2 · Base inicial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148072" y="1655064"/>
          <a:ext cx="3090672" cy="21534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"/>
                <a:gridCol w="877824"/>
                <a:gridCol w="502920"/>
                <a:gridCol w="640080"/>
                <a:gridCol w="649224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Cantidad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prob_jd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score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12,897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0.8%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678.5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2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38,249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2.3%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0.355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645.0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A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230,088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13.6%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0.388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611.5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2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86,196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5.1%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0.400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599.2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533,913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31.4%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0.409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590.9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D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612,572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36.1%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0.429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570.6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158,251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9.3%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0.446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553.3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4A5A56"/>
                          </a:solidFill>
                          <a:latin typeface="Segoe UI"/>
                        </a:rPr>
                        <a:t>Rech.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4A5A56"/>
                          </a:solidFill>
                          <a:latin typeface="Segoe UI"/>
                        </a:rPr>
                        <a:t>25,509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4A5A56"/>
                          </a:solidFill>
                          <a:latin typeface="Segoe UI"/>
                        </a:rPr>
                        <a:t>1.5%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4A5A56"/>
                          </a:solidFill>
                          <a:latin typeface="Segoe UI"/>
                        </a:rPr>
                        <a:t>0.380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4A5A56"/>
                          </a:solidFill>
                          <a:latin typeface="Segoe UI"/>
                        </a:rPr>
                        <a:t>619.2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1,697,675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0.414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585.6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8531352" y="1280160"/>
            <a:ext cx="3236976" cy="2999232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531352" y="1280160"/>
            <a:ext cx="3236976" cy="310896"/>
          </a:xfrm>
          <a:prstGeom prst="roundRect">
            <a:avLst>
              <a:gd name="adj" fmla="val 35294"/>
            </a:avLst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31352" y="1472184"/>
            <a:ext cx="3236976" cy="118872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68512" y="1280160"/>
            <a:ext cx="29626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V3 · Fuera de campaña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659368" y="1655064"/>
          <a:ext cx="2980943" cy="21534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"/>
                <a:gridCol w="877824"/>
                <a:gridCol w="502920"/>
                <a:gridCol w="640080"/>
                <a:gridCol w="539495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Cantidad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prob_jd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score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9,525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0.6%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0.335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665.0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2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33,778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2.0%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0.362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637.5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A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212,618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12.9%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0.393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606.9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2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82,531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5.0%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0.403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596.3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522,188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31.7%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0.410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589.6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D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607,375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36.8%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0.429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570.1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157,434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9.5%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0.447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4271D"/>
                          </a:solidFill>
                          <a:latin typeface="Segoe UI"/>
                        </a:rPr>
                        <a:t>552.8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4A5A56"/>
                          </a:solidFill>
                          <a:latin typeface="Segoe UI"/>
                        </a:rPr>
                        <a:t>Rech.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4A5A56"/>
                          </a:solidFill>
                          <a:latin typeface="Segoe UI"/>
                        </a:rPr>
                        <a:t>24,225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4A5A56"/>
                          </a:solidFill>
                          <a:latin typeface="Segoe UI"/>
                        </a:rPr>
                        <a:t>1.5%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4A5A56"/>
                          </a:solidFill>
                          <a:latin typeface="Segoe UI"/>
                        </a:rPr>
                        <a:t>0.384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4A5A56"/>
                          </a:solidFill>
                          <a:latin typeface="Segoe UI"/>
                        </a:rPr>
                        <a:t>615.4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1,649,674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0.416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583.3</a:t>
                      </a:r>
                    </a:p>
                  </a:txBody>
                  <a:tcPr anchor="ctr" marL="54864" marR="45720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420624" y="4425696"/>
            <a:ext cx="11347704" cy="1719072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0624" y="4425696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3A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0624" y="4617720"/>
            <a:ext cx="11347704" cy="118872"/>
          </a:xfrm>
          <a:prstGeom prst="rect">
            <a:avLst/>
          </a:prstGeom>
          <a:solidFill>
            <a:srgbClr val="3A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" y="4425696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V1 · Base de campañas</a:t>
            </a:r>
            <a:r>
              <a:rPr sz="1050" b="0">
                <a:solidFill>
                  <a:srgbClr val="FFFFFF"/>
                </a:solidFill>
                <a:latin typeface="Segoe UI"/>
              </a:rPr>
              <a:t>   · 3 fechas de junio (5 pilotos) × bucket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48640" y="4800600"/>
          <a:ext cx="11091666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101198"/>
                <a:gridCol w="1101198"/>
                <a:gridCol w="1101198"/>
                <a:gridCol w="1101198"/>
                <a:gridCol w="1101198"/>
                <a:gridCol w="1101198"/>
                <a:gridCol w="1101198"/>
                <a:gridCol w="960120"/>
                <a:gridCol w="960120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p_fecinformacion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4A5A56"/>
                          </a:solidFill>
                          <a:latin typeface="Segoe UI"/>
                        </a:rPr>
                        <a:t>Rechazo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5A52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433C"/>
                          </a:solidFill>
                          <a:latin typeface="Segoe UI"/>
                        </a:rPr>
                        <a:t>20260617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4,096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4,844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16,199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3,246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10,580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4,779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754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4A5A56"/>
                          </a:solidFill>
                          <a:latin typeface="Segoe UI"/>
                        </a:rPr>
                        <a:t>1,398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A5A52"/>
                          </a:solidFill>
                          <a:latin typeface="Segoe UI"/>
                        </a:rPr>
                        <a:t>45,896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433C"/>
                          </a:solidFill>
                          <a:latin typeface="Segoe UI"/>
                        </a:rPr>
                        <a:t>20260623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3,728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4,276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14,059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2,813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10,099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4,492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740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4A5A56"/>
                          </a:solidFill>
                          <a:latin typeface="Segoe UI"/>
                        </a:rPr>
                        <a:t>1,213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A5A52"/>
                          </a:solidFill>
                          <a:latin typeface="Segoe UI"/>
                        </a:rPr>
                        <a:t>41,420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433C"/>
                          </a:solidFill>
                          <a:latin typeface="Segoe UI"/>
                        </a:rPr>
                        <a:t>20260624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3,723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4,269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14,052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2,809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10,097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4,486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71D"/>
                          </a:solidFill>
                          <a:latin typeface="Segoe UI"/>
                        </a:rPr>
                        <a:t>740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4A5A56"/>
                          </a:solidFill>
                          <a:latin typeface="Segoe UI"/>
                        </a:rPr>
                        <a:t>1,211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A5A52"/>
                          </a:solidFill>
                          <a:latin typeface="Segoe UI"/>
                        </a:rPr>
                        <a:t>41,387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11,547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13,389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44,310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8,868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30,776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13,757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2,234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3,822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84B44"/>
                          </a:solidFill>
                          <a:latin typeface="Segoe UI"/>
                        </a:rPr>
                        <a:t>128,703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Tasa malos:</a:t>
            </a:r>
            <a:r>
              <a:rPr sz="800" b="0">
                <a:solidFill>
                  <a:srgbClr val="9AA6A0"/>
                </a:solidFill>
                <a:latin typeface="Segoe UI"/>
              </a:rPr>
              <a:t> % de target_60_12m=1 en la base de modelamiento (RD, n=45,459).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V1:</a:t>
            </a:r>
            <a:r>
              <a:rPr sz="800" b="0">
                <a:solidFill>
                  <a:srgbClr val="9AA6A0"/>
                </a:solidFill>
                <a:latin typeface="Segoe UI"/>
              </a:rPr>
              <a:t> base de campañas (5 pilotos) · V2: base de generación · V3: fuera de campaña.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prob_jd / score:</a:t>
            </a:r>
            <a:r>
              <a:rPr sz="800" b="0">
                <a:solidFill>
                  <a:srgbClr val="9AA6A0"/>
                </a:solidFill>
                <a:latin typeface="Segoe UI"/>
              </a:rPr>
              <a:t> promedios por bucket · Rechazo: sin bucket asignado.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37744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5130"/>
                </a:solidFill>
                <a:latin typeface="Segoe UI"/>
              </a:rPr>
              <a:t>Buckets · 5 años </a:t>
            </a:r>
            <a:r>
              <a:rPr sz="2500" b="1">
                <a:solidFill>
                  <a:srgbClr val="9AA6A0"/>
                </a:solidFill>
                <a:latin typeface="Segoe UI"/>
              </a:rPr>
              <a:t>| Reglas por bucket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7132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Escenario 5años_sinedad_6 · 15 estrategias del Árbol 2 agrupadas en 7 buckets · cada regla = una hoja del árbol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56032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56032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5años_sinedad_6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170432"/>
            <a:ext cx="11347704" cy="4032503"/>
          </a:xfrm>
          <a:prstGeom prst="roundRect">
            <a:avLst>
              <a:gd name="adj" fmla="val 2721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170432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362456"/>
            <a:ext cx="11347704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170432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Reglas por bucket</a:t>
            </a:r>
            <a:r>
              <a:rPr sz="1050" b="0">
                <a:solidFill>
                  <a:srgbClr val="FFFFFF"/>
                </a:solidFill>
                <a:latin typeface="Segoe UI"/>
              </a:rPr>
              <a:t>   · estrategia → condición de la hoja → tasa de malos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545336"/>
          <a:ext cx="11091672" cy="3529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/>
                <a:gridCol w="365760"/>
                <a:gridCol w="8165592"/>
                <a:gridCol w="731520"/>
                <a:gridCol w="594360"/>
                <a:gridCol w="777240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Regla (condición de la hoja)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Tasa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% tot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54864" marR="45720" marT="27432" marB="27432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≤ 2.5 &amp; rk_ing_num &gt; 3,391.5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16.8%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2.8%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1,290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74320">
                <a:tc rowSpan="2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2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(2.5, 3.5] &amp; rk_ing_num &gt; 3,391.5 &amp; nro_entidades_castigo ≤ 1.5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17.4%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0.2%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109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7432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(3.5, 4.5] &amp; rk_ing_num &gt; 3,391.5 &amp; nro_entidades_castigo ≤ 1.5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21.0%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0.5%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210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74320">
                <a:tc rowSpan="3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A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≤ 3.5 &amp; rk_ing_num ≤ 3,391.5 &amp; nro_entidades_castigo ≤ 1.5 &amp; deuda_cas ≤ 218.33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20.3%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23.8%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10,802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7432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≤ 3.5 &amp; rk_ing_num (3,100.5, 3,391.5] &amp; nro_entidades_castigo ≤ 1.5 &amp; deuda_cas &gt; 218.33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21.6%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0.4%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185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7432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≤ 3.5 &amp; rk_ing_num ≤ 3,100.5 &amp; nro_entidades_castigo ≤ 1.5 &amp; deuda_cas &gt; 218.33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21.0%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47.7%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21,674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74320">
                <a:tc rowSpan="2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2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≤ 3.5 &amp; rk_ing_num ≤ 3,100.5 &amp; nro_entidades_castigo &gt; 1.5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21.0%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0.1%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62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7432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(3.5, 4.5] &amp; rk_ing_num (3,100.5, 3,391.5] &amp; nro_entidades_castigo ≤ 1.5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15.1%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0.1%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53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(3.5, 4.5] &amp; rk_ing_num ≤ 3,100.5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21.5%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10.0%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4,562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74320">
                <a:tc rowSpan="2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D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&gt; 4.5 &amp; nro_entidades_castigo ≤ 1.5 &amp; deuda_cas ≤ 218.33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26.7%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4.0%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1,818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7432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&gt; 4.5 &amp; nro_entidades_castigo ≤ 1.5 &amp; deuda_cas &gt; 218.33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27.1%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10.3%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4,678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A5A44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80" b="0">
                          <a:solidFill>
                            <a:srgbClr val="23433C"/>
                          </a:solidFill>
                          <a:latin typeface="Consolas"/>
                        </a:rPr>
                        <a:t>segmentacion_gdp_v2 &gt; 4.5 &amp; nro_entidades_castigo &gt; 1.5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18.8%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0.0%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4271D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anchor="ctr" marL="54864" marR="45720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Regla:</a:t>
            </a:r>
            <a:r>
              <a:rPr sz="800" b="0">
                <a:solidFill>
                  <a:srgbClr val="9AA6A0"/>
                </a:solidFill>
                <a:latin typeface="Segoe UI"/>
              </a:rPr>
              <a:t> condición de la hoja del Árbol 2 (variables binarizadas con OptBinning).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Tasa:</a:t>
            </a:r>
            <a:r>
              <a:rPr sz="800" b="0">
                <a:solidFill>
                  <a:srgbClr val="9AA6A0"/>
                </a:solidFill>
                <a:latin typeface="Segoe UI"/>
              </a:rPr>
              <a:t> % de malos de la estrategia · % tot / N: peso y tamaño en la base.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Variables:</a:t>
            </a:r>
            <a:r>
              <a:rPr sz="800" b="0">
                <a:solidFill>
                  <a:srgbClr val="9AA6A0"/>
                </a:solidFill>
                <a:latin typeface="Segoe UI"/>
              </a:rPr>
              <a:t> segmentacion_gdp_v2, rk_ing_num, nro_entidades_castigo, deuda_cas.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