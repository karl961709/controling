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56032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5130"/>
                </a:solidFill>
                <a:latin typeface="Segoe UI"/>
              </a:rPr>
              <a:t>Rebank </a:t>
            </a:r>
            <a:r>
              <a:rPr sz="2000" b="1">
                <a:solidFill>
                  <a:srgbClr val="22B24C"/>
                </a:solidFill>
                <a:latin typeface="Segoe UI"/>
              </a:rPr>
              <a:t>| Caídas (exclusiones) aplicadas a la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76656"/>
            <a:ext cx="9326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B6F66"/>
                </a:solidFill>
                <a:latin typeface="Segoe UI"/>
              </a:rPr>
              <a:t>Marcas que </a:t>
            </a:r>
            <a:r>
              <a:rPr sz="1000" b="1">
                <a:solidFill>
                  <a:srgbClr val="1F5130"/>
                </a:solidFill>
                <a:latin typeface="Segoe UI"/>
              </a:rPr>
              <a:t>sacan al cliente de la base elegible</a:t>
            </a:r>
            <a:r>
              <a:rPr sz="1000" b="0">
                <a:solidFill>
                  <a:srgbClr val="5B6F66"/>
                </a:solidFill>
                <a:latin typeface="Segoe UI"/>
              </a:rPr>
              <a:t>  — se conserva a quien </a:t>
            </a:r>
            <a:r>
              <a:rPr sz="1000" b="1">
                <a:solidFill>
                  <a:srgbClr val="1F5130"/>
                </a:solidFill>
                <a:latin typeface="Segoe UI"/>
              </a:rPr>
              <a:t>no tiene ninguna</a:t>
            </a:r>
            <a:r>
              <a:rPr sz="1000" b="0">
                <a:solidFill>
                  <a:srgbClr val="5B6F66"/>
                </a:solidFill>
                <a:latin typeface="Segoe UI"/>
              </a:rPr>
              <a:t> de estas caídas  </a:t>
            </a:r>
            <a:r>
              <a:rPr sz="900" b="0">
                <a:solidFill>
                  <a:srgbClr val="26603A"/>
                </a:solidFill>
                <a:latin typeface="Consolas"/>
              </a:rPr>
              <a:t>COALESCE(flg,0) &lt;&gt;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10928" y="27432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0928" y="2743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5130"/>
                </a:solidFill>
                <a:latin typeface="Segoe UI"/>
              </a:rPr>
              <a:t>28</a:t>
            </a:r>
            <a:r>
              <a:rPr sz="900" b="1">
                <a:solidFill>
                  <a:srgbClr val="1F5130"/>
                </a:solidFill>
                <a:latin typeface="Segoe UI"/>
              </a:rPr>
              <a:t> activas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0" y="274320"/>
            <a:ext cx="832104" cy="329184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74320"/>
            <a:ext cx="8321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9A6A12"/>
                </a:solidFill>
                <a:latin typeface="Segoe UI"/>
              </a:rPr>
              <a:t>2</a:t>
            </a:r>
            <a:r>
              <a:rPr sz="850" b="1">
                <a:solidFill>
                  <a:srgbClr val="9A6A12"/>
                </a:solidFill>
                <a:latin typeface="Segoe UI"/>
              </a:rPr>
              <a:t> desact.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060704"/>
            <a:ext cx="2746171" cy="3602736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1060704"/>
            <a:ext cx="2746171" cy="566928"/>
          </a:xfrm>
          <a:prstGeom prst="roundRect">
            <a:avLst>
              <a:gd name="adj" fmla="val 17741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527047"/>
            <a:ext cx="2746171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" y="1234439"/>
            <a:ext cx="237744" cy="237744"/>
          </a:xfrm>
          <a:prstGeom prst="roundRect">
            <a:avLst>
              <a:gd name="adj" fmla="val 23076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234439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060704"/>
            <a:ext cx="183177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Fraude, listas y clientes no elegibles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18155" y="121615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3E7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8155" y="121615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1737360"/>
            <a:ext cx="2490139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En </a:t>
            </a:r>
            <a:r>
              <a:rPr sz="960" b="1">
                <a:solidFill>
                  <a:srgbClr val="1F5130"/>
                </a:solidFill>
                <a:latin typeface="Segoe UI"/>
              </a:rPr>
              <a:t>base de fraude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Cliente con </a:t>
            </a:r>
            <a:r>
              <a:rPr sz="960" b="1">
                <a:solidFill>
                  <a:srgbClr val="1F5130"/>
                </a:solidFill>
                <a:latin typeface="Segoe UI"/>
              </a:rPr>
              <a:t>marca FEVE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En lista de </a:t>
            </a:r>
            <a:r>
              <a:rPr sz="960" b="1">
                <a:solidFill>
                  <a:srgbClr val="1F5130"/>
                </a:solidFill>
                <a:latin typeface="Segoe UI"/>
              </a:rPr>
              <a:t>clientes especiales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En base de </a:t>
            </a:r>
            <a:r>
              <a:rPr sz="960" b="1">
                <a:solidFill>
                  <a:srgbClr val="1F5130"/>
                </a:solidFill>
                <a:latin typeface="Segoe UI"/>
              </a:rPr>
              <a:t>recovery / cobranza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Empresa empleadora mala</a:t>
            </a:r>
            <a:r>
              <a:rPr sz="960" b="0">
                <a:solidFill>
                  <a:srgbClr val="14271D"/>
                </a:solidFill>
                <a:latin typeface="Segoe UI"/>
              </a:rPr>
              <a:t> (dudoso / pérdida)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Empresa no deseada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Empresa con </a:t>
            </a:r>
            <a:r>
              <a:rPr sz="960" b="1">
                <a:solidFill>
                  <a:srgbClr val="1F5130"/>
                </a:solidFill>
                <a:latin typeface="Segoe UI"/>
              </a:rPr>
              <a:t>marca FEVE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1F5130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Fallecido</a:t>
            </a:r>
            <a:r>
              <a:rPr sz="860" b="0">
                <a:solidFill>
                  <a:srgbClr val="5B6F66"/>
                </a:solidFill>
                <a:latin typeface="Segoe UI"/>
              </a:rPr>
              <a:t>  (filtro aparte)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60704"/>
            <a:ext cx="2746171" cy="3602736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76523" y="1060704"/>
            <a:ext cx="2746171" cy="566928"/>
          </a:xfrm>
          <a:prstGeom prst="roundRect">
            <a:avLst>
              <a:gd name="adj" fmla="val 17741"/>
            </a:avLst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6523" y="1527047"/>
            <a:ext cx="2746171" cy="100584"/>
          </a:xfrm>
          <a:prstGeom prst="rect">
            <a:avLst/>
          </a:prstGeom>
          <a:solidFill>
            <a:srgbClr val="2F7D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86251" y="1234439"/>
            <a:ext cx="237744" cy="237744"/>
          </a:xfrm>
          <a:prstGeom prst="roundRect">
            <a:avLst>
              <a:gd name="adj" fmla="val 23076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6251" y="1234439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7147" y="1060704"/>
            <a:ext cx="183177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Riesgo y comportamiento crediticio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0631" y="121615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3E7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0631" y="121615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4539" y="1737360"/>
            <a:ext cx="2490139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Con </a:t>
            </a:r>
            <a:r>
              <a:rPr sz="960" b="1">
                <a:solidFill>
                  <a:srgbClr val="1F5130"/>
                </a:solidFill>
                <a:latin typeface="Segoe UI"/>
              </a:rPr>
              <a:t>castigo en IBK</a:t>
            </a:r>
            <a:r>
              <a:rPr sz="960" b="0">
                <a:solidFill>
                  <a:srgbClr val="14271D"/>
                </a:solidFill>
                <a:latin typeface="Segoe UI"/>
              </a:rPr>
              <a:t> (últ. 24 meses)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Con </a:t>
            </a:r>
            <a:r>
              <a:rPr sz="960" b="1">
                <a:solidFill>
                  <a:srgbClr val="1F5130"/>
                </a:solidFill>
                <a:latin typeface="Segoe UI"/>
              </a:rPr>
              <a:t>proceso judicial</a:t>
            </a:r>
            <a:r>
              <a:rPr sz="960" b="0">
                <a:solidFill>
                  <a:srgbClr val="14271D"/>
                </a:solidFill>
                <a:latin typeface="Segoe UI"/>
              </a:rPr>
              <a:t> en el SSFF (24 m)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Clasificación </a:t>
            </a:r>
            <a:r>
              <a:rPr sz="960" b="1">
                <a:solidFill>
                  <a:srgbClr val="1F5130"/>
                </a:solidFill>
                <a:latin typeface="Segoe UI"/>
              </a:rPr>
              <a:t>mayor a CPP</a:t>
            </a:r>
            <a:r>
              <a:rPr sz="960" b="0">
                <a:solidFill>
                  <a:srgbClr val="14271D"/>
                </a:solidFill>
                <a:latin typeface="Segoe UI"/>
              </a:rPr>
              <a:t> (buró aprobado)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Clasificación </a:t>
            </a:r>
            <a:r>
              <a:rPr sz="960" b="1">
                <a:solidFill>
                  <a:srgbClr val="1F5130"/>
                </a:solidFill>
                <a:latin typeface="Segoe UI"/>
              </a:rPr>
              <a:t>RCC mayor a Normal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Más de </a:t>
            </a:r>
            <a:r>
              <a:rPr sz="960" b="1">
                <a:solidFill>
                  <a:srgbClr val="1F5130"/>
                </a:solidFill>
                <a:latin typeface="Segoe UI"/>
              </a:rPr>
              <a:t>8 días de mora</a:t>
            </a:r>
            <a:r>
              <a:rPr sz="960" b="0">
                <a:solidFill>
                  <a:srgbClr val="14271D"/>
                </a:solidFill>
                <a:latin typeface="Segoe UI"/>
              </a:rPr>
              <a:t> en IBK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Comportamiento en IBK </a:t>
            </a:r>
            <a:r>
              <a:rPr sz="960" b="1">
                <a:solidFill>
                  <a:srgbClr val="1F5130"/>
                </a:solidFill>
                <a:latin typeface="Segoe UI"/>
              </a:rPr>
              <a:t>distinto de Normal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Refinanciado</a:t>
            </a:r>
            <a:r>
              <a:rPr sz="960" b="0">
                <a:solidFill>
                  <a:srgbClr val="14271D"/>
                </a:solidFill>
                <a:latin typeface="Segoe UI"/>
              </a:rPr>
              <a:t> en el RCC (últ. 6 meses)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Refinanciado</a:t>
            </a:r>
            <a:r>
              <a:rPr sz="960" b="0">
                <a:solidFill>
                  <a:srgbClr val="14271D"/>
                </a:solidFill>
                <a:latin typeface="Segoe UI"/>
              </a:rPr>
              <a:t> con buró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F7D70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Buró </a:t>
            </a:r>
            <a:r>
              <a:rPr sz="960" b="1">
                <a:solidFill>
                  <a:srgbClr val="1F5130"/>
                </a:solidFill>
                <a:latin typeface="Segoe UI"/>
              </a:rPr>
              <a:t>mayor a CPP</a:t>
            </a:r>
            <a:r>
              <a:rPr sz="960" b="0">
                <a:solidFill>
                  <a:srgbClr val="14271D"/>
                </a:solidFill>
                <a:latin typeface="Segoe UI"/>
              </a:rPr>
              <a:t> en los últ. 5 meses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8999" y="1060704"/>
            <a:ext cx="2746171" cy="3602736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68999" y="1060704"/>
            <a:ext cx="2746171" cy="566928"/>
          </a:xfrm>
          <a:prstGeom prst="roundRect">
            <a:avLst>
              <a:gd name="adj" fmla="val 17741"/>
            </a:avLst>
          </a:prstGeom>
          <a:solidFill>
            <a:srgbClr val="22B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8999" y="1527047"/>
            <a:ext cx="2746171" cy="100584"/>
          </a:xfrm>
          <a:prstGeom prst="rect">
            <a:avLst/>
          </a:prstGeom>
          <a:solidFill>
            <a:srgbClr val="22B2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8727" y="1234439"/>
            <a:ext cx="237744" cy="237744"/>
          </a:xfrm>
          <a:prstGeom prst="roundRect">
            <a:avLst>
              <a:gd name="adj" fmla="val 23076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8727" y="1234439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9623" y="1060704"/>
            <a:ext cx="183177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Endeudamiento y capacidad de pago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03107" y="121615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3E7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107" y="121615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7015" y="1737360"/>
            <a:ext cx="2490139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2B24C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Sobreendeudado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2B24C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7 o más entidades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2B24C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Marca de </a:t>
            </a:r>
            <a:r>
              <a:rPr sz="960" b="1">
                <a:solidFill>
                  <a:srgbClr val="1F5130"/>
                </a:solidFill>
                <a:latin typeface="Segoe UI"/>
              </a:rPr>
              <a:t>entidades con saldo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2B24C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Sin deuda / ingreso disponible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2B24C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Restricción de </a:t>
            </a:r>
            <a:r>
              <a:rPr sz="960" b="1">
                <a:solidFill>
                  <a:srgbClr val="1F5130"/>
                </a:solidFill>
                <a:latin typeface="Segoe UI"/>
              </a:rPr>
              <a:t>venta cruzada</a:t>
            </a:r>
            <a:r>
              <a:rPr sz="960" b="0">
                <a:solidFill>
                  <a:srgbClr val="14271D"/>
                </a:solidFill>
                <a:latin typeface="Segoe UI"/>
              </a:rPr>
              <a:t> (PP)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1475" y="1060704"/>
            <a:ext cx="2746171" cy="3602736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61475" y="1060704"/>
            <a:ext cx="2746171" cy="566928"/>
          </a:xfrm>
          <a:prstGeom prst="roundRect">
            <a:avLst>
              <a:gd name="adj" fmla="val 17741"/>
            </a:avLst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61475" y="1527047"/>
            <a:ext cx="2746171" cy="100584"/>
          </a:xfrm>
          <a:prstGeom prst="rect">
            <a:avLst/>
          </a:prstGeom>
          <a:solidFill>
            <a:srgbClr val="26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171203" y="1234439"/>
            <a:ext cx="237744" cy="237744"/>
          </a:xfrm>
          <a:prstGeom prst="roundRect">
            <a:avLst>
              <a:gd name="adj" fmla="val 23076"/>
            </a:avLst>
          </a:prstGeom>
          <a:solidFill>
            <a:srgbClr val="4A7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1203" y="1234439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2099" y="1060704"/>
            <a:ext cx="183177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Perfil, política y coyuntura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295583" y="1216151"/>
            <a:ext cx="384048" cy="274320"/>
          </a:xfrm>
          <a:prstGeom prst="roundRect">
            <a:avLst>
              <a:gd name="adj" fmla="val 20000"/>
            </a:avLst>
          </a:prstGeom>
          <a:solidFill>
            <a:srgbClr val="3E7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95583" y="1216151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491" y="1737360"/>
            <a:ext cx="2490139" cy="2834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Edad</a:t>
            </a:r>
            <a:r>
              <a:rPr sz="960" b="0">
                <a:solidFill>
                  <a:srgbClr val="14271D"/>
                </a:solidFill>
                <a:latin typeface="Segoe UI"/>
              </a:rPr>
              <a:t> fuera de rango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Cliente </a:t>
            </a:r>
            <a:r>
              <a:rPr sz="960" b="1">
                <a:solidFill>
                  <a:srgbClr val="1F5130"/>
                </a:solidFill>
                <a:latin typeface="Segoe UI"/>
              </a:rPr>
              <a:t>banca especial (BPE)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Cliente de </a:t>
            </a:r>
            <a:r>
              <a:rPr sz="960" b="1">
                <a:solidFill>
                  <a:srgbClr val="1F5130"/>
                </a:solidFill>
                <a:latin typeface="Segoe UI"/>
              </a:rPr>
              <a:t>convenio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1">
                <a:solidFill>
                  <a:srgbClr val="1F5130"/>
                </a:solidFill>
                <a:latin typeface="Segoe UI"/>
              </a:rPr>
              <a:t>Ya tiene tarjeta de crédito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Cliente </a:t>
            </a:r>
            <a:r>
              <a:rPr sz="960" b="1">
                <a:solidFill>
                  <a:srgbClr val="1F5130"/>
                </a:solidFill>
                <a:latin typeface="Segoe UI"/>
              </a:rPr>
              <a:t>ISR con buró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Cliente </a:t>
            </a:r>
            <a:r>
              <a:rPr sz="960" b="1">
                <a:solidFill>
                  <a:srgbClr val="1F5130"/>
                </a:solidFill>
                <a:latin typeface="Segoe UI"/>
              </a:rPr>
              <a:t>ISR con saldo hipotecario</a:t>
            </a:r>
            <a:r>
              <a:rPr sz="960" b="0">
                <a:solidFill>
                  <a:srgbClr val="14271D"/>
                </a:solidFill>
                <a:latin typeface="Segoe UI"/>
              </a:rPr>
              <a:t> IBK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936"/>
              </a:spcAft>
            </a:pPr>
            <a:r>
              <a:rPr sz="960" b="1">
                <a:solidFill>
                  <a:srgbClr val="26603A"/>
                </a:solidFill>
                <a:latin typeface="Segoe UI"/>
              </a:rPr>
              <a:t>•  </a:t>
            </a:r>
            <a:r>
              <a:rPr sz="960" b="0">
                <a:solidFill>
                  <a:srgbClr val="14271D"/>
                </a:solidFill>
                <a:latin typeface="Segoe UI"/>
              </a:rPr>
              <a:t>Caída por </a:t>
            </a:r>
            <a:r>
              <a:rPr sz="960" b="1">
                <a:solidFill>
                  <a:srgbClr val="1F5130"/>
                </a:solidFill>
                <a:latin typeface="Segoe UI"/>
              </a:rPr>
              <a:t>coyuntura</a:t>
            </a:r>
            <a:r>
              <a:rPr sz="960" b="0">
                <a:solidFill>
                  <a:srgbClr val="14271D"/>
                </a:solidFill>
                <a:latin typeface="Segoe UI"/>
              </a:rPr>
              <a:t> (Fenómeno del Niño) – TC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4048" y="4882896"/>
            <a:ext cx="6583680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84048" y="4882896"/>
            <a:ext cx="6583680" cy="329184"/>
          </a:xfrm>
          <a:prstGeom prst="roundRect">
            <a:avLst>
              <a:gd name="adj" fmla="val 30555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048" y="5111496"/>
            <a:ext cx="6583680" cy="100584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" y="4882896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Cómo se lee la regla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5321808"/>
            <a:ext cx="6291072" cy="7863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0">
                <a:solidFill>
                  <a:srgbClr val="14271D"/>
                </a:solidFill>
                <a:latin typeface="Segoe UI"/>
              </a:rPr>
              <a:t>Cada condición </a:t>
            </a:r>
            <a:r>
              <a:rPr sz="1000" b="0">
                <a:solidFill>
                  <a:srgbClr val="26603A"/>
                </a:solidFill>
                <a:latin typeface="Consolas"/>
              </a:rPr>
              <a:t>COALESCE(flg_x, 0) &lt;&gt; 1</a:t>
            </a:r>
            <a:r>
              <a:rPr sz="1100" b="0">
                <a:solidFill>
                  <a:srgbClr val="14271D"/>
                </a:solidFill>
                <a:latin typeface="Segoe UI"/>
              </a:rPr>
              <a:t> </a:t>
            </a:r>
            <a:r>
              <a:rPr sz="1100" b="1">
                <a:solidFill>
                  <a:srgbClr val="1F5130"/>
                </a:solidFill>
                <a:latin typeface="Segoe UI"/>
              </a:rPr>
              <a:t>mantiene</a:t>
            </a:r>
            <a:r>
              <a:rPr sz="1100" b="0">
                <a:solidFill>
                  <a:srgbClr val="14271D"/>
                </a:solidFill>
                <a:latin typeface="Segoe UI"/>
              </a:rPr>
              <a:t> a los clientes cuya marca </a:t>
            </a:r>
            <a:r>
              <a:rPr sz="1100" b="1">
                <a:solidFill>
                  <a:srgbClr val="1F5130"/>
                </a:solidFill>
                <a:latin typeface="Segoe UI"/>
              </a:rPr>
              <a:t>no está prendida</a:t>
            </a:r>
            <a:r>
              <a:rPr sz="1100" b="0">
                <a:solidFill>
                  <a:srgbClr val="14271D"/>
                </a:solidFill>
                <a:latin typeface="Segoe UI"/>
              </a:rPr>
              <a:t>: si el cliente tiene la caída, </a:t>
            </a:r>
            <a:r>
              <a:rPr sz="1100" b="1">
                <a:solidFill>
                  <a:srgbClr val="1F5130"/>
                </a:solidFill>
                <a:latin typeface="Segoe UI"/>
              </a:rPr>
              <a:t>se excluye</a:t>
            </a:r>
            <a:r>
              <a:rPr sz="1100" b="0">
                <a:solidFill>
                  <a:srgbClr val="14271D"/>
                </a:solidFill>
                <a:latin typeface="Segoe UI"/>
              </a:rPr>
              <a:t>. Las marcas se arman pivoteando la tabla </a:t>
            </a:r>
            <a:r>
              <a:rPr sz="1000" b="0">
                <a:solidFill>
                  <a:srgbClr val="26603A"/>
                </a:solidFill>
                <a:latin typeface="Consolas"/>
              </a:rPr>
              <a:t>caidas</a:t>
            </a:r>
            <a:r>
              <a:rPr sz="1100" b="0">
                <a:solidFill>
                  <a:srgbClr val="14271D"/>
                </a:solidFill>
                <a:latin typeface="Segoe UI"/>
              </a:rPr>
              <a:t> (una fila por </a:t>
            </a:r>
            <a:r>
              <a:rPr sz="1000" b="0">
                <a:solidFill>
                  <a:srgbClr val="26603A"/>
                </a:solidFill>
                <a:latin typeface="Consolas"/>
              </a:rPr>
              <a:t>descripcion</a:t>
            </a:r>
            <a:r>
              <a:rPr sz="1100" b="0">
                <a:solidFill>
                  <a:srgbClr val="14271D"/>
                </a:solidFill>
                <a:latin typeface="Segoe UI"/>
              </a:rPr>
              <a:t>) con </a:t>
            </a:r>
            <a:r>
              <a:rPr sz="1000" b="0">
                <a:solidFill>
                  <a:srgbClr val="26603A"/>
                </a:solidFill>
                <a:latin typeface="Consolas"/>
              </a:rPr>
              <a:t>MAX(CASE…)</a:t>
            </a:r>
            <a:r>
              <a:rPr sz="1100" b="0">
                <a:solidFill>
                  <a:srgbClr val="14271D"/>
                </a:solidFill>
                <a:latin typeface="Segoe UI"/>
              </a:rPr>
              <a:t> por cliente.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50608" y="4882896"/>
            <a:ext cx="4654296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150608" y="4882896"/>
            <a:ext cx="4654296" cy="329184"/>
          </a:xfrm>
          <a:prstGeom prst="roundRect">
            <a:avLst>
              <a:gd name="adj" fmla="val 30555"/>
            </a:avLst>
          </a:prstGeom>
          <a:solidFill>
            <a:srgbClr val="E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50608" y="5111496"/>
            <a:ext cx="4654296" cy="100584"/>
          </a:xfrm>
          <a:prstGeom prst="rect">
            <a:avLst/>
          </a:prstGeom>
          <a:solidFill>
            <a:srgbClr val="E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78624" y="4882896"/>
            <a:ext cx="447141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Desactivadas hoy (comentadas)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6912" y="5321808"/>
            <a:ext cx="4361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14271D"/>
                </a:solidFill>
                <a:latin typeface="Segoe UI"/>
              </a:rPr>
              <a:t>Estas dos caídas </a:t>
            </a:r>
            <a:r>
              <a:rPr sz="1100" b="1">
                <a:solidFill>
                  <a:srgbClr val="9A6A12"/>
                </a:solidFill>
                <a:latin typeface="Segoe UI"/>
              </a:rPr>
              <a:t>no se están aplicando</a:t>
            </a:r>
            <a:r>
              <a:rPr sz="1100" b="0">
                <a:solidFill>
                  <a:srgbClr val="14271D"/>
                </a:solidFill>
                <a:latin typeface="Segoe UI"/>
              </a:rPr>
              <a:t> en esta corrida: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96912" y="5705856"/>
            <a:ext cx="1865376" cy="274320"/>
          </a:xfrm>
          <a:prstGeom prst="roundRect">
            <a:avLst>
              <a:gd name="adj" fmla="val 33333"/>
            </a:avLst>
          </a:prstGeom>
          <a:solidFill>
            <a:srgbClr val="FDF3E0"/>
          </a:solidFill>
          <a:ln w="9525">
            <a:solidFill>
              <a:srgbClr val="F2E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96912" y="5705856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9A6A12"/>
                </a:solidFill>
                <a:latin typeface="Segoe UI"/>
              </a:rPr>
              <a:t>— Buró bajo en Amazonas / Loreto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72015" y="5705856"/>
            <a:ext cx="1865376" cy="274320"/>
          </a:xfrm>
          <a:prstGeom prst="roundRect">
            <a:avLst>
              <a:gd name="adj" fmla="val 33333"/>
            </a:avLst>
          </a:prstGeom>
          <a:solidFill>
            <a:srgbClr val="FDF3E0"/>
          </a:solidFill>
          <a:ln w="9525">
            <a:solidFill>
              <a:srgbClr val="F2E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2015" y="5705856"/>
            <a:ext cx="18653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60" b="1">
                <a:solidFill>
                  <a:srgbClr val="9A6A12"/>
                </a:solidFill>
                <a:latin typeface="Segoe UI"/>
              </a:rPr>
              <a:t>— Oferta o línea menor al mínimo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84048" y="6419088"/>
            <a:ext cx="11420856" cy="0"/>
          </a:xfrm>
          <a:prstGeom prst="line">
            <a:avLst/>
          </a:prstGeom>
          <a:ln w="12700">
            <a:solidFill>
              <a:srgbClr val="E3EC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4048" y="64922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1">
                <a:solidFill>
                  <a:srgbClr val="26603A"/>
                </a:solidFill>
                <a:latin typeface="Segoe UI"/>
              </a:rPr>
              <a:t>Base elegible: </a:t>
            </a:r>
            <a:r>
              <a:rPr sz="770" b="0">
                <a:solidFill>
                  <a:srgbClr val="8A9B93"/>
                </a:solidFill>
                <a:latin typeface="Segoe UI"/>
              </a:rPr>
              <a:t>resultado tras aplicar las 28 caídas activas y excluir fallecidos.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720" y="6492240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70" b="1">
                <a:solidFill>
                  <a:srgbClr val="26603A"/>
                </a:solidFill>
                <a:latin typeface="Segoe UI"/>
              </a:rPr>
              <a:t>SSFF:</a:t>
            </a:r>
            <a:r>
              <a:rPr sz="770" b="0">
                <a:solidFill>
                  <a:srgbClr val="8A9B93"/>
                </a:solidFill>
                <a:latin typeface="Segoe UI"/>
              </a:rPr>
              <a:t> sistema financiero · </a:t>
            </a:r>
            <a:r>
              <a:rPr sz="770" b="1">
                <a:solidFill>
                  <a:srgbClr val="26603A"/>
                </a:solidFill>
                <a:latin typeface="Segoe UI"/>
              </a:rPr>
              <a:t>RCC:</a:t>
            </a:r>
            <a:r>
              <a:rPr sz="770" b="0">
                <a:solidFill>
                  <a:srgbClr val="8A9B93"/>
                </a:solidFill>
                <a:latin typeface="Segoe UI"/>
              </a:rPr>
              <a:t> reporte crediticio · </a:t>
            </a:r>
            <a:r>
              <a:rPr sz="770" b="1">
                <a:solidFill>
                  <a:srgbClr val="26603A"/>
                </a:solidFill>
                <a:latin typeface="Segoe UI"/>
              </a:rPr>
              <a:t>CPP:</a:t>
            </a:r>
            <a:r>
              <a:rPr sz="770" b="0">
                <a:solidFill>
                  <a:srgbClr val="8A9B93"/>
                </a:solidFill>
                <a:latin typeface="Segoe UI"/>
              </a:rPr>
              <a:t> con problemas potenciales · </a:t>
            </a:r>
            <a:r>
              <a:rPr sz="770" b="1">
                <a:solidFill>
                  <a:srgbClr val="26603A"/>
                </a:solidFill>
                <a:latin typeface="Segoe UI"/>
              </a:rPr>
              <a:t>FEVE:</a:t>
            </a:r>
            <a:r>
              <a:rPr sz="770" b="0">
                <a:solidFill>
                  <a:srgbClr val="8A9B93"/>
                </a:solidFill>
                <a:latin typeface="Segoe UI"/>
              </a:rPr>
              <a:t> marca de alerta comercial.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