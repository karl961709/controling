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219456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5130"/>
                </a:solidFill>
                <a:latin typeface="Segoe UI"/>
              </a:rPr>
              <a:t>Buckets Árbol 2 · 24 meses </a:t>
            </a:r>
            <a:r>
              <a:rPr sz="2400" b="1">
                <a:solidFill>
                  <a:srgbClr val="9AA6A0"/>
                </a:solidFill>
                <a:latin typeface="Segoe UI"/>
              </a:rPr>
              <a:t>| Tasa de riesgo y distribución V1 / V2 / 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94944"/>
            <a:ext cx="9509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F66"/>
                </a:solidFill>
                <a:latin typeface="Segoe UI"/>
              </a:rPr>
              <a:t>Escenario 24m_sinedad_6 · 12 buckets sobre 30 estrategias del Árbol 2 (3 variables) · verde = menor riesgo, rojo = mayor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85071" y="237744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85071" y="23774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AA44C"/>
                </a:solidFill>
                <a:latin typeface="Segoe UI"/>
              </a:rPr>
              <a:t>●  </a:t>
            </a:r>
            <a:r>
              <a:rPr sz="1100" b="1">
                <a:solidFill>
                  <a:srgbClr val="1F5130"/>
                </a:solidFill>
                <a:latin typeface="Segoe UI"/>
              </a:rPr>
              <a:t>24m_sinedad_6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243584"/>
            <a:ext cx="4160520" cy="32004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0624" y="1243584"/>
            <a:ext cx="4160520" cy="310896"/>
          </a:xfrm>
          <a:prstGeom prst="roundRect">
            <a:avLst>
              <a:gd name="adj" fmla="val 35294"/>
            </a:avLst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624" y="1435608"/>
            <a:ext cx="4160520" cy="118872"/>
          </a:xfrm>
          <a:prstGeom prst="rect">
            <a:avLst/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243584"/>
            <a:ext cx="3886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Tasa de riesgo por bucket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618488"/>
          <a:ext cx="3904487" cy="26197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"/>
                <a:gridCol w="868680"/>
                <a:gridCol w="621792"/>
                <a:gridCol w="621792"/>
                <a:gridCol w="658368"/>
                <a:gridCol w="768095"/>
              </a:tblGrid>
              <a:tr h="182880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Buck.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Estrat.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Tasa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Prob.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N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% tot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1, 2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4.55%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23.8%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176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7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5.55%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26.9%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2,524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5.6%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4–8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6.69%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28.8%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3,842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8.5%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9, 10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10.13%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34.7%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5,290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11.6%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E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11, 12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11.51%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35.1%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1,321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2.9%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13–15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13.40%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40.1%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6,329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13.9%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16–18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12.67%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40.5%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1,855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9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19, 20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17.13%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44.7%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5,311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11.7%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C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21–23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17.69%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893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0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24, 25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19.63%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45.2%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1,019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2.2%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26–28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36.96%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51.5%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13,785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30.3%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29, 30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40.82%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52.3%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3,114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6.9%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084B44"/>
                          </a:solidFill>
                          <a:latin typeface="Segoe UI"/>
                        </a:rPr>
                        <a:t>Tot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30 estr.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21.58%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42.6%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45,459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736592" y="1243584"/>
            <a:ext cx="3346704" cy="32004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36592" y="1243584"/>
            <a:ext cx="3346704" cy="310896"/>
          </a:xfrm>
          <a:prstGeom prst="roundRect">
            <a:avLst>
              <a:gd name="adj" fmla="val 35294"/>
            </a:avLst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36592" y="1435608"/>
            <a:ext cx="3346704" cy="118872"/>
          </a:xfrm>
          <a:prstGeom prst="rect">
            <a:avLst/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3752" y="124358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· Base inicial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864607" y="1618488"/>
          <a:ext cx="3090672" cy="26197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"/>
                <a:gridCol w="868680"/>
                <a:gridCol w="548640"/>
                <a:gridCol w="658368"/>
                <a:gridCol w="649224"/>
              </a:tblGrid>
              <a:tr h="182880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Buck.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Cantidad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Prob.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score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4,442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24.4%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756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7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7,021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1.2%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26.9%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730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27,721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4.8%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28.8%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711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26,961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4.6%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34.6%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654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E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51,215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8.8%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35.1%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649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32,686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5.6%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599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132,679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22.8%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40.3%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597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9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20,663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3.5%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44.4%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555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C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108,579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18.6%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45.1%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549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0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28,296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4.9%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45.3%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547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38,475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6.6%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51.8%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482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104,189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17.9%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52.3%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477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084B44"/>
                          </a:solidFill>
                          <a:latin typeface="Segoe UI"/>
                        </a:rPr>
                        <a:t>Tot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582,927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42.9%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570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8238744" y="1243584"/>
            <a:ext cx="3529584" cy="32004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38744" y="1243584"/>
            <a:ext cx="3529584" cy="310896"/>
          </a:xfrm>
          <a:prstGeom prst="roundRect">
            <a:avLst>
              <a:gd name="adj" fmla="val 35294"/>
            </a:avLst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38744" y="1435608"/>
            <a:ext cx="3529584" cy="118872"/>
          </a:xfrm>
          <a:prstGeom prst="rect">
            <a:avLst/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1243584"/>
            <a:ext cx="32552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· Fuera de campaña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8366760" y="1618488"/>
          <a:ext cx="3273552" cy="26197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"/>
                <a:gridCol w="868680"/>
                <a:gridCol w="548640"/>
                <a:gridCol w="658368"/>
                <a:gridCol w="832104"/>
              </a:tblGrid>
              <a:tr h="182880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Buck.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Cantidad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Prob.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score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3,233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24.7%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752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7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5,668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27.2%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727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17,052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3.3%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28.9%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710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18,067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3.5%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34.7%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653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E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42,440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35.2%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648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24,750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4.7%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40.1%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599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121,324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23.2%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40.3%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596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9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17,990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3.4%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44.4%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555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C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103,892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19.8%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45.1%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548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0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28,128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5.4%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45.3%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547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37,084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51.8%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481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103,856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19.8%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52.3%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477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084B44"/>
                          </a:solidFill>
                          <a:latin typeface="Segoe UI"/>
                        </a:rPr>
                        <a:t>Tot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523,484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43.6%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563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420624" y="4553712"/>
            <a:ext cx="11347704" cy="1687068"/>
          </a:xfrm>
          <a:prstGeom prst="roundRect">
            <a:avLst>
              <a:gd name="adj" fmla="val 6504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0624" y="4553712"/>
            <a:ext cx="11347704" cy="310896"/>
          </a:xfrm>
          <a:prstGeom prst="roundRect">
            <a:avLst>
              <a:gd name="adj" fmla="val 35294"/>
            </a:avLst>
          </a:prstGeom>
          <a:solidFill>
            <a:srgbClr val="3A7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0624" y="4745736"/>
            <a:ext cx="11347704" cy="118872"/>
          </a:xfrm>
          <a:prstGeom prst="rect">
            <a:avLst/>
          </a:prstGeom>
          <a:solidFill>
            <a:srgbClr val="3A7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7784" y="4553712"/>
            <a:ext cx="11073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· Base de campañas</a:t>
            </a:r>
            <a:r>
              <a:rPr sz="1050" b="0">
                <a:solidFill>
                  <a:srgbClr val="FFFFFF"/>
                </a:solidFill>
                <a:latin typeface="Segoe UI"/>
              </a:rPr>
              <a:t>   · periodo 20260624 · tipo × bucket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48640" y="4928616"/>
          <a:ext cx="11091672" cy="11201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661416"/>
                <a:gridCol w="661416"/>
                <a:gridCol w="661416"/>
                <a:gridCol w="661416"/>
                <a:gridCol w="661416"/>
                <a:gridCol w="661416"/>
                <a:gridCol w="661416"/>
                <a:gridCol w="661416"/>
                <a:gridCol w="661416"/>
                <a:gridCol w="661416"/>
                <a:gridCol w="661416"/>
                <a:gridCol w="661416"/>
                <a:gridCol w="822960"/>
              </a:tblGrid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tipo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0A5A52"/>
                          </a:solidFill>
                          <a:latin typeface="Segoe UI"/>
                        </a:rPr>
                        <a:t>Total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3433C"/>
                          </a:solidFill>
                          <a:latin typeface="Segoe UI"/>
                        </a:rPr>
                        <a:t>TC_CMP_EST_CAST_24_T_CL1_3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699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309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2,860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3,848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4,443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3,164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7,219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A5A52"/>
                          </a:solidFill>
                          <a:latin typeface="Segoe UI"/>
                        </a:rPr>
                        <a:t>22,542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3433C"/>
                          </a:solidFill>
                          <a:latin typeface="Segoe UI"/>
                        </a:rPr>
                        <a:t>TC_CMP_EST_CAST_24_T_CL4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403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260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1,935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1,739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2,311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2,304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4,438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1,989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4,630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12,712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A5A52"/>
                          </a:solidFill>
                          <a:latin typeface="Segoe UI"/>
                        </a:rPr>
                        <a:t>32,721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3433C"/>
                          </a:solidFill>
                          <a:latin typeface="Segoe UI"/>
                        </a:rPr>
                        <a:t>TC_CMP_EST_CAS_24_IC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139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250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672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980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613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145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1,631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A5A52"/>
                          </a:solidFill>
                          <a:latin typeface="Segoe UI"/>
                        </a:rPr>
                        <a:t>4,444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Total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1,102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708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5,045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5,587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2,983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6,747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5,418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5,167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5,243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145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19,931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1,631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59,707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420624" y="6419088"/>
            <a:ext cx="11350447" cy="10972"/>
          </a:xfrm>
          <a:prstGeom prst="rect">
            <a:avLst/>
          </a:prstGeom>
          <a:solidFill>
            <a:srgbClr val="E3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" y="6473952"/>
            <a:ext cx="113504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26603A"/>
                </a:solidFill>
                <a:latin typeface="Segoe UI"/>
              </a:rPr>
              <a:t>Tasa malos:</a:t>
            </a:r>
            <a:r>
              <a:rPr sz="800" b="0">
                <a:solidFill>
                  <a:srgbClr val="9AA6A0"/>
                </a:solidFill>
                <a:latin typeface="Segoe UI"/>
              </a:rPr>
              <a:t> % de target_60_12m=1 en la base de modelamiento (RD, n=45,459).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V1:</a:t>
            </a:r>
            <a:r>
              <a:rPr sz="800" b="0">
                <a:solidFill>
                  <a:srgbClr val="9AA6A0"/>
                </a:solidFill>
                <a:latin typeface="Segoe UI"/>
              </a:rPr>
              <a:t> base de campañas por tipo (20260624) · V2: base de generación · V3: fuera de campaña.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Prob. / score:</a:t>
            </a:r>
            <a:r>
              <a:rPr sz="800" b="0">
                <a:solidFill>
                  <a:srgbClr val="9AA6A0"/>
                </a:solidFill>
                <a:latin typeface="Segoe UI"/>
              </a:rPr>
              <a:t> promedios por bucket.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219456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5130"/>
                </a:solidFill>
                <a:latin typeface="Segoe UI"/>
              </a:rPr>
              <a:t>Buckets Árbol 2 · 24 meses </a:t>
            </a:r>
            <a:r>
              <a:rPr sz="2400" b="1">
                <a:solidFill>
                  <a:srgbClr val="9AA6A0"/>
                </a:solidFill>
                <a:latin typeface="Segoe UI"/>
              </a:rPr>
              <a:t>| Reglas por bucket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94944"/>
            <a:ext cx="9509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F66"/>
                </a:solidFill>
                <a:latin typeface="Segoe UI"/>
              </a:rPr>
              <a:t>Escenario 24m_sinedad_6 · 30 estrategias del Árbol 2 · cada regla = una hoja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85071" y="237744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85071" y="23774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AA44C"/>
                </a:solidFill>
                <a:latin typeface="Segoe UI"/>
              </a:rPr>
              <a:t>●  </a:t>
            </a:r>
            <a:r>
              <a:rPr sz="1100" b="1">
                <a:solidFill>
                  <a:srgbClr val="1F5130"/>
                </a:solidFill>
                <a:latin typeface="Segoe UI"/>
              </a:rPr>
              <a:t>24m_sinedad_6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188720"/>
            <a:ext cx="11347704" cy="4983480"/>
          </a:xfrm>
          <a:prstGeom prst="roundRect">
            <a:avLst>
              <a:gd name="adj" fmla="val 2201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0624" y="1188720"/>
            <a:ext cx="11347704" cy="310896"/>
          </a:xfrm>
          <a:prstGeom prst="roundRect">
            <a:avLst>
              <a:gd name="adj" fmla="val 35294"/>
            </a:avLst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624" y="1380744"/>
            <a:ext cx="11347704" cy="118872"/>
          </a:xfrm>
          <a:prstGeom prst="rect">
            <a:avLst/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188720"/>
            <a:ext cx="11073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Reglas (estrategia → condición → tasa de malos)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563624"/>
          <a:ext cx="5408676" cy="33055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"/>
                <a:gridCol w="274320"/>
                <a:gridCol w="3232404"/>
                <a:gridCol w="566928"/>
                <a:gridCol w="457200"/>
                <a:gridCol w="566928"/>
              </a:tblGrid>
              <a:tr h="219456"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Bk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Regla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Tasa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N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1.5 &amp; saldo &gt; 349.07 &amp; bk ≤ 1.5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0.4%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161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1.5 &amp; saldo &gt; 349.07 &amp; bk (1.5, 2.5]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7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1.5 &amp; saldo &gt; 349.07 &amp; bk &gt; 2.5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5.5%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5.6%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2,524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1.5 &amp; saldo ≤ 349.07 &amp; bk ≤ 1.5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8.8%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0.6%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273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1.5 &amp; saldo ≤ 349.07 &amp; bk (1.5, 2.5]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16.7%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1.5 &amp; saldo ≤ 349.07 &amp; bk (2.5, 3.5]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6.4%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2,884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1.5 &amp; saldo ≤ 349.07 &amp; bk &gt; 3.5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600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(1.5, 2.5] &amp; bk ≤ 2.5 &amp; saldo &gt; 349.07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7.3%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55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(1.5, 2.5] &amp; bk ≤ 2.5 &amp; saldo ≤ 349.07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0.6%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277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(1.5, 2.5] &amp; bk (2.5, 3.5]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10.1%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5,013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E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(1.5, 2.5] &amp; bk (3.5, 4.5]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11.2%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1.6%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717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E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(1.5, 2.5] &amp; bk &gt; 4.5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11.9%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604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≤ 1.5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14.8%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0.6%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257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(1.5, 2.5]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14.3%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49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(2.5, 3.5]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13.3%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13.2%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6,023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31636" y="1563624"/>
          <a:ext cx="5408676" cy="33055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"/>
                <a:gridCol w="274320"/>
                <a:gridCol w="3232404"/>
                <a:gridCol w="566928"/>
                <a:gridCol w="457200"/>
                <a:gridCol w="566928"/>
              </a:tblGrid>
              <a:tr h="219456"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Bk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Regla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Tasa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N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(3.5, 4.5]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13.3%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919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(4.5, 5.5]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12.4%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0.4%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186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(5.5, 6.5]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1.6%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750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9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&gt; 6.5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18.2%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220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9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≤ 3.5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17.1%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11.2%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5,091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C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(3.5, 4.5]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17.9%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686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C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(4.5, 5.5] &amp; saldo &gt; 349.07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11.8%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C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(4.5, 5.5] &amp; saldo ≤ 349.07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17.4%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0.4%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190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0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(5.5, 6.5]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19.9%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1.7%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787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0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&gt; 6.5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18.5%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232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&gt; 4.5 &amp; bk ≤ 2.5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39.3%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0.7%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323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&gt; 4.5 &amp; bk (2.5, 3.5]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36.8%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25.9%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11,796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&gt; 4.5 &amp; bk (3.5, 4.5]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37.5%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3.7%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1,666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&gt; 4.5 &amp; bk (4.5, 6.5]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41.2%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5.5%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2,502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&gt; 4.5 &amp; bk &gt; 6.5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39.1%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612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20624" y="6419088"/>
            <a:ext cx="11350447" cy="10972"/>
          </a:xfrm>
          <a:prstGeom prst="rect">
            <a:avLst/>
          </a:prstGeom>
          <a:solidFill>
            <a:srgbClr val="E3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6473952"/>
            <a:ext cx="113504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26603A"/>
                </a:solidFill>
                <a:latin typeface="Segoe UI"/>
              </a:rPr>
              <a:t>pcc</a:t>
            </a:r>
            <a:r>
              <a:rPr sz="800" b="0">
                <a:solidFill>
                  <a:srgbClr val="9AA6A0"/>
                </a:solidFill>
                <a:latin typeface="Segoe UI"/>
              </a:rPr>
              <a:t> = puntuacion_cal_cat (Score Rebank) · saldo = saldo_prom_tot_pasivo_u3m (Saldo Pasivo) · bk = bucket (Árbol 1).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Bk:</a:t>
            </a:r>
            <a:r>
              <a:rPr sz="800" b="0">
                <a:solidFill>
                  <a:srgbClr val="9AA6A0"/>
                </a:solidFill>
                <a:latin typeface="Segoe UI"/>
              </a:rPr>
              <a:t> bucket final · %: % del total · N: clientes.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219456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5130"/>
                </a:solidFill>
                <a:latin typeface="Segoe UI"/>
              </a:rPr>
              <a:t>Buckets Árbol 2 · 24 meses </a:t>
            </a:r>
            <a:r>
              <a:rPr sz="2400" b="1">
                <a:solidFill>
                  <a:srgbClr val="9AA6A0"/>
                </a:solidFill>
                <a:latin typeface="Segoe UI"/>
              </a:rPr>
              <a:t>| Cubo de reglas (3 variables)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94944"/>
            <a:ext cx="9509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F66"/>
                </a:solidFill>
                <a:latin typeface="Segoe UI"/>
              </a:rPr>
              <a:t>Las 30 reglas en 3 variables: </a:t>
            </a:r>
            <a:r>
              <a:rPr sz="1100" b="1">
                <a:solidFill>
                  <a:srgbClr val="5B6F66"/>
                </a:solidFill>
                <a:latin typeface="Segoe UI"/>
              </a:rPr>
              <a:t>Score Rebank × bucket Árbol 1 × Saldo Pasivo</a:t>
            </a:r>
            <a:r>
              <a:rPr sz="1100" b="0">
                <a:solidFill>
                  <a:srgbClr val="5B6F66"/>
                </a:solidFill>
                <a:latin typeface="Segoe UI"/>
              </a:rPr>
              <a:t> → color = bucket final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85071" y="237744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85071" y="23774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AA44C"/>
                </a:solidFill>
                <a:latin typeface="Segoe UI"/>
              </a:rPr>
              <a:t>●  </a:t>
            </a:r>
            <a:r>
              <a:rPr sz="1100" b="1">
                <a:solidFill>
                  <a:srgbClr val="1F5130"/>
                </a:solidFill>
                <a:latin typeface="Segoe UI"/>
              </a:rPr>
              <a:t>24m_sinedad_6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225296"/>
            <a:ext cx="11347704" cy="4736592"/>
          </a:xfrm>
          <a:prstGeom prst="roundRect">
            <a:avLst>
              <a:gd name="adj" fmla="val 2316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0624" y="1225296"/>
            <a:ext cx="11347704" cy="310896"/>
          </a:xfrm>
          <a:prstGeom prst="roundRect">
            <a:avLst>
              <a:gd name="adj" fmla="val 35294"/>
            </a:avLst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624" y="1417320"/>
            <a:ext cx="11347704" cy="118872"/>
          </a:xfrm>
          <a:prstGeom prst="rect">
            <a:avLst/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225296"/>
            <a:ext cx="11073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Mapa de reglas en el cubo</a:t>
            </a:r>
            <a:r>
              <a:rPr sz="1050" b="0">
                <a:solidFill>
                  <a:srgbClr val="FFFFFF"/>
                </a:solidFill>
                <a:latin typeface="Segoe UI"/>
              </a:rPr>
              <a:t>   · cara = Score Rebank × bucket Árbol 1 · profundidad = Saldo Pasivo</a:t>
            </a:r>
          </a:p>
        </p:txBody>
      </p:sp>
      <p:sp>
        <p:nvSpPr>
          <p:cNvPr id="10" name="Freeform 9"/>
          <p:cNvSpPr/>
          <p:nvPr/>
        </p:nvSpPr>
        <p:spPr>
          <a:xfrm>
            <a:off x="2212848" y="2057400"/>
            <a:ext cx="3547872" cy="155448"/>
          </a:xfrm>
          <a:custGeom>
            <a:avLst/>
            <a:gdLst/>
            <a:ahLst/>
            <a:cxnLst/>
            <a:rect l="l" t="t" r="r" b="b"/>
            <a:pathLst>
              <a:path w="3547872" h="155448">
                <a:moveTo>
                  <a:pt x="0" y="155448"/>
                </a:moveTo>
                <a:lnTo>
                  <a:pt x="3328416" y="155448"/>
                </a:lnTo>
                <a:lnTo>
                  <a:pt x="3547872" y="0"/>
                </a:lnTo>
                <a:lnTo>
                  <a:pt x="219456" y="0"/>
                </a:lnTo>
                <a:close/>
              </a:path>
            </a:pathLst>
          </a:custGeom>
          <a:solidFill>
            <a:srgbClr val="E8EFEC"/>
          </a:solidFill>
          <a:ln w="9525">
            <a:solidFill>
              <a:srgbClr val="CD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5541264" y="2057400"/>
            <a:ext cx="219456" cy="2532888"/>
          </a:xfrm>
          <a:custGeom>
            <a:avLst/>
            <a:gdLst/>
            <a:ahLst/>
            <a:cxnLst/>
            <a:rect l="l" t="t" r="r" b="b"/>
            <a:pathLst>
              <a:path w="219456" h="2532888">
                <a:moveTo>
                  <a:pt x="0" y="155448"/>
                </a:moveTo>
                <a:lnTo>
                  <a:pt x="0" y="2532888"/>
                </a:lnTo>
                <a:lnTo>
                  <a:pt x="219456" y="2377440"/>
                </a:lnTo>
                <a:lnTo>
                  <a:pt x="219456" y="0"/>
                </a:lnTo>
                <a:close/>
              </a:path>
            </a:pathLst>
          </a:custGeom>
          <a:solidFill>
            <a:srgbClr val="DDE6E2"/>
          </a:solidFill>
          <a:ln w="9525">
            <a:solidFill>
              <a:srgbClr val="CD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2212848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5E8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2212848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03043" y="2231867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2357" y="2498140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12848" y="221284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88336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5E8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688336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78531" y="2231867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845" y="2498140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88336" y="221284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163824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7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163824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54019" y="2231867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73333" y="2498140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63824" y="221284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3639312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7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3639312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29507" y="2231867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48821" y="2498140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39312" y="221284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4114800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7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4114800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04995" y="2231867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24309" y="2498140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0" y="221284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4590288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7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4590288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80483" y="2231867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99797" y="2498140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90288" y="221284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5065776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7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5065776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55971" y="2231867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75285" y="2498140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65776" y="221284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2212848" y="2688336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2212848" y="2688336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C1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03043" y="2707355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222357" y="2973628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212848" y="268833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2688336" y="2688336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688336" y="2688336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C1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878531" y="2707355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97845" y="2973628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88336" y="268833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3824" y="2688336"/>
            <a:ext cx="475488" cy="475488"/>
          </a:xfrm>
          <a:prstGeom prst="rect">
            <a:avLst/>
          </a:prstGeom>
          <a:solidFill>
            <a:srgbClr val="C1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63824" y="26883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63824" y="268833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639312" y="2688336"/>
            <a:ext cx="475488" cy="475488"/>
          </a:xfrm>
          <a:prstGeom prst="rect">
            <a:avLst/>
          </a:prstGeom>
          <a:solidFill>
            <a:srgbClr val="CE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39312" y="26883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39312" y="268833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114800" y="2688336"/>
            <a:ext cx="475488" cy="475488"/>
          </a:xfrm>
          <a:prstGeom prst="rect">
            <a:avLst/>
          </a:prstGeom>
          <a:solidFill>
            <a:srgbClr val="CE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0" y="26883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14800" y="268833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590288" y="2688336"/>
            <a:ext cx="475488" cy="475488"/>
          </a:xfrm>
          <a:prstGeom prst="rect">
            <a:avLst/>
          </a:prstGeom>
          <a:solidFill>
            <a:srgbClr val="CE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90288" y="26883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90288" y="268833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065776" y="2688336"/>
            <a:ext cx="475488" cy="475488"/>
          </a:xfrm>
          <a:prstGeom prst="rect">
            <a:avLst/>
          </a:prstGeom>
          <a:solidFill>
            <a:srgbClr val="CE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065776" y="26883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065776" y="268833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212848" y="3163824"/>
            <a:ext cx="475488" cy="475488"/>
          </a:xfrm>
          <a:prstGeom prst="rect">
            <a:avLst/>
          </a:prstGeom>
          <a:solidFill>
            <a:srgbClr val="DC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212848" y="31638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212848" y="316382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688336" y="3163824"/>
            <a:ext cx="475488" cy="475488"/>
          </a:xfrm>
          <a:prstGeom prst="rect">
            <a:avLst/>
          </a:prstGeom>
          <a:solidFill>
            <a:srgbClr val="DC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688336" y="31638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B6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688336" y="316382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163824" y="3163824"/>
            <a:ext cx="475488" cy="475488"/>
          </a:xfrm>
          <a:prstGeom prst="rect">
            <a:avLst/>
          </a:prstGeom>
          <a:solidFill>
            <a:srgbClr val="DC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163824" y="31638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163824" y="316382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639312" y="3163824"/>
            <a:ext cx="475488" cy="475488"/>
          </a:xfrm>
          <a:prstGeom prst="rect">
            <a:avLst/>
          </a:prstGeom>
          <a:solidFill>
            <a:srgbClr val="E8E7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639312" y="31638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B7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39312" y="316382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114800" y="3163824"/>
            <a:ext cx="475488" cy="475488"/>
          </a:xfrm>
          <a:prstGeom prst="rect">
            <a:avLst/>
          </a:prstGeom>
          <a:solidFill>
            <a:srgbClr val="E8E7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0" y="31638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B7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114800" y="316382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590288" y="3163824"/>
            <a:ext cx="475488" cy="475488"/>
          </a:xfrm>
          <a:prstGeom prst="rect">
            <a:avLst/>
          </a:prstGeom>
          <a:solidFill>
            <a:srgbClr val="E8E7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590288" y="31638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B7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590288" y="316382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065776" y="3163824"/>
            <a:ext cx="475488" cy="475488"/>
          </a:xfrm>
          <a:prstGeom prst="rect">
            <a:avLst/>
          </a:prstGeom>
          <a:solidFill>
            <a:srgbClr val="E8D9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065776" y="31638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B8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065776" y="316382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212848" y="3639312"/>
            <a:ext cx="475488" cy="475488"/>
          </a:xfrm>
          <a:prstGeom prst="rect">
            <a:avLst/>
          </a:prstGeom>
          <a:solidFill>
            <a:srgbClr val="E8D9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212848" y="36393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212848" y="3639312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688336" y="3639312"/>
            <a:ext cx="475488" cy="475488"/>
          </a:xfrm>
          <a:prstGeom prst="rect">
            <a:avLst/>
          </a:prstGeom>
          <a:solidFill>
            <a:srgbClr val="E8D9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688336" y="36393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B8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688336" y="3639312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163824" y="3639312"/>
            <a:ext cx="475488" cy="475488"/>
          </a:xfrm>
          <a:prstGeom prst="rect">
            <a:avLst/>
          </a:prstGeom>
          <a:solidFill>
            <a:srgbClr val="E8D9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163824" y="36393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B8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163824" y="3639312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639312" y="3639312"/>
            <a:ext cx="475488" cy="475488"/>
          </a:xfrm>
          <a:prstGeom prst="rect">
            <a:avLst/>
          </a:prstGeom>
          <a:solidFill>
            <a:srgbClr val="E8CC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639312" y="36393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B9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639312" y="3639312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114800" y="3639312"/>
            <a:ext cx="475488" cy="475488"/>
          </a:xfrm>
          <a:prstGeom prst="rect">
            <a:avLst/>
          </a:prstGeom>
          <a:solidFill>
            <a:srgbClr val="E8CC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114800" y="36393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B9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114800" y="3639312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590288" y="3639312"/>
            <a:ext cx="475488" cy="475488"/>
          </a:xfrm>
          <a:prstGeom prst="rect">
            <a:avLst/>
          </a:prstGeom>
          <a:solidFill>
            <a:srgbClr val="E8C0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590288" y="36393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B10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90288" y="3639312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065776" y="3639312"/>
            <a:ext cx="475488" cy="475488"/>
          </a:xfrm>
          <a:prstGeom prst="rect">
            <a:avLst/>
          </a:prstGeom>
          <a:solidFill>
            <a:srgbClr val="E8C0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065776" y="36393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B10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065776" y="3639312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212848" y="4114800"/>
            <a:ext cx="475488" cy="475488"/>
          </a:xfrm>
          <a:prstGeom prst="rect">
            <a:avLst/>
          </a:prstGeom>
          <a:solidFill>
            <a:srgbClr val="E8B2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2212848" y="41148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B11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212848" y="411480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688336" y="4114800"/>
            <a:ext cx="475488" cy="475488"/>
          </a:xfrm>
          <a:prstGeom prst="rect">
            <a:avLst/>
          </a:prstGeom>
          <a:solidFill>
            <a:srgbClr val="E8B2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688336" y="41148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2688336" y="411480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163824" y="4114800"/>
            <a:ext cx="475488" cy="475488"/>
          </a:xfrm>
          <a:prstGeom prst="rect">
            <a:avLst/>
          </a:prstGeom>
          <a:solidFill>
            <a:srgbClr val="E8B2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163824" y="41148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163824" y="411480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639312" y="4114800"/>
            <a:ext cx="475488" cy="475488"/>
          </a:xfrm>
          <a:prstGeom prst="rect">
            <a:avLst/>
          </a:prstGeom>
          <a:solidFill>
            <a:srgbClr val="E8B2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639312" y="41148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B11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639312" y="411480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114800" y="4114800"/>
            <a:ext cx="475488" cy="475488"/>
          </a:xfrm>
          <a:prstGeom prst="rect">
            <a:avLst/>
          </a:prstGeom>
          <a:solidFill>
            <a:srgbClr val="E8A5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114800" y="41148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B12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4114800" y="411480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4590288" y="4114800"/>
            <a:ext cx="475488" cy="475488"/>
          </a:xfrm>
          <a:prstGeom prst="rect">
            <a:avLst/>
          </a:prstGeom>
          <a:solidFill>
            <a:srgbClr val="E8A5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590288" y="41148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B12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4590288" y="411480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5065776" y="4114800"/>
            <a:ext cx="475488" cy="475488"/>
          </a:xfrm>
          <a:prstGeom prst="rect">
            <a:avLst/>
          </a:prstGeom>
          <a:solidFill>
            <a:srgbClr val="E8A5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065776" y="41148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B12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5065776" y="411480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005839" y="2249424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23433C"/>
                </a:solidFill>
                <a:latin typeface="Segoe UI"/>
              </a:rPr>
              <a:t>Mejor score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05839" y="2441448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F66"/>
                </a:solidFill>
                <a:latin typeface="Consolas"/>
              </a:rPr>
              <a:t>≤ 1.5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39" y="2724912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23433C"/>
                </a:solidFill>
                <a:latin typeface="Segoe UI"/>
              </a:rPr>
              <a:t>Score muy bueno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5839" y="2916936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F66"/>
                </a:solidFill>
                <a:latin typeface="Consolas"/>
              </a:rPr>
              <a:t>(1.5, 2.5]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05839" y="3200400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23433C"/>
                </a:solidFill>
                <a:latin typeface="Segoe UI"/>
              </a:rPr>
              <a:t>Score medio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05839" y="3392424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F66"/>
                </a:solidFill>
                <a:latin typeface="Consolas"/>
              </a:rPr>
              <a:t>(2.5, 3.5]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39" y="3675887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23433C"/>
                </a:solidFill>
                <a:latin typeface="Segoe UI"/>
              </a:rPr>
              <a:t>Score medio–bajo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05839" y="3867912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F66"/>
                </a:solidFill>
                <a:latin typeface="Consolas"/>
              </a:rPr>
              <a:t>(3.5, 4.5]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05839" y="4151376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23433C"/>
                </a:solidFill>
                <a:latin typeface="Segoe UI"/>
              </a:rPr>
              <a:t>Score bajo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05839" y="4343400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F66"/>
                </a:solidFill>
                <a:latin typeface="Consolas"/>
              </a:rPr>
              <a:t>&gt; 4.5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212848" y="4608575"/>
            <a:ext cx="4754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688336" y="4608575"/>
            <a:ext cx="4754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163824" y="4608575"/>
            <a:ext cx="4754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639312" y="4608575"/>
            <a:ext cx="4754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114800" y="4608575"/>
            <a:ext cx="4754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590288" y="4608575"/>
            <a:ext cx="4754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065776" y="4608575"/>
            <a:ext cx="4754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7+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212848" y="4773168"/>
            <a:ext cx="950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5B6F66"/>
                </a:solidFill>
                <a:latin typeface="Segoe UI"/>
              </a:rPr>
              <a:t>seg. bajo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163824" y="4773168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5B6F66"/>
                </a:solidFill>
                <a:latin typeface="Segoe UI"/>
              </a:rPr>
              <a:t>seg. medio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590288" y="4773168"/>
            <a:ext cx="950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5B6F66"/>
                </a:solidFill>
                <a:latin typeface="Segoe UI"/>
              </a:rPr>
              <a:t>seg. alto</a:t>
            </a:r>
          </a:p>
        </p:txBody>
      </p:sp>
      <p:sp>
        <p:nvSpPr>
          <p:cNvPr id="155" name="TextBox 154"/>
          <p:cNvSpPr txBox="1"/>
          <p:nvPr/>
        </p:nvSpPr>
        <p:spPr>
          <a:xfrm rot="16200000">
            <a:off x="109728" y="3291839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07A72"/>
                </a:solidFill>
                <a:latin typeface="Segoe UI"/>
              </a:rPr>
              <a:t>Score Rebank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212848" y="4974336"/>
            <a:ext cx="33284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07A72"/>
                </a:solidFill>
                <a:latin typeface="Segoe UI"/>
              </a:rPr>
              <a:t>bucket Árbol 1 · segmento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212848" y="5166359"/>
            <a:ext cx="33284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5B6F66"/>
                </a:solidFill>
                <a:latin typeface="Segoe UI"/>
              </a:rPr>
              <a:t>segmento bajo → alto  (menor → mayor riesgo)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011667" y="1728216"/>
            <a:ext cx="315285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07A72"/>
                </a:solidFill>
                <a:latin typeface="Segoe UI"/>
              </a:rPr>
              <a:t>Saldo Pasivo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011667" y="1883664"/>
            <a:ext cx="31528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B6F66"/>
                </a:solidFill>
                <a:latin typeface="Segoe UI"/>
              </a:rPr>
              <a:t>▲ alto (&gt; 349.07)  ·  ▼ bajo (≤ 349.07)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446520" y="1600200"/>
            <a:ext cx="5120640" cy="713232"/>
          </a:xfrm>
          <a:prstGeom prst="roundRect">
            <a:avLst>
              <a:gd name="adj" fmla="val 10256"/>
            </a:avLst>
          </a:prstGeom>
          <a:solidFill>
            <a:srgbClr val="F5FAF7"/>
          </a:solidFill>
          <a:ln w="12700">
            <a:solidFill>
              <a:srgbClr val="E3E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6565392" y="1719072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384048" h="384048">
                <a:moveTo>
                  <a:pt x="0" y="0"/>
                </a:moveTo>
                <a:lnTo>
                  <a:pt x="384048" y="0"/>
                </a:lnTo>
                <a:lnTo>
                  <a:pt x="384048" y="384048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6565392" y="1719072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384048" h="384048">
                <a:moveTo>
                  <a:pt x="0" y="0"/>
                </a:moveTo>
                <a:lnTo>
                  <a:pt x="0" y="384048"/>
                </a:lnTo>
                <a:lnTo>
                  <a:pt x="384048" y="384048"/>
                </a:lnTo>
                <a:close/>
              </a:path>
            </a:pathLst>
          </a:custGeom>
          <a:solidFill>
            <a:srgbClr val="CE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6565392" y="1719072"/>
            <a:ext cx="384048" cy="38404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7050024" y="1673352"/>
            <a:ext cx="440740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14271D"/>
                </a:solidFill>
                <a:latin typeface="Segoe UI"/>
              </a:rPr>
              <a:t>La profundidad del cubo es el Saldo Pasivo. Si cambia el resultado, la casilla se parte en diagonal:  </a:t>
            </a:r>
            <a:r>
              <a:rPr sz="950" b="1">
                <a:solidFill>
                  <a:srgbClr val="14271D"/>
                </a:solidFill>
                <a:latin typeface="Segoe UI"/>
              </a:rPr>
              <a:t>▲ Saldo Pasivo alto</a:t>
            </a:r>
            <a:r>
              <a:rPr sz="950" b="0">
                <a:solidFill>
                  <a:srgbClr val="5B6F66"/>
                </a:solidFill>
                <a:latin typeface="Segoe UI"/>
              </a:rPr>
              <a:t> (&gt; 349.07)  ·  </a:t>
            </a:r>
            <a:r>
              <a:rPr sz="950" b="1">
                <a:solidFill>
                  <a:srgbClr val="14271D"/>
                </a:solidFill>
                <a:latin typeface="Segoe UI"/>
              </a:rPr>
              <a:t>▼ Saldo Pasivo bajo</a:t>
            </a:r>
            <a:r>
              <a:rPr sz="950" b="0">
                <a:solidFill>
                  <a:srgbClr val="5B6F66"/>
                </a:solidFill>
                <a:latin typeface="Segoe UI"/>
              </a:rPr>
              <a:t> (≤ 349.07)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46520" y="2386584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5130"/>
                </a:solidFill>
                <a:latin typeface="Segoe UI"/>
              </a:rPr>
              <a:t>Bucket final → ¿qué cliente es?</a:t>
            </a:r>
          </a:p>
        </p:txBody>
      </p:sp>
      <p:graphicFrame>
        <p:nvGraphicFramePr>
          <p:cNvPr id="166" name="Table 165"/>
          <p:cNvGraphicFramePr>
            <a:graphicFrameLocks noGrp="1"/>
          </p:cNvGraphicFramePr>
          <p:nvPr/>
        </p:nvGraphicFramePr>
        <p:xfrm>
          <a:off x="6446520" y="2606040"/>
          <a:ext cx="5120639" cy="27980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"/>
                <a:gridCol w="566928"/>
                <a:gridCol w="4169663"/>
              </a:tblGrid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4.55%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Mejor score · Saldo Pasivo alto · mejor segmento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7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5.55%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Mejor score · Saldo Pasivo alto · segmento alto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6.69%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Mejor score · Saldo Pasivo bajo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10.13%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muy bueno · segmento bajo–medio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E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11.51%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muy bueno · segmento alto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13.40%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 · segmento bajo–medio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12.67%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 · segmento alto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9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17.13%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medio–bajo · segmento bajo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C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17.69%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medio–bajo · segmento medio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0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19.63%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medio–bajo · segmento alto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36.96%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bajo · segmento bajo–medio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40.82%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bajo · segmento alto → máximo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67" name="TextBox 166"/>
          <p:cNvSpPr txBox="1"/>
          <p:nvPr/>
        </p:nvSpPr>
        <p:spPr>
          <a:xfrm>
            <a:off x="6446520" y="545896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F5130"/>
                </a:solidFill>
                <a:latin typeface="Segoe UI"/>
              </a:rPr>
              <a:t>Orden por riesgo: </a:t>
            </a:r>
            <a:r>
              <a:rPr sz="1000" b="0">
                <a:solidFill>
                  <a:srgbClr val="5B6F66"/>
                </a:solidFill>
                <a:latin typeface="Segoe UI"/>
              </a:rPr>
              <a:t>domina el Score Rebank; dentro de cada tramo de score sube el segmento del Árbol 1.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420624" y="6419088"/>
            <a:ext cx="11350447" cy="10972"/>
          </a:xfrm>
          <a:prstGeom prst="rect">
            <a:avLst/>
          </a:prstGeom>
          <a:solidFill>
            <a:srgbClr val="E3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420624" y="6473952"/>
            <a:ext cx="113504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26603A"/>
                </a:solidFill>
                <a:latin typeface="Segoe UI"/>
              </a:rPr>
              <a:t>Score Rebank:</a:t>
            </a:r>
            <a:r>
              <a:rPr sz="800" b="0">
                <a:solidFill>
                  <a:srgbClr val="9AA6A0"/>
                </a:solidFill>
                <a:latin typeface="Segoe UI"/>
              </a:rPr>
              <a:t> puntuacion_cal_cat (1–6) · bucket Árbol 1: bucket (ordinal) · Saldo Pasivo: saldo_prom_tot_pasivo_u3m.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Umbral Saldo Pasivo:</a:t>
            </a:r>
            <a:r>
              <a:rPr sz="800" b="0">
                <a:solidFill>
                  <a:srgbClr val="9AA6A0"/>
                </a:solidFill>
                <a:latin typeface="Segoe UI"/>
              </a:rPr>
              <a:t> 349.07.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219456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5130"/>
                </a:solidFill>
                <a:latin typeface="Segoe UI"/>
              </a:rPr>
              <a:t>Buckets Árbol 2 · 5 años </a:t>
            </a:r>
            <a:r>
              <a:rPr sz="2400" b="1">
                <a:solidFill>
                  <a:srgbClr val="9AA6A0"/>
                </a:solidFill>
                <a:latin typeface="Segoe UI"/>
              </a:rPr>
              <a:t>| Tasa de riesgo y distribución V1 / V2 / 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94944"/>
            <a:ext cx="9509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F66"/>
                </a:solidFill>
                <a:latin typeface="Segoe UI"/>
              </a:rPr>
              <a:t>Escenario 5años_sinedad_4 · 12 buckets sobre 16 estrategias del Árbol 2 (3 variables) · verde = menor riesgo, rojo = mayor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85071" y="237744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85071" y="23774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AA44C"/>
                </a:solidFill>
                <a:latin typeface="Segoe UI"/>
              </a:rPr>
              <a:t>●  </a:t>
            </a:r>
            <a:r>
              <a:rPr sz="1100" b="1">
                <a:solidFill>
                  <a:srgbClr val="1F5130"/>
                </a:solidFill>
                <a:latin typeface="Segoe UI"/>
              </a:rPr>
              <a:t>5años_sinedad_4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243584"/>
            <a:ext cx="4160520" cy="32004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0624" y="1243584"/>
            <a:ext cx="4160520" cy="310896"/>
          </a:xfrm>
          <a:prstGeom prst="roundRect">
            <a:avLst>
              <a:gd name="adj" fmla="val 35294"/>
            </a:avLst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624" y="1435608"/>
            <a:ext cx="4160520" cy="118872"/>
          </a:xfrm>
          <a:prstGeom prst="rect">
            <a:avLst/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243584"/>
            <a:ext cx="3886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Tasa de riesgo por bucket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618488"/>
          <a:ext cx="3904487" cy="26197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"/>
                <a:gridCol w="868680"/>
                <a:gridCol w="621792"/>
                <a:gridCol w="621792"/>
                <a:gridCol w="658368"/>
                <a:gridCol w="768095"/>
              </a:tblGrid>
              <a:tr h="182880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Buck.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Estrat.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Tasa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Prob.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N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% tot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7.15%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28.2%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3,733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8.2%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7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8.14%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31.4%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835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1.8%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8.70%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33.5%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7,078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15.6%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9.42%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35.2%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1,507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3.3%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E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13.36%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39.6%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6,317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13.9%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13.53%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39.8%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931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13.17%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40.1%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1,154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2.5%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9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8, 9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17.07%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44.8%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5,084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11.2%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C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18.13%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44.9%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695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1.5%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0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19.10%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1,225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2.7%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12–14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36.89%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51.5%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12,137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26.7%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15, 16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39.68%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52.1%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4,763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084B44"/>
                          </a:solidFill>
                          <a:latin typeface="Segoe UI"/>
                        </a:rPr>
                        <a:t>Tot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16 estr.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21.58%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42.7%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45,459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736592" y="1243584"/>
            <a:ext cx="3346704" cy="32004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36592" y="1243584"/>
            <a:ext cx="3346704" cy="310896"/>
          </a:xfrm>
          <a:prstGeom prst="roundRect">
            <a:avLst>
              <a:gd name="adj" fmla="val 35294"/>
            </a:avLst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36592" y="1435608"/>
            <a:ext cx="3346704" cy="118872"/>
          </a:xfrm>
          <a:prstGeom prst="rect">
            <a:avLst/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3752" y="124358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· Base inicial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864607" y="1618488"/>
          <a:ext cx="3090672" cy="26197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"/>
                <a:gridCol w="868680"/>
                <a:gridCol w="548640"/>
                <a:gridCol w="658368"/>
                <a:gridCol w="649224"/>
              </a:tblGrid>
              <a:tr h="182880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Buck.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Cantidad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Prob.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score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20,304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1.2%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28.2%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718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7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28,500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1.7%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31.5%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685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140,065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8.3%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33.5%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664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187,958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11.1%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35.2%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647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E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114,041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6.7%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39.6%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603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289,713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17.1%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39.8%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602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278,690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16.4%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40.1%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598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9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86,512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42.1%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579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C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111,032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6.5%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44.9%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550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0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147,087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8.7%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549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70,579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4.2%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47.8%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522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223,194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13.1%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52.2%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478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084B44"/>
                          </a:solidFill>
                          <a:latin typeface="Segoe UI"/>
                        </a:rPr>
                        <a:t>Tot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1,697,675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41.4%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586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8238744" y="1243584"/>
            <a:ext cx="3529584" cy="32004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38744" y="1243584"/>
            <a:ext cx="3529584" cy="310896"/>
          </a:xfrm>
          <a:prstGeom prst="roundRect">
            <a:avLst>
              <a:gd name="adj" fmla="val 35294"/>
            </a:avLst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38744" y="1435608"/>
            <a:ext cx="3529584" cy="118872"/>
          </a:xfrm>
          <a:prstGeom prst="rect">
            <a:avLst/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1243584"/>
            <a:ext cx="32552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· Fuera de campaña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8366760" y="1618488"/>
          <a:ext cx="3273552" cy="26197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"/>
                <a:gridCol w="868680"/>
                <a:gridCol w="548640"/>
                <a:gridCol w="658368"/>
                <a:gridCol w="832104"/>
              </a:tblGrid>
              <a:tr h="182880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Buck.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Cantidad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Prob.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score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17,656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28.7%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713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7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27,642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1.7%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31.6%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684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117,373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33.9%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660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177,463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10.8%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35.3%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647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E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110,285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6.7%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39.6%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603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285,437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17.3%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39.8%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602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276,720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16.8%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40.1%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598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9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85,882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5.2%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42.1%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578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C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110,728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6.7%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44.9%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550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0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146,876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8.9%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549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70,510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4.3%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47.8%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522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223,102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13.5%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52.2%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478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084B44"/>
                          </a:solidFill>
                          <a:latin typeface="Segoe UI"/>
                        </a:rPr>
                        <a:t>Tot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1,649,674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41.6%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583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420624" y="4553712"/>
            <a:ext cx="11347704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0624" y="4553712"/>
            <a:ext cx="11347704" cy="310896"/>
          </a:xfrm>
          <a:prstGeom prst="roundRect">
            <a:avLst>
              <a:gd name="adj" fmla="val 35294"/>
            </a:avLst>
          </a:prstGeom>
          <a:solidFill>
            <a:srgbClr val="3A7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0624" y="4745736"/>
            <a:ext cx="11347704" cy="118872"/>
          </a:xfrm>
          <a:prstGeom prst="rect">
            <a:avLst/>
          </a:prstGeom>
          <a:solidFill>
            <a:srgbClr val="3A7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7784" y="4553712"/>
            <a:ext cx="11073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· Base de campañas</a:t>
            </a:r>
            <a:r>
              <a:rPr sz="1050" b="0">
                <a:solidFill>
                  <a:srgbClr val="FFFFFF"/>
                </a:solidFill>
                <a:latin typeface="Segoe UI"/>
              </a:rPr>
              <a:t>   · periodo 20260624 · tipo × bucket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48640" y="4928616"/>
          <a:ext cx="11091672" cy="8961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661416"/>
                <a:gridCol w="661416"/>
                <a:gridCol w="661416"/>
                <a:gridCol w="661416"/>
                <a:gridCol w="661416"/>
                <a:gridCol w="661416"/>
                <a:gridCol w="661416"/>
                <a:gridCol w="661416"/>
                <a:gridCol w="661416"/>
                <a:gridCol w="661416"/>
                <a:gridCol w="661416"/>
                <a:gridCol w="661416"/>
                <a:gridCol w="822960"/>
              </a:tblGrid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tipo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0A5A52"/>
                          </a:solidFill>
                          <a:latin typeface="Segoe UI"/>
                        </a:rPr>
                        <a:t>Total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3433C"/>
                          </a:solidFill>
                          <a:latin typeface="Segoe UI"/>
                        </a:rPr>
                        <a:t>TC_CMP_EST_5A_CAST_T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1,234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6,893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1,967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267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961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119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1,370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A5A52"/>
                          </a:solidFill>
                          <a:latin typeface="Segoe UI"/>
                        </a:rPr>
                        <a:t>12,811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3433C"/>
                          </a:solidFill>
                          <a:latin typeface="Segoe UI"/>
                        </a:rPr>
                        <a:t>TC_CMP_EST_CAS_5A_IC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1,124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642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7,044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5,434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2,051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3,216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1,306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837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930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420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1,930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3,642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A5A52"/>
                          </a:solidFill>
                          <a:latin typeface="Segoe UI"/>
                        </a:rPr>
                        <a:t>28,576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Total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2,358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642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13,937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5,434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4,018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3,483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1,306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1,798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1,049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420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3,300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3,642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41,387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420624" y="6419088"/>
            <a:ext cx="11350447" cy="10972"/>
          </a:xfrm>
          <a:prstGeom prst="rect">
            <a:avLst/>
          </a:prstGeom>
          <a:solidFill>
            <a:srgbClr val="E3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" y="6473952"/>
            <a:ext cx="113504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26603A"/>
                </a:solidFill>
                <a:latin typeface="Segoe UI"/>
              </a:rPr>
              <a:t>Tasa malos:</a:t>
            </a:r>
            <a:r>
              <a:rPr sz="800" b="0">
                <a:solidFill>
                  <a:srgbClr val="9AA6A0"/>
                </a:solidFill>
                <a:latin typeface="Segoe UI"/>
              </a:rPr>
              <a:t> % de target_60_12m=1 en la base de modelamiento (RD, n=45,459).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V1:</a:t>
            </a:r>
            <a:r>
              <a:rPr sz="800" b="0">
                <a:solidFill>
                  <a:srgbClr val="9AA6A0"/>
                </a:solidFill>
                <a:latin typeface="Segoe UI"/>
              </a:rPr>
              <a:t> base de campañas por tipo (20260624) · V2: base de generación · V3: fuera de campaña.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Prob. / score:</a:t>
            </a:r>
            <a:r>
              <a:rPr sz="800" b="0">
                <a:solidFill>
                  <a:srgbClr val="9AA6A0"/>
                </a:solidFill>
                <a:latin typeface="Segoe UI"/>
              </a:rPr>
              <a:t> promedios por bucket.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219456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5130"/>
                </a:solidFill>
                <a:latin typeface="Segoe UI"/>
              </a:rPr>
              <a:t>Buckets Árbol 2 · 5 años </a:t>
            </a:r>
            <a:r>
              <a:rPr sz="2400" b="1">
                <a:solidFill>
                  <a:srgbClr val="9AA6A0"/>
                </a:solidFill>
                <a:latin typeface="Segoe UI"/>
              </a:rPr>
              <a:t>| Reglas por bucket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94944"/>
            <a:ext cx="9509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F66"/>
                </a:solidFill>
                <a:latin typeface="Segoe UI"/>
              </a:rPr>
              <a:t>Escenario 5años_sinedad_4 · 16 estrategias del Árbol 2 · cada regla = una hoja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85071" y="237744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85071" y="23774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AA44C"/>
                </a:solidFill>
                <a:latin typeface="Segoe UI"/>
              </a:rPr>
              <a:t>●  </a:t>
            </a:r>
            <a:r>
              <a:rPr sz="1100" b="1">
                <a:solidFill>
                  <a:srgbClr val="1F5130"/>
                </a:solidFill>
                <a:latin typeface="Segoe UI"/>
              </a:rPr>
              <a:t>5años_sinedad_4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188720"/>
            <a:ext cx="11347704" cy="4892040"/>
          </a:xfrm>
          <a:prstGeom prst="roundRect">
            <a:avLst>
              <a:gd name="adj" fmla="val 2242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0624" y="1188720"/>
            <a:ext cx="11347704" cy="310896"/>
          </a:xfrm>
          <a:prstGeom prst="roundRect">
            <a:avLst>
              <a:gd name="adj" fmla="val 35294"/>
            </a:avLst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624" y="1380744"/>
            <a:ext cx="11347704" cy="118872"/>
          </a:xfrm>
          <a:prstGeom prst="rect">
            <a:avLst/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188720"/>
            <a:ext cx="11073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Reglas (estrategia → condición → tasa de malos)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563624"/>
          <a:ext cx="11091672" cy="44622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"/>
                <a:gridCol w="274320"/>
                <a:gridCol w="8915400"/>
                <a:gridCol w="566928"/>
                <a:gridCol w="457200"/>
                <a:gridCol w="566928"/>
              </a:tblGrid>
              <a:tr h="219456"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Bk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Regla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Tasa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N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2.5 &amp; saldo &gt; 220.89 &amp; bk ≤ 4.5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7.2%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8.2%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3,733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7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2.5 &amp; saldo &gt; 220.89 &amp; bk &gt; 4.5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8.1%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1.8%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835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2.5 &amp; saldo ≤ 220.89 &amp; bk ≤ 4.5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8.7%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15.6%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7,078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2.5 &amp; saldo ≤ 220.89 &amp; bk &gt; 4.5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9.4%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1,507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E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≤ 3.5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13.4%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13.9%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6,317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(3.5, 5.5]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13.5%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931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(5.5, 6.5]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13.2%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1,154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9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&gt; 6.5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50%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9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≤ 3.5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17.1%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11.2%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5,082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C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(3.5, 5.5]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18.1%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695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0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(5.5, 6.5]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19.1%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2.7%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1,225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&gt; 6.5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&gt; 4.5 &amp; bk ≤ 3.5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36.9%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26.6%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12,108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&gt; 4.5 &amp; bk (3.5, 4.5]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32.1%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&gt; 4.5 &amp; bk (4.5, 6.5]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39.7%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4,757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&gt; 4.5 &amp; bk &gt; 6.5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16.7%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20624" y="6419088"/>
            <a:ext cx="11350447" cy="10972"/>
          </a:xfrm>
          <a:prstGeom prst="rect">
            <a:avLst/>
          </a:prstGeom>
          <a:solidFill>
            <a:srgbClr val="E3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" y="6473952"/>
            <a:ext cx="113504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26603A"/>
                </a:solidFill>
                <a:latin typeface="Segoe UI"/>
              </a:rPr>
              <a:t>pcc</a:t>
            </a:r>
            <a:r>
              <a:rPr sz="800" b="0">
                <a:solidFill>
                  <a:srgbClr val="9AA6A0"/>
                </a:solidFill>
                <a:latin typeface="Segoe UI"/>
              </a:rPr>
              <a:t> = puntuacion_cal_cat (Score Rebank) · saldo = saldo_prom_tot_pasivo_u3m (Saldo Pasivo) · bk = bucket (Árbol 1).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Bk:</a:t>
            </a:r>
            <a:r>
              <a:rPr sz="800" b="0">
                <a:solidFill>
                  <a:srgbClr val="9AA6A0"/>
                </a:solidFill>
                <a:latin typeface="Segoe UI"/>
              </a:rPr>
              <a:t> bucket final · %: % del total · N: clientes.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219456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5130"/>
                </a:solidFill>
                <a:latin typeface="Segoe UI"/>
              </a:rPr>
              <a:t>Buckets Árbol 2 · 5 años </a:t>
            </a:r>
            <a:r>
              <a:rPr sz="2400" b="1">
                <a:solidFill>
                  <a:srgbClr val="9AA6A0"/>
                </a:solidFill>
                <a:latin typeface="Segoe UI"/>
              </a:rPr>
              <a:t>| Cubo de reglas (3 variables)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94944"/>
            <a:ext cx="9509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F66"/>
                </a:solidFill>
                <a:latin typeface="Segoe UI"/>
              </a:rPr>
              <a:t>Las 16 reglas en 3 variables: </a:t>
            </a:r>
            <a:r>
              <a:rPr sz="1100" b="1">
                <a:solidFill>
                  <a:srgbClr val="5B6F66"/>
                </a:solidFill>
                <a:latin typeface="Segoe UI"/>
              </a:rPr>
              <a:t>Score Rebank × bucket Árbol 1 × Saldo Pasivo</a:t>
            </a:r>
            <a:r>
              <a:rPr sz="1100" b="0">
                <a:solidFill>
                  <a:srgbClr val="5B6F66"/>
                </a:solidFill>
                <a:latin typeface="Segoe UI"/>
              </a:rPr>
              <a:t> → color = bucket final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85071" y="237744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85071" y="23774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AA44C"/>
                </a:solidFill>
                <a:latin typeface="Segoe UI"/>
              </a:rPr>
              <a:t>●  </a:t>
            </a:r>
            <a:r>
              <a:rPr sz="1100" b="1">
                <a:solidFill>
                  <a:srgbClr val="1F5130"/>
                </a:solidFill>
                <a:latin typeface="Segoe UI"/>
              </a:rPr>
              <a:t>5años_sinedad_4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225296"/>
            <a:ext cx="11347704" cy="4736592"/>
          </a:xfrm>
          <a:prstGeom prst="roundRect">
            <a:avLst>
              <a:gd name="adj" fmla="val 2316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0624" y="1225296"/>
            <a:ext cx="11347704" cy="310896"/>
          </a:xfrm>
          <a:prstGeom prst="roundRect">
            <a:avLst>
              <a:gd name="adj" fmla="val 35294"/>
            </a:avLst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624" y="1417320"/>
            <a:ext cx="11347704" cy="118872"/>
          </a:xfrm>
          <a:prstGeom prst="rect">
            <a:avLst/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225296"/>
            <a:ext cx="11073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Mapa de reglas en el cubo</a:t>
            </a:r>
            <a:r>
              <a:rPr sz="1050" b="0">
                <a:solidFill>
                  <a:srgbClr val="FFFFFF"/>
                </a:solidFill>
                <a:latin typeface="Segoe UI"/>
              </a:rPr>
              <a:t>   · cara = Score Rebank × bucket Árbol 1 · profundidad = Saldo Pasivo</a:t>
            </a:r>
          </a:p>
        </p:txBody>
      </p:sp>
      <p:sp>
        <p:nvSpPr>
          <p:cNvPr id="10" name="Freeform 9"/>
          <p:cNvSpPr/>
          <p:nvPr/>
        </p:nvSpPr>
        <p:spPr>
          <a:xfrm>
            <a:off x="2212848" y="2057400"/>
            <a:ext cx="2596896" cy="155448"/>
          </a:xfrm>
          <a:custGeom>
            <a:avLst/>
            <a:gdLst/>
            <a:ahLst/>
            <a:cxnLst/>
            <a:rect l="l" t="t" r="r" b="b"/>
            <a:pathLst>
              <a:path w="2596896" h="155448">
                <a:moveTo>
                  <a:pt x="0" y="155448"/>
                </a:moveTo>
                <a:lnTo>
                  <a:pt x="2377440" y="155448"/>
                </a:lnTo>
                <a:lnTo>
                  <a:pt x="2596896" y="0"/>
                </a:lnTo>
                <a:lnTo>
                  <a:pt x="219456" y="0"/>
                </a:lnTo>
                <a:close/>
              </a:path>
            </a:pathLst>
          </a:custGeom>
          <a:solidFill>
            <a:srgbClr val="E8EFEC"/>
          </a:solidFill>
          <a:ln w="9525">
            <a:solidFill>
              <a:srgbClr val="CD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4590288" y="2057400"/>
            <a:ext cx="219456" cy="2057400"/>
          </a:xfrm>
          <a:custGeom>
            <a:avLst/>
            <a:gdLst/>
            <a:ahLst/>
            <a:cxnLst/>
            <a:rect l="l" t="t" r="r" b="b"/>
            <a:pathLst>
              <a:path w="219456" h="2057400">
                <a:moveTo>
                  <a:pt x="0" y="155448"/>
                </a:moveTo>
                <a:lnTo>
                  <a:pt x="0" y="2057400"/>
                </a:lnTo>
                <a:lnTo>
                  <a:pt x="219456" y="1901952"/>
                </a:lnTo>
                <a:lnTo>
                  <a:pt x="219456" y="0"/>
                </a:lnTo>
                <a:close/>
              </a:path>
            </a:pathLst>
          </a:custGeom>
          <a:solidFill>
            <a:srgbClr val="DDE6E2"/>
          </a:solidFill>
          <a:ln w="9525">
            <a:solidFill>
              <a:srgbClr val="CD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2212848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5E8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2212848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03043" y="2231867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2357" y="2498140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12848" y="221284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88336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5E8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688336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78531" y="2231867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845" y="2498140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88336" y="221284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163824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7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163824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C1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54019" y="2231867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73333" y="2498140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63824" y="221284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3639312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7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3639312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C1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29507" y="2231867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48821" y="2498140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39312" y="221284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4114800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7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4114800" y="221284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C1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04995" y="2231867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24309" y="2498140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0" y="221284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212848" y="2688336"/>
            <a:ext cx="475488" cy="475488"/>
          </a:xfrm>
          <a:prstGeom prst="rect">
            <a:avLst/>
          </a:prstGeom>
          <a:solidFill>
            <a:srgbClr val="CE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12848" y="26883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12848" y="268833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688336" y="2688336"/>
            <a:ext cx="475488" cy="475488"/>
          </a:xfrm>
          <a:prstGeom prst="rect">
            <a:avLst/>
          </a:prstGeom>
          <a:solidFill>
            <a:srgbClr val="DC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88336" y="26883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88336" y="268833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163824" y="2688336"/>
            <a:ext cx="475488" cy="475488"/>
          </a:xfrm>
          <a:prstGeom prst="rect">
            <a:avLst/>
          </a:prstGeom>
          <a:solidFill>
            <a:srgbClr val="DC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63824" y="26883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3824" y="268833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639312" y="2688336"/>
            <a:ext cx="475488" cy="475488"/>
          </a:xfrm>
          <a:prstGeom prst="rect">
            <a:avLst/>
          </a:prstGeom>
          <a:solidFill>
            <a:srgbClr val="E8E7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39312" y="26883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39312" y="268833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114800" y="2688336"/>
            <a:ext cx="475488" cy="475488"/>
          </a:xfrm>
          <a:prstGeom prst="rect">
            <a:avLst/>
          </a:prstGeom>
          <a:solidFill>
            <a:srgbClr val="E8D9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0" y="26883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0" y="268833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212848" y="3163824"/>
            <a:ext cx="475488" cy="475488"/>
          </a:xfrm>
          <a:prstGeom prst="rect">
            <a:avLst/>
          </a:prstGeom>
          <a:solidFill>
            <a:srgbClr val="E8D9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212848" y="31638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12848" y="316382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688336" y="3163824"/>
            <a:ext cx="475488" cy="475488"/>
          </a:xfrm>
          <a:prstGeom prst="rect">
            <a:avLst/>
          </a:prstGeom>
          <a:solidFill>
            <a:srgbClr val="E8CC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688336" y="31638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688336" y="316382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163824" y="3163824"/>
            <a:ext cx="475488" cy="475488"/>
          </a:xfrm>
          <a:prstGeom prst="rect">
            <a:avLst/>
          </a:prstGeom>
          <a:solidFill>
            <a:srgbClr val="E8CC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163824" y="31638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163824" y="316382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639312" y="3163824"/>
            <a:ext cx="475488" cy="475488"/>
          </a:xfrm>
          <a:prstGeom prst="rect">
            <a:avLst/>
          </a:prstGeom>
          <a:solidFill>
            <a:srgbClr val="E8C0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39312" y="31638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39312" y="316382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114800" y="3163824"/>
            <a:ext cx="475488" cy="475488"/>
          </a:xfrm>
          <a:prstGeom prst="rect">
            <a:avLst/>
          </a:prstGeom>
          <a:solidFill>
            <a:srgbClr val="E8B2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114800" y="31638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0" y="316382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212848" y="3639312"/>
            <a:ext cx="475488" cy="475488"/>
          </a:xfrm>
          <a:prstGeom prst="rect">
            <a:avLst/>
          </a:prstGeom>
          <a:solidFill>
            <a:srgbClr val="E8B2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212848" y="36393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12848" y="3639312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688336" y="3639312"/>
            <a:ext cx="475488" cy="475488"/>
          </a:xfrm>
          <a:prstGeom prst="rect">
            <a:avLst/>
          </a:prstGeom>
          <a:solidFill>
            <a:srgbClr val="E8B2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688336" y="36393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688336" y="3639312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163824" y="3639312"/>
            <a:ext cx="475488" cy="475488"/>
          </a:xfrm>
          <a:prstGeom prst="rect">
            <a:avLst/>
          </a:prstGeom>
          <a:solidFill>
            <a:srgbClr val="E8A5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163824" y="36393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163824" y="3639312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639312" y="3639312"/>
            <a:ext cx="475488" cy="475488"/>
          </a:xfrm>
          <a:prstGeom prst="rect">
            <a:avLst/>
          </a:prstGeom>
          <a:solidFill>
            <a:srgbClr val="E8A5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39312" y="36393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39312" y="3639312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114800" y="3639312"/>
            <a:ext cx="475488" cy="475488"/>
          </a:xfrm>
          <a:prstGeom prst="rect">
            <a:avLst/>
          </a:prstGeom>
          <a:solidFill>
            <a:srgbClr val="E8A5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114800" y="36393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114800" y="3639312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05839" y="2249424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23433C"/>
                </a:solidFill>
                <a:latin typeface="Segoe UI"/>
              </a:rPr>
              <a:t>Mejor score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05839" y="2441448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F66"/>
                </a:solidFill>
                <a:latin typeface="Consolas"/>
              </a:rPr>
              <a:t>≤ 2.5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05839" y="2724912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23433C"/>
                </a:solidFill>
                <a:latin typeface="Segoe UI"/>
              </a:rPr>
              <a:t>Score medio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05839" y="2916936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F66"/>
                </a:solidFill>
                <a:latin typeface="Consolas"/>
              </a:rPr>
              <a:t>(2.5, 3.5]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5839" y="3200400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23433C"/>
                </a:solidFill>
                <a:latin typeface="Segoe UI"/>
              </a:rPr>
              <a:t>Score medio–bajo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05839" y="3392424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F66"/>
                </a:solidFill>
                <a:latin typeface="Consolas"/>
              </a:rPr>
              <a:t>(3.5, 4.5]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05839" y="3675887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23433C"/>
                </a:solidFill>
                <a:latin typeface="Segoe UI"/>
              </a:rPr>
              <a:t>Score bajo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05839" y="3867912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F66"/>
                </a:solidFill>
                <a:latin typeface="Consolas"/>
              </a:rPr>
              <a:t>&gt; 4.5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212848" y="4133087"/>
            <a:ext cx="4754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≤3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688336" y="4133087"/>
            <a:ext cx="4754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163824" y="4133087"/>
            <a:ext cx="4754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9312" y="4133087"/>
            <a:ext cx="4754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114800" y="4133087"/>
            <a:ext cx="4754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7+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212848" y="4297680"/>
            <a:ext cx="950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5B6F66"/>
                </a:solidFill>
                <a:latin typeface="Segoe UI"/>
              </a:rPr>
              <a:t>seg. bajo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163824" y="4297680"/>
            <a:ext cx="4754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5B6F66"/>
                </a:solidFill>
                <a:latin typeface="Segoe UI"/>
              </a:rPr>
              <a:t>seg. medio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39312" y="4297680"/>
            <a:ext cx="950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5B6F66"/>
                </a:solidFill>
                <a:latin typeface="Segoe UI"/>
              </a:rPr>
              <a:t>seg. alto</a:t>
            </a:r>
          </a:p>
        </p:txBody>
      </p:sp>
      <p:sp>
        <p:nvSpPr>
          <p:cNvPr id="98" name="TextBox 97"/>
          <p:cNvSpPr txBox="1"/>
          <p:nvPr/>
        </p:nvSpPr>
        <p:spPr>
          <a:xfrm rot="16200000">
            <a:off x="109728" y="3054096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07A72"/>
                </a:solidFill>
                <a:latin typeface="Segoe UI"/>
              </a:rPr>
              <a:t>Score Rebank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212848" y="4498848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07A72"/>
                </a:solidFill>
                <a:latin typeface="Segoe UI"/>
              </a:rPr>
              <a:t>bucket Árbol 1 · segmento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212848" y="4690872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5B6F66"/>
                </a:solidFill>
                <a:latin typeface="Segoe UI"/>
              </a:rPr>
              <a:t>segmento bajo → alto  (menor → mayor riesgo)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783433" y="1728216"/>
            <a:ext cx="24871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07A72"/>
                </a:solidFill>
                <a:latin typeface="Segoe UI"/>
              </a:rPr>
              <a:t>Saldo Pasivo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783433" y="1883664"/>
            <a:ext cx="24871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B6F66"/>
                </a:solidFill>
                <a:latin typeface="Segoe UI"/>
              </a:rPr>
              <a:t>▲ alto (&gt; 220.89)  ·  ▼ bajo (≤ 220.89)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446520" y="1600200"/>
            <a:ext cx="5120640" cy="713232"/>
          </a:xfrm>
          <a:prstGeom prst="roundRect">
            <a:avLst>
              <a:gd name="adj" fmla="val 10256"/>
            </a:avLst>
          </a:prstGeom>
          <a:solidFill>
            <a:srgbClr val="F5FAF7"/>
          </a:solidFill>
          <a:ln w="12700">
            <a:solidFill>
              <a:srgbClr val="E3E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6565392" y="1719072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384048" h="384048">
                <a:moveTo>
                  <a:pt x="0" y="0"/>
                </a:moveTo>
                <a:lnTo>
                  <a:pt x="384048" y="0"/>
                </a:lnTo>
                <a:lnTo>
                  <a:pt x="384048" y="384048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6565392" y="1719072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384048" h="384048">
                <a:moveTo>
                  <a:pt x="0" y="0"/>
                </a:moveTo>
                <a:lnTo>
                  <a:pt x="0" y="384048"/>
                </a:lnTo>
                <a:lnTo>
                  <a:pt x="384048" y="384048"/>
                </a:lnTo>
                <a:close/>
              </a:path>
            </a:pathLst>
          </a:custGeom>
          <a:solidFill>
            <a:srgbClr val="CE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565392" y="1719072"/>
            <a:ext cx="384048" cy="38404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050024" y="1673352"/>
            <a:ext cx="440740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14271D"/>
                </a:solidFill>
                <a:latin typeface="Segoe UI"/>
              </a:rPr>
              <a:t>La profundidad del cubo es el Saldo Pasivo. Si cambia el resultado, la casilla se parte en diagonal:  </a:t>
            </a:r>
            <a:r>
              <a:rPr sz="950" b="1">
                <a:solidFill>
                  <a:srgbClr val="14271D"/>
                </a:solidFill>
                <a:latin typeface="Segoe UI"/>
              </a:rPr>
              <a:t>▲ Saldo Pasivo alto</a:t>
            </a:r>
            <a:r>
              <a:rPr sz="950" b="0">
                <a:solidFill>
                  <a:srgbClr val="5B6F66"/>
                </a:solidFill>
                <a:latin typeface="Segoe UI"/>
              </a:rPr>
              <a:t> (&gt; 220.89)  ·  </a:t>
            </a:r>
            <a:r>
              <a:rPr sz="950" b="1">
                <a:solidFill>
                  <a:srgbClr val="14271D"/>
                </a:solidFill>
                <a:latin typeface="Segoe UI"/>
              </a:rPr>
              <a:t>▼ Saldo Pasivo bajo</a:t>
            </a:r>
            <a:r>
              <a:rPr sz="950" b="0">
                <a:solidFill>
                  <a:srgbClr val="5B6F66"/>
                </a:solidFill>
                <a:latin typeface="Segoe UI"/>
              </a:rPr>
              <a:t> (≤ 220.89)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446520" y="2386584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5130"/>
                </a:solidFill>
                <a:latin typeface="Segoe UI"/>
              </a:rPr>
              <a:t>Bucket final → ¿qué cliente es?</a:t>
            </a:r>
          </a:p>
        </p:txBody>
      </p:sp>
      <p:graphicFrame>
        <p:nvGraphicFramePr>
          <p:cNvPr id="109" name="Table 108"/>
          <p:cNvGraphicFramePr>
            <a:graphicFrameLocks noGrp="1"/>
          </p:cNvGraphicFramePr>
          <p:nvPr/>
        </p:nvGraphicFramePr>
        <p:xfrm>
          <a:off x="6446520" y="2606040"/>
          <a:ext cx="5120639" cy="27980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"/>
                <a:gridCol w="566928"/>
                <a:gridCol w="4169663"/>
              </a:tblGrid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7.15%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Mejor score · Saldo Pasivo alto · segmento bajo–medio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7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8.14%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Mejor score · Saldo Pasivo alto · segmento alto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8.70%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Mejor score · Saldo Pasivo bajo · segmento bajo–medio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9.42%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Mejor score · Saldo Pasivo bajo · segmento alto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E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13.36%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 · segmento bajo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13.53%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 · segmento medio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13.17%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 · segmento alto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9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17.07%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medio–bajo · segmento bajo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C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18.13%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medio–bajo · segmento medio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0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19.10%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medio–bajo · segmento alto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36.89%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bajo · segmento bajo–medio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39.68%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bajo · segmento alto → máximo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0" name="TextBox 109"/>
          <p:cNvSpPr txBox="1"/>
          <p:nvPr/>
        </p:nvSpPr>
        <p:spPr>
          <a:xfrm>
            <a:off x="6446520" y="545896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F5130"/>
                </a:solidFill>
                <a:latin typeface="Segoe UI"/>
              </a:rPr>
              <a:t>Orden por riesgo: </a:t>
            </a:r>
            <a:r>
              <a:rPr sz="1000" b="0">
                <a:solidFill>
                  <a:srgbClr val="5B6F66"/>
                </a:solidFill>
                <a:latin typeface="Segoe UI"/>
              </a:rPr>
              <a:t>domina el Score Rebank; dentro de cada tramo de score sube el segmento del Árbol 1.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420624" y="6419088"/>
            <a:ext cx="11350447" cy="10972"/>
          </a:xfrm>
          <a:prstGeom prst="rect">
            <a:avLst/>
          </a:prstGeom>
          <a:solidFill>
            <a:srgbClr val="E3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420624" y="6473952"/>
            <a:ext cx="113504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26603A"/>
                </a:solidFill>
                <a:latin typeface="Segoe UI"/>
              </a:rPr>
              <a:t>Score Rebank:</a:t>
            </a:r>
            <a:r>
              <a:rPr sz="800" b="0">
                <a:solidFill>
                  <a:srgbClr val="9AA6A0"/>
                </a:solidFill>
                <a:latin typeface="Segoe UI"/>
              </a:rPr>
              <a:t> puntuacion_cal_cat (1–6) · bucket Árbol 1: bucket (ordinal) · Saldo Pasivo: saldo_prom_tot_pasivo_u3m.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Umbral Saldo Pasivo:</a:t>
            </a:r>
            <a:r>
              <a:rPr sz="800" b="0">
                <a:solidFill>
                  <a:srgbClr val="9AA6A0"/>
                </a:solidFill>
                <a:latin typeface="Segoe UI"/>
              </a:rPr>
              <a:t> 220.89.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