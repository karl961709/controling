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237744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5130"/>
                </a:solidFill>
                <a:latin typeface="Segoe UI"/>
              </a:rPr>
              <a:t>Segmentación de Riesgo </a:t>
            </a:r>
            <a:r>
              <a:rPr sz="2600" b="1">
                <a:solidFill>
                  <a:srgbClr val="9AA6A0"/>
                </a:solidFill>
                <a:latin typeface="Segoe UI"/>
              </a:rPr>
              <a:t>| Base, Score Rebank y Árbol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731520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F66"/>
                </a:solidFill>
                <a:latin typeface="Segoe UI"/>
              </a:rPr>
              <a:t>Universo de castigados · objetivo = </a:t>
            </a:r>
            <a:r>
              <a:rPr sz="1100" b="1">
                <a:solidFill>
                  <a:srgbClr val="5B6F66"/>
                </a:solidFill>
                <a:latin typeface="Segoe UI"/>
              </a:rPr>
              <a:t>score</a:t>
            </a:r>
            <a:r>
              <a:rPr sz="1100" b="0">
                <a:solidFill>
                  <a:srgbClr val="5B6F66"/>
                </a:solidFill>
                <a:latin typeface="Segoe UI"/>
              </a:rPr>
              <a:t> (mayor score → menor riesgo) · profundidades evaluadas 4–7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39351" y="27432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39351" y="27432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AA44C"/>
                </a:solidFill>
                <a:latin typeface="Segoe UI"/>
              </a:rPr>
              <a:t>●  </a:t>
            </a:r>
            <a:r>
              <a:rPr sz="1050" b="1">
                <a:solidFill>
                  <a:srgbClr val="1F5130"/>
                </a:solidFill>
                <a:latin typeface="Segoe UI"/>
              </a:rPr>
              <a:t>REBANK 2 · Ventana 2506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298448"/>
            <a:ext cx="5285232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298448"/>
            <a:ext cx="5285232" cy="329184"/>
          </a:xfrm>
          <a:prstGeom prst="roundRect">
            <a:avLst>
              <a:gd name="adj" fmla="val 33333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508760"/>
            <a:ext cx="5285232" cy="118872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9496" y="1362456"/>
            <a:ext cx="201168" cy="201168"/>
          </a:xfrm>
          <a:prstGeom prst="roundRect">
            <a:avLst>
              <a:gd name="adj" fmla="val 27272"/>
            </a:avLst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35788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298448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Categorías del universo de castigados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00784"/>
          <a:ext cx="5029200" cy="13624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32461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5130"/>
                          </a:solidFill>
                          <a:latin typeface="Segoe UI"/>
                        </a:rPr>
                        <a:t>Categoría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5130"/>
                          </a:solidFill>
                          <a:latin typeface="Segoe UI"/>
                        </a:rPr>
                        <a:t>Descripción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3F8F5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3433C"/>
                          </a:solidFill>
                          <a:latin typeface="Consolas"/>
                        </a:rPr>
                        <a:t>CAST_NOIBK_REP&lt;5anios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14271D"/>
                          </a:solidFill>
                          <a:latin typeface="Segoe UI"/>
                        </a:rPr>
                        <a:t>Castigo vigente en otra entidad (no-IBK), mora &lt;5a.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3433C"/>
                          </a:solidFill>
                          <a:latin typeface="Consolas"/>
                        </a:rPr>
                        <a:t>CAST_NOIBK_REP&gt;=5anios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E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14271D"/>
                          </a:solidFill>
                          <a:latin typeface="Segoe UI"/>
                        </a:rPr>
                        <a:t>Igual, pero la mora del castigo no-IBK es ≥5 años.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EF9F1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3433C"/>
                          </a:solidFill>
                          <a:latin typeface="Consolas"/>
                        </a:rPr>
                        <a:t>NO_CAST_NOIBK_U24M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E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14271D"/>
                          </a:solidFill>
                          <a:latin typeface="Segoe UI"/>
                        </a:rPr>
                        <a:t>Sin castigo vigente; castigo no-IBK en últ. 24m.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EF9F1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3433C"/>
                          </a:solidFill>
                          <a:latin typeface="Consolas"/>
                        </a:rPr>
                        <a:t>NO_CAST_IBK_U24M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14271D"/>
                          </a:solidFill>
                          <a:latin typeface="Segoe UI"/>
                        </a:rPr>
                        <a:t>Sin castigo IBK hoy; lo tuvo en los últ. 24m.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3433C"/>
                          </a:solidFill>
                          <a:latin typeface="Consolas"/>
                        </a:rPr>
                        <a:t>CAST_IBK_REP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14271D"/>
                          </a:solidFill>
                          <a:latin typeface="Segoe UI"/>
                        </a:rPr>
                        <a:t>Castigo vigente en Interbank (202601). Prioridad.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3108959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AA44C"/>
                </a:solidFill>
                <a:latin typeface="Segoe UI"/>
              </a:rPr>
              <a:t>●  </a:t>
            </a:r>
            <a:r>
              <a:rPr sz="850" b="0">
                <a:solidFill>
                  <a:srgbClr val="5B6F66"/>
                </a:solidFill>
                <a:latin typeface="Segoe UI"/>
              </a:rPr>
              <a:t>Filas en verde: categorías modeladas (&gt;5 años y ≤24 meses).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3566160"/>
            <a:ext cx="5285232" cy="2706624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" y="3566160"/>
            <a:ext cx="5285232" cy="329184"/>
          </a:xfrm>
          <a:prstGeom prst="roundRect">
            <a:avLst>
              <a:gd name="adj" fmla="val 33333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" y="3776472"/>
            <a:ext cx="5285232" cy="118872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9496" y="3630168"/>
            <a:ext cx="201168" cy="201168"/>
          </a:xfrm>
          <a:prstGeom prst="roundRect">
            <a:avLst>
              <a:gd name="adj" fmla="val 27272"/>
            </a:avLst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" y="362559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3566160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Score Rebank · OptBinning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3968496"/>
          <a:ext cx="502920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1783080"/>
                <a:gridCol w="1481328"/>
                <a:gridCol w="1261872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5130"/>
                          </a:solidFill>
                          <a:latin typeface="Segoe UI"/>
                        </a:rPr>
                        <a:t>Cat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5130"/>
                          </a:solidFill>
                          <a:latin typeface="Segoe UI"/>
                        </a:rPr>
                        <a:t>Bin (score)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F5130"/>
                          </a:solidFill>
                          <a:latin typeface="Segoe UI"/>
                        </a:rPr>
                        <a:t>Tasa evento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F5130"/>
                          </a:solidFill>
                          <a:latin typeface="Segoe UI"/>
                        </a:rPr>
                        <a:t>% distrib.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3F8F5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513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3433C"/>
                          </a:solidFill>
                          <a:latin typeface="Consolas"/>
                        </a:rPr>
                        <a:t>≥ 682.5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71D"/>
                          </a:solidFill>
                          <a:latin typeface="Segoe UI"/>
                        </a:rPr>
                        <a:t>6.2%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71D"/>
                          </a:solidFill>
                          <a:latin typeface="Segoe UI"/>
                        </a:rPr>
                        <a:t>14.3%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513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3433C"/>
                          </a:solidFill>
                          <a:latin typeface="Consolas"/>
                        </a:rPr>
                        <a:t>627.5 – 682.5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71D"/>
                          </a:solidFill>
                          <a:latin typeface="Segoe UI"/>
                        </a:rPr>
                        <a:t>10.4%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EF7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71D"/>
                          </a:solidFill>
                          <a:latin typeface="Segoe UI"/>
                        </a:rPr>
                        <a:t>14.7%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513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3433C"/>
                          </a:solidFill>
                          <a:latin typeface="Consolas"/>
                        </a:rPr>
                        <a:t>570.5 – 627.5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71D"/>
                          </a:solidFill>
                          <a:latin typeface="Segoe UI"/>
                        </a:rPr>
                        <a:t>13.4%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BF6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71D"/>
                          </a:solidFill>
                          <a:latin typeface="Segoe UI"/>
                        </a:rPr>
                        <a:t>18.5%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513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3433C"/>
                          </a:solidFill>
                          <a:latin typeface="Consolas"/>
                        </a:rPr>
                        <a:t>523.5 – 570.5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71D"/>
                          </a:solidFill>
                          <a:latin typeface="Segoe UI"/>
                        </a:rPr>
                        <a:t>17.5%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DEE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71D"/>
                          </a:solidFill>
                          <a:latin typeface="Segoe UI"/>
                        </a:rPr>
                        <a:t>15.4%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513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3433C"/>
                          </a:solidFill>
                          <a:latin typeface="Consolas"/>
                        </a:rPr>
                        <a:t>426.5 – 523.5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71D"/>
                          </a:solidFill>
                          <a:latin typeface="Segoe UI"/>
                        </a:rPr>
                        <a:t>24.2%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BE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71D"/>
                          </a:solidFill>
                          <a:latin typeface="Segoe UI"/>
                        </a:rPr>
                        <a:t>21.4%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5130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3433C"/>
                          </a:solidFill>
                          <a:latin typeface="Consolas"/>
                        </a:rPr>
                        <a:t>&lt; 426.5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71D"/>
                          </a:solidFill>
                          <a:latin typeface="Segoe UI"/>
                        </a:rPr>
                        <a:t>55.9%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6D0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71D"/>
                          </a:solidFill>
                          <a:latin typeface="Segoe UI"/>
                        </a:rPr>
                        <a:t>15.8%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583387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F5130"/>
                </a:solidFill>
                <a:latin typeface="Segoe UI"/>
              </a:rPr>
              <a:t>Ajuste: </a:t>
            </a:r>
            <a:r>
              <a:rPr sz="950" b="0">
                <a:solidFill>
                  <a:srgbClr val="5B6F66"/>
                </a:solidFill>
                <a:latin typeface="Segoe UI"/>
              </a:rPr>
              <a:t>OptBinning del score vs target sobre la </a:t>
            </a:r>
            <a:r>
              <a:rPr sz="950" b="1">
                <a:solidFill>
                  <a:srgbClr val="1F5130"/>
                </a:solidFill>
                <a:latin typeface="Segoe UI"/>
              </a:rPr>
              <a:t>base de entrenamiento Rebank </a:t>
            </a:r>
            <a:r>
              <a:rPr sz="950" b="0">
                <a:solidFill>
                  <a:srgbClr val="5B6F66"/>
                </a:solidFill>
                <a:latin typeface="Segoe UI"/>
              </a:rPr>
              <a:t>(6 bins, descendente). Los cortes definen la categoría </a:t>
            </a:r>
            <a:r>
              <a:rPr sz="950" b="1">
                <a:solidFill>
                  <a:srgbClr val="1F5130"/>
                </a:solidFill>
                <a:latin typeface="Segoe UI"/>
              </a:rPr>
              <a:t>1 (mejor) … 6 (peor)</a:t>
            </a:r>
            <a:r>
              <a:rPr sz="950" b="0">
                <a:solidFill>
                  <a:srgbClr val="5B6F66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70448" y="1298448"/>
            <a:ext cx="5897880" cy="4974336"/>
          </a:xfrm>
          <a:prstGeom prst="roundRect">
            <a:avLst>
              <a:gd name="adj" fmla="val 2205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70448" y="1298448"/>
            <a:ext cx="5897880" cy="329184"/>
          </a:xfrm>
          <a:prstGeom prst="roundRect">
            <a:avLst>
              <a:gd name="adj" fmla="val 33333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70448" y="1508760"/>
            <a:ext cx="5897880" cy="118872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89320" y="1362456"/>
            <a:ext cx="201168" cy="201168"/>
          </a:xfrm>
          <a:prstGeom prst="roundRect">
            <a:avLst>
              <a:gd name="adj" fmla="val 27272"/>
            </a:avLst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135788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1298448"/>
            <a:ext cx="5440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Variables que pueden entrar al Árbol 1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998464" y="1700784"/>
          <a:ext cx="5641847" cy="3767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/>
                <a:gridCol w="2697480"/>
                <a:gridCol w="1801367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5130"/>
                          </a:solidFill>
                          <a:latin typeface="Segoe UI"/>
                        </a:rPr>
                        <a:t>Familia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5130"/>
                          </a:solidFill>
                          <a:latin typeface="Segoe UI"/>
                        </a:rPr>
                        <a:t>Variable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5130"/>
                          </a:solidFill>
                          <a:latin typeface="Segoe UI"/>
                        </a:rPr>
                        <a:t>Dirección de riesgo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3F8F5"/>
                    </a:solidFill>
                  </a:tcPr>
                </a:tc>
              </a:tr>
              <a:tr h="292608">
                <a:tc rowSpan="6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603A"/>
                          </a:solidFill>
                          <a:latin typeface="Segoe UI"/>
                        </a:rPr>
                        <a:t>Castigo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433C"/>
                          </a:solidFill>
                          <a:latin typeface="Consolas"/>
                        </a:rPr>
                        <a:t>deuda_cas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C0392B"/>
                          </a:solidFill>
                          <a:latin typeface="Segoe UI"/>
                        </a:rPr>
                        <a:t>+ más riesgo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DECEB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433C"/>
                          </a:solidFill>
                          <a:latin typeface="Consolas"/>
                        </a:rPr>
                        <a:t>monto_castigado_total / ibk / otros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C0392B"/>
                          </a:solidFill>
                          <a:latin typeface="Segoe UI"/>
                        </a:rPr>
                        <a:t>+ más riesgo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DECEB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433C"/>
                          </a:solidFill>
                          <a:latin typeface="Consolas"/>
                        </a:rPr>
                        <a:t>nro_entidades_castigo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C0392B"/>
                          </a:solidFill>
                          <a:latin typeface="Segoe UI"/>
                        </a:rPr>
                        <a:t>+ más riesgo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DECEB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433C"/>
                          </a:solidFill>
                          <a:latin typeface="Consolas"/>
                        </a:rPr>
                        <a:t>meses_desde_ultimo_castigo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7A45"/>
                          </a:solidFill>
                          <a:latin typeface="Segoe UI"/>
                        </a:rPr>
                        <a:t>− menos riesgo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F5EE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433C"/>
                          </a:solidFill>
                          <a:latin typeface="Consolas"/>
                        </a:rPr>
                        <a:t>meses_desde_primer_castigo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7A45"/>
                          </a:solidFill>
                          <a:latin typeface="Segoe UI"/>
                        </a:rPr>
                        <a:t>− menos riesgo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F5EE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433C"/>
                          </a:solidFill>
                          <a:latin typeface="Consolas"/>
                        </a:rPr>
                        <a:t>max_dias_mora_castigo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C0392B"/>
                          </a:solidFill>
                          <a:latin typeface="Segoe UI"/>
                        </a:rPr>
                        <a:t>+ más riesgo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DECEB"/>
                    </a:solidFill>
                  </a:tcPr>
                </a:tc>
              </a:tr>
              <a:tr h="292608">
                <a:tc rowSpan="2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603A"/>
                          </a:solidFill>
                          <a:latin typeface="Segoe UI"/>
                        </a:rPr>
                        <a:t>Ingreso / edad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433C"/>
                          </a:solidFill>
                          <a:latin typeface="Consolas"/>
                        </a:rPr>
                        <a:t>rk_ing_num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7A45"/>
                          </a:solidFill>
                          <a:latin typeface="Segoe UI"/>
                        </a:rPr>
                        <a:t>− menos riesgo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F5EE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433C"/>
                          </a:solidFill>
                          <a:latin typeface="Consolas"/>
                        </a:rPr>
                        <a:t>edad_num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7A45"/>
                          </a:solidFill>
                          <a:latin typeface="Segoe UI"/>
                        </a:rPr>
                        <a:t>− mayor edad → menor score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F5EE"/>
                    </a:solidFill>
                  </a:tcPr>
                </a:tc>
              </a:tr>
              <a:tr h="292608">
                <a:tc rowSpan="3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603A"/>
                          </a:solidFill>
                          <a:latin typeface="Segoe UI"/>
                        </a:rPr>
                        <a:t>Demográfico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433C"/>
                          </a:solidFill>
                          <a:latin typeface="Consolas"/>
                        </a:rPr>
                        <a:t>sexo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B9821F"/>
                          </a:solidFill>
                          <a:latin typeface="Segoe UI"/>
                        </a:rPr>
                        <a:t>0 ambigua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FF4E0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433C"/>
                          </a:solidFill>
                          <a:latin typeface="Consolas"/>
                        </a:rPr>
                        <a:t>nivel_profesional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C0392B"/>
                          </a:solidFill>
                          <a:latin typeface="Segoe UI"/>
                        </a:rPr>
                        <a:t>+ más riesgo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DECEB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433C"/>
                          </a:solidFill>
                          <a:latin typeface="Consolas"/>
                        </a:rPr>
                        <a:t>tipinstitucion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C0392B"/>
                          </a:solidFill>
                          <a:latin typeface="Segoe UI"/>
                        </a:rPr>
                        <a:t>+ más riesgo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DECE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603A"/>
                          </a:solidFill>
                          <a:latin typeface="Segoe UI"/>
                        </a:rPr>
                        <a:t>Ordinal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(G1…G8)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4529C"/>
                          </a:solidFill>
                          <a:latin typeface="Segoe UI"/>
                        </a:rPr>
                        <a:t>ordinal · ORD_VAR</a:t>
                      </a:r>
                    </a:p>
                  </a:txBody>
                  <a:tcPr anchor="ctr" marL="64008" marR="45720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9EEFB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998464" y="5522976"/>
            <a:ext cx="5641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C0392B"/>
                </a:solidFill>
                <a:latin typeface="Segoe UI"/>
              </a:rPr>
              <a:t>+</a:t>
            </a:r>
            <a:r>
              <a:rPr sz="950" b="0">
                <a:solidFill>
                  <a:srgbClr val="5B6F66"/>
                </a:solidFill>
                <a:latin typeface="Segoe UI"/>
              </a:rPr>
              <a:t>  mayor→más riesgo   </a:t>
            </a:r>
            <a:r>
              <a:rPr sz="900" b="1">
                <a:solidFill>
                  <a:srgbClr val="1A7A45"/>
                </a:solidFill>
                <a:latin typeface="Segoe UI"/>
              </a:rPr>
              <a:t>−</a:t>
            </a:r>
            <a:r>
              <a:rPr sz="950" b="0">
                <a:solidFill>
                  <a:srgbClr val="5B6F66"/>
                </a:solidFill>
                <a:latin typeface="Segoe UI"/>
              </a:rPr>
              <a:t>  mayor→menos riesgo   </a:t>
            </a:r>
            <a:r>
              <a:rPr sz="900" b="1">
                <a:solidFill>
                  <a:srgbClr val="B9821F"/>
                </a:solidFill>
                <a:latin typeface="Segoe UI"/>
              </a:rPr>
              <a:t>0</a:t>
            </a:r>
            <a:r>
              <a:rPr sz="950" b="0">
                <a:solidFill>
                  <a:srgbClr val="5B6F66"/>
                </a:solidFill>
                <a:latin typeface="Segoe UI"/>
              </a:rPr>
              <a:t>  por correlación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" y="6419088"/>
            <a:ext cx="11350447" cy="10972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73952"/>
            <a:ext cx="11350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Score Rebank:</a:t>
            </a:r>
            <a:r>
              <a:rPr sz="800" b="0">
                <a:solidFill>
                  <a:srgbClr val="9AA6A0"/>
                </a:solidFill>
                <a:latin typeface="Segoe UI"/>
              </a:rPr>
              <a:t> categoría 1–6 derivada del bin del score (puntuacion_cal_cat).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Tasa evento:</a:t>
            </a:r>
            <a:r>
              <a:rPr sz="800" b="0">
                <a:solidFill>
                  <a:srgbClr val="9AA6A0"/>
                </a:solidFill>
                <a:latin typeface="Segoe UI"/>
              </a:rPr>
              <a:t> proporción de malos (target_60_12m=1) en el bin · % distrib.: peso del bin.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IBK:</a:t>
            </a:r>
            <a:r>
              <a:rPr sz="800" b="0">
                <a:solidFill>
                  <a:srgbClr val="9AA6A0"/>
                </a:solidFill>
                <a:latin typeface="Segoe UI"/>
              </a:rPr>
              <a:t> Interbank · no-IBK: otras entidades · RCC: reporte crediticio.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237744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5130"/>
                </a:solidFill>
                <a:latin typeface="Segoe UI"/>
              </a:rPr>
              <a:t>Construcción y Refinamiento </a:t>
            </a:r>
            <a:r>
              <a:rPr sz="2600" b="1">
                <a:solidFill>
                  <a:srgbClr val="9AA6A0"/>
                </a:solidFill>
                <a:latin typeface="Segoe UI"/>
              </a:rPr>
              <a:t>| Árbol 1 (B) y Árbol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731520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F66"/>
                </a:solidFill>
                <a:latin typeface="Segoe UI"/>
              </a:rPr>
              <a:t>Cómo se arma el Árbol 1, qué cambia en el Árbol 2 y cómo se validan las reglas finales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39351" y="27432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39351" y="27432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AA44C"/>
                </a:solidFill>
                <a:latin typeface="Segoe UI"/>
              </a:rPr>
              <a:t>●  </a:t>
            </a:r>
            <a:r>
              <a:rPr sz="1050" b="1">
                <a:solidFill>
                  <a:srgbClr val="1F5130"/>
                </a:solidFill>
                <a:latin typeface="Segoe UI"/>
              </a:rPr>
              <a:t>Árbol 1 · Árbol 2 · Validación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298448"/>
            <a:ext cx="5541264" cy="347472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298448"/>
            <a:ext cx="5541264" cy="329184"/>
          </a:xfrm>
          <a:prstGeom prst="roundRect">
            <a:avLst>
              <a:gd name="adj" fmla="val 33333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508760"/>
            <a:ext cx="5541264" cy="118872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9496" y="1362456"/>
            <a:ext cx="201168" cy="201168"/>
          </a:xfrm>
          <a:prstGeom prst="roundRect">
            <a:avLst>
              <a:gd name="adj" fmla="val 27272"/>
            </a:avLst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35788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298448"/>
            <a:ext cx="50840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Cómo se construye el Árbol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2821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1719072"/>
            <a:ext cx="495604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5130"/>
                </a:solidFill>
                <a:latin typeface="Segoe UI"/>
              </a:rPr>
              <a:t>OptBinning por variable </a:t>
            </a:r>
            <a:r>
              <a:rPr sz="1150" b="0">
                <a:solidFill>
                  <a:srgbClr val="14271D"/>
                </a:solidFill>
                <a:latin typeface="Segoe UI"/>
              </a:rPr>
              <a:t>(WoE) con tendencia monótona según </a:t>
            </a:r>
            <a:r>
              <a:rPr sz="1050" b="0">
                <a:solidFill>
                  <a:srgbClr val="23433C"/>
                </a:solidFill>
                <a:latin typeface="Consolas"/>
              </a:rPr>
              <a:t>DIRECCION_NEGOCIO</a:t>
            </a:r>
            <a:r>
              <a:rPr sz="1150" b="0">
                <a:solidFill>
                  <a:srgbClr val="14271D"/>
                </a:solidFill>
                <a:latin typeface="Segoe U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157984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14884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139696"/>
            <a:ext cx="495604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5130"/>
                </a:solidFill>
                <a:latin typeface="Segoe UI"/>
              </a:rPr>
              <a:t>Imputación de missing </a:t>
            </a:r>
            <a:r>
              <a:rPr sz="1150" b="0">
                <a:solidFill>
                  <a:srgbClr val="14271D"/>
                </a:solidFill>
                <a:latin typeface="Segoe UI"/>
              </a:rPr>
              <a:t>con el WoE del </a:t>
            </a:r>
            <a:r>
              <a:rPr sz="1150" b="1">
                <a:solidFill>
                  <a:srgbClr val="1F5130"/>
                </a:solidFill>
                <a:latin typeface="Segoe UI"/>
              </a:rPr>
              <a:t>peor bin</a:t>
            </a:r>
            <a:r>
              <a:rPr sz="1150" b="0">
                <a:solidFill>
                  <a:srgbClr val="14271D"/>
                </a:solidFill>
                <a:latin typeface="Segoe UI"/>
              </a:rPr>
              <a:t> (cliente sin dato → mayor riesgo).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578608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56946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560320"/>
            <a:ext cx="495604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5130"/>
                </a:solidFill>
                <a:latin typeface="Segoe UI"/>
              </a:rPr>
              <a:t>Árbol monótono </a:t>
            </a:r>
            <a:r>
              <a:rPr sz="1050" b="0">
                <a:solidFill>
                  <a:srgbClr val="23433C"/>
                </a:solidFill>
                <a:latin typeface="Consolas"/>
              </a:rPr>
              <a:t>DecisionTreeRegressor</a:t>
            </a:r>
            <a:r>
              <a:rPr sz="1150" b="0">
                <a:solidFill>
                  <a:srgbClr val="14271D"/>
                </a:solidFill>
                <a:latin typeface="Segoe UI"/>
              </a:rPr>
              <a:t> con </a:t>
            </a:r>
            <a:r>
              <a:rPr sz="1050" b="0">
                <a:solidFill>
                  <a:srgbClr val="23433C"/>
                </a:solidFill>
                <a:latin typeface="Consolas"/>
              </a:rPr>
              <a:t>monotonic_cst</a:t>
            </a:r>
            <a:r>
              <a:rPr sz="1150" b="0">
                <a:solidFill>
                  <a:srgbClr val="14271D"/>
                </a:solidFill>
                <a:latin typeface="Segoe U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99232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90088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2980944"/>
            <a:ext cx="495604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5130"/>
                </a:solidFill>
                <a:latin typeface="Segoe UI"/>
              </a:rPr>
              <a:t>Poda automática: </a:t>
            </a:r>
            <a:r>
              <a:rPr sz="1150" b="0">
                <a:solidFill>
                  <a:srgbClr val="14271D"/>
                </a:solidFill>
                <a:latin typeface="Segoe UI"/>
              </a:rPr>
              <a:t>re-entrena solo con variables de importancia &gt; 0.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19856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1071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3401568"/>
            <a:ext cx="495604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5130"/>
                </a:solidFill>
                <a:latin typeface="Segoe UI"/>
              </a:rPr>
              <a:t>Salida: </a:t>
            </a:r>
            <a:r>
              <a:rPr sz="1150" b="0">
                <a:solidFill>
                  <a:srgbClr val="14271D"/>
                </a:solidFill>
                <a:latin typeface="Segoe UI"/>
              </a:rPr>
              <a:t>cada hoja = estrategia rankeada por riesgo (Excel + .pkl).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895344"/>
            <a:ext cx="2569463" cy="731520"/>
          </a:xfrm>
          <a:prstGeom prst="roundRect">
            <a:avLst>
              <a:gd name="adj" fmla="val 11249"/>
            </a:avLst>
          </a:prstGeom>
          <a:solidFill>
            <a:srgbClr val="F5FAF7"/>
          </a:solidFill>
          <a:ln w="12700">
            <a:solidFill>
              <a:srgbClr val="E3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968496"/>
            <a:ext cx="2350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F66"/>
                </a:solidFill>
                <a:latin typeface="Segoe UI"/>
              </a:rPr>
              <a:t>Dos universos de variables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151376"/>
            <a:ext cx="2350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1AA44C"/>
                </a:solidFill>
                <a:latin typeface="Segoe UI"/>
              </a:rPr>
              <a:t>● </a:t>
            </a:r>
            <a:r>
              <a:rPr sz="1000" b="0">
                <a:solidFill>
                  <a:srgbClr val="14271D"/>
                </a:solidFill>
                <a:latin typeface="Segoe UI"/>
              </a:rPr>
              <a:t>Con todas las variables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311396"/>
            <a:ext cx="2350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1AA44C"/>
                </a:solidFill>
                <a:latin typeface="Segoe UI"/>
              </a:rPr>
              <a:t>● </a:t>
            </a:r>
            <a:r>
              <a:rPr sz="1000" b="0">
                <a:solidFill>
                  <a:srgbClr val="14271D"/>
                </a:solidFill>
                <a:latin typeface="Segoe UI"/>
              </a:rPr>
              <a:t>Sin edad_num (*_sinalgunasvariables)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64408" y="3895344"/>
            <a:ext cx="2569463" cy="731520"/>
          </a:xfrm>
          <a:prstGeom prst="roundRect">
            <a:avLst>
              <a:gd name="adj" fmla="val 11249"/>
            </a:avLst>
          </a:prstGeom>
          <a:solidFill>
            <a:srgbClr val="F5FAF7"/>
          </a:solidFill>
          <a:ln w="12700">
            <a:solidFill>
              <a:srgbClr val="E3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74136" y="3968496"/>
            <a:ext cx="2350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F66"/>
                </a:solidFill>
                <a:latin typeface="Segoe UI"/>
              </a:rPr>
              <a:t>Estrategias (prof. 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74136" y="4151376"/>
            <a:ext cx="23500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5130"/>
                </a:solidFill>
                <a:latin typeface="Segoe UI"/>
              </a:rPr>
              <a:t>15 – 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74136" y="4425696"/>
            <a:ext cx="2350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1AA44C"/>
                </a:solidFill>
                <a:latin typeface="Segoe UI"/>
              </a:rPr>
              <a:t>● </a:t>
            </a:r>
            <a:r>
              <a:rPr sz="1000" b="0">
                <a:solidFill>
                  <a:srgbClr val="14271D"/>
                </a:solidFill>
                <a:latin typeface="Segoe UI"/>
              </a:rPr>
              <a:t>según escenario y profundidad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1298448"/>
            <a:ext cx="5641848" cy="347472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26480" y="1298448"/>
            <a:ext cx="5641848" cy="329184"/>
          </a:xfrm>
          <a:prstGeom prst="roundRect">
            <a:avLst>
              <a:gd name="adj" fmla="val 33333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1508760"/>
            <a:ext cx="5641848" cy="118872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45352" y="1362456"/>
            <a:ext cx="201168" cy="201168"/>
          </a:xfrm>
          <a:prstGeom prst="roundRect">
            <a:avLst>
              <a:gd name="adj" fmla="val 27272"/>
            </a:avLst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5352" y="135788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1298448"/>
            <a:ext cx="5184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Árbol 2 · qué cambia y resultado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6254496" y="1700784"/>
          <a:ext cx="5385815" cy="923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3236975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5130"/>
                          </a:solidFill>
                          <a:latin typeface="Segoe UI"/>
                        </a:rPr>
                        <a:t>Variable de entrada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5130"/>
                          </a:solidFill>
                          <a:latin typeface="Segoe UI"/>
                        </a:rPr>
                        <a:t>Rol en el Árbol 2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F3F8F5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433C"/>
                          </a:solidFill>
                          <a:latin typeface="Consolas"/>
                        </a:rPr>
                        <a:t>bucket (B1…B8)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71D"/>
                          </a:solidFill>
                          <a:latin typeface="Segoe UI"/>
                        </a:rPr>
                        <a:t>Resultado del Árbol 1, entra como </a:t>
                      </a:r>
                      <a:r>
                        <a:rPr sz="1000" b="1">
                          <a:solidFill>
                            <a:srgbClr val="1F5130"/>
                          </a:solidFill>
                          <a:latin typeface="Segoe UI"/>
                        </a:rPr>
                        <a:t>ordinal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433C"/>
                          </a:solidFill>
                          <a:latin typeface="Consolas"/>
                        </a:rPr>
                        <a:t>saldo_prom_tot_pasivo_u3m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71D"/>
                          </a:solidFill>
                          <a:latin typeface="Segoe UI"/>
                        </a:rPr>
                        <a:t>Saldo pasivo promedio · binning 2–7 bins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433C"/>
                          </a:solidFill>
                          <a:latin typeface="Consolas"/>
                        </a:rPr>
                        <a:t>Score Rebank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71D"/>
                          </a:solidFill>
                          <a:latin typeface="Segoe UI"/>
                        </a:rPr>
                        <a:t>Categoría de riesgo del score (1–6)</a:t>
                      </a:r>
                    </a:p>
                  </a:txBody>
                  <a:tcPr anchor="ctr" marL="64008" marR="45720" marT="45720" marB="4572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6254496" y="2761487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54496" y="275234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2743199"/>
            <a:ext cx="50566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5130"/>
                </a:solidFill>
                <a:latin typeface="Segoe UI"/>
              </a:rPr>
              <a:t>FAMILIAS_UNICAS: </a:t>
            </a:r>
            <a:r>
              <a:rPr sz="1150" b="0">
                <a:solidFill>
                  <a:srgbClr val="14271D"/>
                </a:solidFill>
                <a:latin typeface="Segoe UI"/>
              </a:rPr>
              <a:t>conserva una sola variable de "saldo" (la de mayor importancia).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54496" y="3182111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54496" y="3172968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3163823"/>
            <a:ext cx="50566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5130"/>
                </a:solidFill>
                <a:latin typeface="Segoe UI"/>
              </a:rPr>
              <a:t>Nuevas hojas = estrategias finas </a:t>
            </a:r>
            <a:r>
              <a:rPr sz="1150" b="0">
                <a:solidFill>
                  <a:srgbClr val="14271D"/>
                </a:solidFill>
                <a:latin typeface="Segoe UI"/>
              </a:rPr>
              <a:t>→ agrupadas en ~12 buckets finales monótonos.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54496" y="3621023"/>
            <a:ext cx="607161" cy="237744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54496" y="3616451"/>
            <a:ext cx="60716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F5130"/>
                </a:solidFill>
                <a:latin typeface="Segoe UI"/>
              </a:rPr>
              <a:t>Cascada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43953" y="3621023"/>
            <a:ext cx="672998" cy="237744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3953" y="3616451"/>
            <a:ext cx="67299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F5130"/>
                </a:solidFill>
                <a:latin typeface="Segoe UI"/>
              </a:rPr>
              <a:t>ChiMerge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99248" y="3621023"/>
            <a:ext cx="541324" cy="237744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99248" y="3616451"/>
            <a:ext cx="5413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F5130"/>
                </a:solidFill>
                <a:latin typeface="Segoe UI"/>
              </a:rPr>
              <a:t>OptBin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22868" y="3621023"/>
            <a:ext cx="738835" cy="237744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2868" y="3616451"/>
            <a:ext cx="73883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F5130"/>
                </a:solidFill>
                <a:latin typeface="Segoe UI"/>
              </a:rPr>
              <a:t>Shrinkage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44000" y="3621023"/>
            <a:ext cx="409651" cy="237744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0" y="3616451"/>
            <a:ext cx="40965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F5130"/>
                </a:solidFill>
                <a:latin typeface="Segoe UI"/>
              </a:rPr>
              <a:t>MDLP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54496" y="3986783"/>
            <a:ext cx="2619756" cy="676656"/>
          </a:xfrm>
          <a:prstGeom prst="roundRect">
            <a:avLst>
              <a:gd name="adj" fmla="val 12162"/>
            </a:avLst>
          </a:prstGeom>
          <a:solidFill>
            <a:srgbClr val="F5FAF7"/>
          </a:solidFill>
          <a:ln w="12700">
            <a:solidFill>
              <a:srgbClr val="E3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64224" y="4059935"/>
            <a:ext cx="24003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F66"/>
                </a:solidFill>
                <a:latin typeface="Segoe UI"/>
              </a:rPr>
              <a:t>≤24 meses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64224" y="4242816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5130"/>
                </a:solidFill>
                <a:latin typeface="Segoe UI"/>
              </a:rPr>
              <a:t>30 → 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64224" y="4517136"/>
            <a:ext cx="24003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1AA44C"/>
                </a:solidFill>
                <a:latin typeface="Segoe UI"/>
              </a:rPr>
              <a:t>● </a:t>
            </a:r>
            <a:r>
              <a:rPr sz="1000" b="0">
                <a:solidFill>
                  <a:srgbClr val="14271D"/>
                </a:solidFill>
                <a:latin typeface="Segoe UI"/>
              </a:rPr>
              <a:t>estrategias → buckets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20556" y="3986783"/>
            <a:ext cx="2619756" cy="676656"/>
          </a:xfrm>
          <a:prstGeom prst="roundRect">
            <a:avLst>
              <a:gd name="adj" fmla="val 12162"/>
            </a:avLst>
          </a:prstGeom>
          <a:solidFill>
            <a:srgbClr val="F5FAF7"/>
          </a:solidFill>
          <a:ln w="12700">
            <a:solidFill>
              <a:srgbClr val="E3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30284" y="4059935"/>
            <a:ext cx="24003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F66"/>
                </a:solidFill>
                <a:latin typeface="Segoe UI"/>
              </a:rPr>
              <a:t>≥5 años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0284" y="4242816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5130"/>
                </a:solidFill>
                <a:latin typeface="Segoe UI"/>
              </a:rPr>
              <a:t>16 → 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30284" y="4517136"/>
            <a:ext cx="24003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1AA44C"/>
                </a:solidFill>
                <a:latin typeface="Segoe UI"/>
              </a:rPr>
              <a:t>● </a:t>
            </a:r>
            <a:r>
              <a:rPr sz="1000" b="0">
                <a:solidFill>
                  <a:srgbClr val="14271D"/>
                </a:solidFill>
                <a:latin typeface="Segoe UI"/>
              </a:rPr>
              <a:t>estrategias → buckets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0624" y="4956048"/>
            <a:ext cx="3673754" cy="1280160"/>
          </a:xfrm>
          <a:prstGeom prst="roundRect">
            <a:avLst>
              <a:gd name="adj" fmla="val 7857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20624" y="4956048"/>
            <a:ext cx="3673754" cy="310896"/>
          </a:xfrm>
          <a:prstGeom prst="roundRect">
            <a:avLst>
              <a:gd name="adj" fmla="val 32352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0624" y="5148072"/>
            <a:ext cx="3673754" cy="118872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30352" y="5010912"/>
            <a:ext cx="384048" cy="201168"/>
          </a:xfrm>
          <a:prstGeom prst="roundRect">
            <a:avLst>
              <a:gd name="adj" fmla="val 22727"/>
            </a:avLst>
          </a:prstGeom>
          <a:solidFill>
            <a:srgbClr val="4D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0352" y="5006340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V1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7552" y="4956048"/>
            <a:ext cx="30702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Base de campañas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5358384"/>
            <a:ext cx="343601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30" b="1">
                <a:solidFill>
                  <a:srgbClr val="1AA44C"/>
                </a:solidFill>
                <a:latin typeface="Segoe UI"/>
              </a:rPr>
              <a:t>●  </a:t>
            </a:r>
            <a:r>
              <a:rPr sz="1030" b="0">
                <a:solidFill>
                  <a:srgbClr val="14271D"/>
                </a:solidFill>
                <a:latin typeface="Segoe UI"/>
              </a:rPr>
              <a:t>Últimas </a:t>
            </a:r>
            <a:r>
              <a:rPr sz="1030" b="1">
                <a:solidFill>
                  <a:srgbClr val="1F5130"/>
                </a:solidFill>
                <a:latin typeface="Segoe UI"/>
              </a:rPr>
              <a:t>3 campañas de junio</a:t>
            </a:r>
            <a:r>
              <a:rPr sz="1030" b="0">
                <a:solidFill>
                  <a:srgbClr val="14271D"/>
                </a:solidFill>
                <a:latin typeface="Segoe UI"/>
              </a:rPr>
              <a:t> con los </a:t>
            </a:r>
            <a:r>
              <a:rPr sz="1030" b="1">
                <a:solidFill>
                  <a:srgbClr val="1F5130"/>
                </a:solidFill>
                <a:latin typeface="Segoe UI"/>
              </a:rPr>
              <a:t>5 pilotos</a:t>
            </a:r>
            <a:r>
              <a:rPr sz="1030" b="0">
                <a:solidFill>
                  <a:srgbClr val="14271D"/>
                </a:solidFill>
                <a:latin typeface="Segoe UI"/>
              </a:rPr>
              <a:t> vigentes.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5769864"/>
            <a:ext cx="343601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30" b="1">
                <a:solidFill>
                  <a:srgbClr val="1AA44C"/>
                </a:solidFill>
                <a:latin typeface="Segoe UI"/>
              </a:rPr>
              <a:t>●  </a:t>
            </a:r>
            <a:r>
              <a:rPr sz="1030" b="0">
                <a:solidFill>
                  <a:srgbClr val="14271D"/>
                </a:solidFill>
                <a:latin typeface="Segoe UI"/>
              </a:rPr>
              <a:t>Mide la </a:t>
            </a:r>
            <a:r>
              <a:rPr sz="1030" b="1">
                <a:solidFill>
                  <a:srgbClr val="1F5130"/>
                </a:solidFill>
                <a:latin typeface="Segoe UI"/>
              </a:rPr>
              <a:t>distribución de nuestras reglas</a:t>
            </a:r>
            <a:r>
              <a:rPr sz="1030" b="0">
                <a:solidFill>
                  <a:srgbClr val="14271D"/>
                </a:solidFill>
                <a:latin typeface="Segoe UI"/>
              </a:rPr>
              <a:t> en lo que se envía.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58970" y="4956048"/>
            <a:ext cx="3673754" cy="1280160"/>
          </a:xfrm>
          <a:prstGeom prst="roundRect">
            <a:avLst>
              <a:gd name="adj" fmla="val 7857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258970" y="4956048"/>
            <a:ext cx="3673754" cy="310896"/>
          </a:xfrm>
          <a:prstGeom prst="roundRect">
            <a:avLst>
              <a:gd name="adj" fmla="val 32352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58970" y="5148072"/>
            <a:ext cx="3673754" cy="118872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368698" y="5010912"/>
            <a:ext cx="384048" cy="201168"/>
          </a:xfrm>
          <a:prstGeom prst="roundRect">
            <a:avLst>
              <a:gd name="adj" fmla="val 22727"/>
            </a:avLst>
          </a:prstGeom>
          <a:solidFill>
            <a:srgbClr val="4D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68698" y="5006340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V2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25898" y="4956048"/>
            <a:ext cx="30702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Base de generación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86986" y="5358384"/>
            <a:ext cx="343601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30" b="1">
                <a:solidFill>
                  <a:srgbClr val="1AA44C"/>
                </a:solidFill>
                <a:latin typeface="Segoe UI"/>
              </a:rPr>
              <a:t>●  </a:t>
            </a:r>
            <a:r>
              <a:rPr sz="1030" b="0">
                <a:solidFill>
                  <a:srgbClr val="14271D"/>
                </a:solidFill>
                <a:latin typeface="Segoe UI"/>
              </a:rPr>
              <a:t>Base usada para </a:t>
            </a:r>
            <a:r>
              <a:rPr sz="1030" b="1">
                <a:solidFill>
                  <a:srgbClr val="1F5130"/>
                </a:solidFill>
                <a:latin typeface="Segoe UI"/>
              </a:rPr>
              <a:t>construir los árboles</a:t>
            </a:r>
            <a:r>
              <a:rPr sz="1030" b="0">
                <a:solidFill>
                  <a:srgbClr val="14271D"/>
                </a:solidFill>
                <a:latin typeface="Segoe UI"/>
              </a:rPr>
              <a:t>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86986" y="5582412"/>
            <a:ext cx="343601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30" b="1">
                <a:solidFill>
                  <a:srgbClr val="1AA44C"/>
                </a:solidFill>
                <a:latin typeface="Segoe UI"/>
              </a:rPr>
              <a:t>●  </a:t>
            </a:r>
            <a:r>
              <a:rPr sz="1030" b="0">
                <a:solidFill>
                  <a:srgbClr val="14271D"/>
                </a:solidFill>
                <a:latin typeface="Segoe UI"/>
              </a:rPr>
              <a:t>Evalúa las </a:t>
            </a:r>
            <a:r>
              <a:rPr sz="1030" b="1">
                <a:solidFill>
                  <a:srgbClr val="1F5130"/>
                </a:solidFill>
                <a:latin typeface="Segoe UI"/>
              </a:rPr>
              <a:t>reglas finales del Árbol 2</a:t>
            </a:r>
            <a:r>
              <a:rPr sz="1030" b="0">
                <a:solidFill>
                  <a:srgbClr val="14271D"/>
                </a:solidFill>
                <a:latin typeface="Segoe UI"/>
              </a:rPr>
              <a:t> y la </a:t>
            </a:r>
            <a:r>
              <a:rPr sz="1030" b="1">
                <a:solidFill>
                  <a:srgbClr val="1F5130"/>
                </a:solidFill>
                <a:latin typeface="Segoe UI"/>
              </a:rPr>
              <a:t>granularidad</a:t>
            </a:r>
            <a:r>
              <a:rPr sz="1030" b="0">
                <a:solidFill>
                  <a:srgbClr val="14271D"/>
                </a:solidFill>
                <a:latin typeface="Segoe UI"/>
              </a:rPr>
              <a:t>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097316" y="4956048"/>
            <a:ext cx="3673754" cy="1280160"/>
          </a:xfrm>
          <a:prstGeom prst="roundRect">
            <a:avLst>
              <a:gd name="adj" fmla="val 7857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097316" y="4956048"/>
            <a:ext cx="3673754" cy="310896"/>
          </a:xfrm>
          <a:prstGeom prst="roundRect">
            <a:avLst>
              <a:gd name="adj" fmla="val 32352"/>
            </a:avLst>
          </a:prstGeom>
          <a:solidFill>
            <a:srgbClr val="3A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97316" y="5148072"/>
            <a:ext cx="3673754" cy="118872"/>
          </a:xfrm>
          <a:prstGeom prst="rect">
            <a:avLst/>
          </a:prstGeom>
          <a:solidFill>
            <a:srgbClr val="3A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207044" y="5010912"/>
            <a:ext cx="384048" cy="201168"/>
          </a:xfrm>
          <a:prstGeom prst="roundRect">
            <a:avLst>
              <a:gd name="adj" fmla="val 22727"/>
            </a:avLst>
          </a:prstGeom>
          <a:solidFill>
            <a:srgbClr val="4D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07044" y="5006340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V3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64244" y="4956048"/>
            <a:ext cx="30702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Base fuera de campaña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5332" y="5358384"/>
            <a:ext cx="343601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30" b="1">
                <a:solidFill>
                  <a:srgbClr val="1AA44C"/>
                </a:solidFill>
                <a:latin typeface="Segoe UI"/>
              </a:rPr>
              <a:t>●  </a:t>
            </a:r>
            <a:r>
              <a:rPr sz="1030" b="0">
                <a:solidFill>
                  <a:srgbClr val="14271D"/>
                </a:solidFill>
                <a:latin typeface="Segoe UI"/>
              </a:rPr>
              <a:t>Clientes que </a:t>
            </a:r>
            <a:r>
              <a:rPr sz="1030" b="1">
                <a:solidFill>
                  <a:srgbClr val="1F5130"/>
                </a:solidFill>
                <a:latin typeface="Segoe UI"/>
              </a:rPr>
              <a:t>hoy no están en campaña</a:t>
            </a:r>
            <a:r>
              <a:rPr sz="1030" b="0">
                <a:solidFill>
                  <a:srgbClr val="14271D"/>
                </a:solidFill>
                <a:latin typeface="Segoe UI"/>
              </a:rPr>
              <a:t> (5 pilotos actuales).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25332" y="5769864"/>
            <a:ext cx="343601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30" b="1">
                <a:solidFill>
                  <a:srgbClr val="1AA44C"/>
                </a:solidFill>
                <a:latin typeface="Segoe UI"/>
              </a:rPr>
              <a:t>●  </a:t>
            </a:r>
            <a:r>
              <a:rPr sz="1030" b="0">
                <a:solidFill>
                  <a:srgbClr val="14271D"/>
                </a:solidFill>
                <a:latin typeface="Segoe UI"/>
              </a:rPr>
              <a:t>Muestra la </a:t>
            </a:r>
            <a:r>
              <a:rPr sz="1030" b="1">
                <a:solidFill>
                  <a:srgbClr val="1F5130"/>
                </a:solidFill>
                <a:latin typeface="Segoe UI"/>
              </a:rPr>
              <a:t>distribución de los no incluidos</a:t>
            </a:r>
            <a:r>
              <a:rPr sz="1030" b="0">
                <a:solidFill>
                  <a:srgbClr val="14271D"/>
                </a:solidFill>
                <a:latin typeface="Segoe UI"/>
              </a:rPr>
              <a:t>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0624" y="6419088"/>
            <a:ext cx="11350447" cy="10972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0624" y="6473952"/>
            <a:ext cx="11350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DIRECCION_NEGOCIO / monotonic_cst:</a:t>
            </a:r>
            <a:r>
              <a:rPr sz="800" b="0">
                <a:solidFill>
                  <a:srgbClr val="9AA6A0"/>
                </a:solidFill>
                <a:latin typeface="Segoe UI"/>
              </a:rPr>
              <a:t> dirección esperada de cada variable y su restricción monótona.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FAMILIAS_UNICAS:</a:t>
            </a:r>
            <a:r>
              <a:rPr sz="800" b="0">
                <a:solidFill>
                  <a:srgbClr val="9AA6A0"/>
                </a:solidFill>
                <a:latin typeface="Segoe UI"/>
              </a:rPr>
              <a:t> deja una sola variable por familia (p.ej. "saldo").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Rechazo:</a:t>
            </a:r>
            <a:r>
              <a:rPr sz="800" b="0">
                <a:solidFill>
                  <a:srgbClr val="9AA6A0"/>
                </a:solidFill>
                <a:latin typeface="Segoe UI"/>
              </a:rPr>
              <a:t> clientes no capturados por ninguna regla.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