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mpacto_leads_24m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377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F5130"/>
                </a:solidFill>
                <a:latin typeface="Segoe UI"/>
              </a:rPr>
              <a:t>Impacto </a:t>
            </a:r>
            <a:r>
              <a:rPr sz="2100" b="1">
                <a:solidFill>
                  <a:srgbClr val="9AA6A0"/>
                </a:solidFill>
                <a:latin typeface="Segoe UI"/>
              </a:rPr>
              <a:t>| Nuevos leads · 24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76656"/>
            <a:ext cx="7315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F66"/>
                </a:solidFill>
                <a:latin typeface="Segoe UI"/>
              </a:rPr>
              <a:t>Foto del apetito de riesgo: leads elegibles de la </a:t>
            </a:r>
            <a:r>
              <a:rPr sz="1000" b="1">
                <a:solidFill>
                  <a:srgbClr val="1F5130"/>
                </a:solidFill>
                <a:latin typeface="Segoe UI"/>
              </a:rPr>
              <a:t>base inicial</a:t>
            </a:r>
            <a:r>
              <a:rPr sz="1000" b="0">
                <a:solidFill>
                  <a:srgbClr val="5B6F66"/>
                </a:solidFill>
                <a:latin typeface="Segoe UI"/>
              </a:rPr>
              <a:t>, incremento vs. campaña actual y riesgo del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2440" y="27432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0456" y="31089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F5130"/>
                </a:solidFill>
                <a:latin typeface="Segoe UI"/>
              </a:rPr>
              <a:t>PROB. MÁXIMA 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0456" y="502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5130"/>
                </a:solidFill>
                <a:latin typeface="Segoe UI"/>
              </a:rPr>
              <a:t>35%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274320"/>
            <a:ext cx="1819656" cy="566928"/>
          </a:xfrm>
          <a:prstGeom prst="roundRect">
            <a:avLst>
              <a:gd name="adj" fmla="val 16129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4120" y="31089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5130"/>
                </a:solidFill>
                <a:latin typeface="Segoe UI"/>
              </a:rPr>
              <a:t>APETITO RESULTANTE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502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hasta </a:t>
            </a:r>
            <a:r>
              <a:rPr sz="1300" b="1">
                <a:solidFill>
                  <a:srgbClr val="22B24C"/>
                </a:solidFill>
                <a:latin typeface="Segoe UI"/>
              </a:rPr>
              <a:t>B4</a:t>
            </a:r>
            <a:r>
              <a:rPr sz="950" b="0">
                <a:solidFill>
                  <a:srgbClr val="5B6F66"/>
                </a:solidFill>
                <a:latin typeface="Segoe UI"/>
              </a:rPr>
              <a:t> · 4 buckets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Leads elegibles (base inicial)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Segoe UI"/>
              </a:rPr>
              <a:t>66,145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E6F3EC"/>
                </a:solidFill>
                <a:latin typeface="Segoe UI"/>
              </a:rPr>
              <a:t>11.3% de la base inicial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3822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22B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1838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Nuevos leads (incremento vs. campaña)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1838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Segoe UI"/>
              </a:rPr>
              <a:t>+53,703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1838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E6F3EC"/>
                </a:solidFill>
                <a:latin typeface="Segoe UI"/>
              </a:rPr>
              <a:t>× 5.3 vs. campaña actual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3596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1612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5B6F66"/>
                </a:solidFill>
                <a:latin typeface="Segoe UI"/>
              </a:rPr>
              <a:t>Hoy en campaña (en estos buckets)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1612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F5130"/>
                </a:solidFill>
                <a:latin typeface="Segoe UI"/>
              </a:rPr>
              <a:t>12,442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1612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5B6F66"/>
                </a:solidFill>
                <a:latin typeface="Segoe UI"/>
              </a:rPr>
              <a:t>base de campañas · 20260624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3371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EEF4F1"/>
          </a:solidFill>
          <a:ln w="12700">
            <a:solidFill>
              <a:srgbClr val="E0E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1387" y="1170431"/>
            <a:ext cx="19623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5B6F66"/>
                </a:solidFill>
                <a:latin typeface="Segoe UI"/>
              </a:rPr>
              <a:t>Riesgo del pool seleccionado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387" y="1536192"/>
            <a:ext cx="6541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5B6F66"/>
                </a:solidFill>
                <a:latin typeface="Segoe UI"/>
              </a:rPr>
              <a:t>Prob. prom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1387" y="1700784"/>
            <a:ext cx="654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130"/>
                </a:solidFill>
                <a:latin typeface="Segoe UI"/>
              </a:rPr>
              <a:t>30.7%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5488" y="1536192"/>
            <a:ext cx="6541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5B6F66"/>
                </a:solidFill>
                <a:latin typeface="Segoe UI"/>
              </a:rPr>
              <a:t>Tasa malos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8" y="1700784"/>
            <a:ext cx="654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130"/>
                </a:solidFill>
                <a:latin typeface="Segoe UI"/>
              </a:rPr>
              <a:t>7.8%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9588" y="1536192"/>
            <a:ext cx="6541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5B6F66"/>
                </a:solidFill>
                <a:latin typeface="Segoe UI"/>
              </a:rPr>
              <a:t>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9588" y="1700784"/>
            <a:ext cx="654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5130"/>
                </a:solidFill>
                <a:latin typeface="Segoe UI"/>
              </a:rPr>
              <a:t>693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3145" y="1060704"/>
            <a:ext cx="2181758" cy="1060704"/>
          </a:xfrm>
          <a:prstGeom prst="roundRect">
            <a:avLst>
              <a:gd name="adj" fmla="val 9482"/>
            </a:avLst>
          </a:prstGeom>
          <a:solidFill>
            <a:srgbClr val="0A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1161" y="1170431"/>
            <a:ext cx="196230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Nuevos leads por 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1161" y="1517904"/>
            <a:ext cx="196230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Segoe UI"/>
              </a:rPr>
              <a:t>+8,950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1" y="1901952"/>
            <a:ext cx="19623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E6F3EC"/>
                </a:solidFill>
                <a:latin typeface="Segoe UI"/>
              </a:rPr>
              <a:t>11,024 elegibles / mes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84048" y="2304288"/>
          <a:ext cx="11420852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56564"/>
                <a:gridCol w="1142085"/>
                <a:gridCol w="1998649"/>
                <a:gridCol w="1027877"/>
                <a:gridCol w="2169962"/>
                <a:gridCol w="1998649"/>
                <a:gridCol w="2227066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FFFFFF"/>
                          </a:solidFill>
                          <a:latin typeface="Segoe UI"/>
                        </a:rPr>
                        <a:t>Base inicial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FFFFFF"/>
                          </a:solidFill>
                          <a:latin typeface="Segoe UI"/>
                        </a:rPr>
                        <a:t>% base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FFFFFF"/>
                          </a:solidFill>
                          <a:latin typeface="Segoe UI"/>
                        </a:rPr>
                        <a:t>Nuevos (fuera camp.)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FFFFFF"/>
                          </a:solidFill>
                          <a:latin typeface="Segoe UI"/>
                        </a:rPr>
                        <a:t>Hoy en campaña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1F5130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B1  ✓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ADEAB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24.4%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4,442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0.8%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3,233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1,102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756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B2  ✓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AF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26.9%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7,021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1.2%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5,668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708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730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B3  ✓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BB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28.8%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27,721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4.8%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17,052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5,045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711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B4  ✓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C7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34.6%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1F5130"/>
                          </a:solidFill>
                          <a:latin typeface="Segoe UI"/>
                        </a:rPr>
                        <a:t>26,961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4.6%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18,067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5,587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14271D"/>
                          </a:solidFill>
                          <a:latin typeface="Segoe UI"/>
                        </a:rPr>
                        <a:t>654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FAE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3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35.1%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51,215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8.8%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42,440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2,983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649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EA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40.0%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32,686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5.6%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24,750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6,747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599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E9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40.3%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132,679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22.8%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121,324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5,418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597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DD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44.4%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20,663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3.5%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17,990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5,167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555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D1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45.1%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108,579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18.6%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103,892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5,243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549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C5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45.3%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28,296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4.9%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28,128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145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547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B9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51.8%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38,475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6.6%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37,084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19,931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482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none"/>
                    <a:lstStyle/>
                    <a:p>
                      <a:pPr algn="ctr"/>
                      <a:r>
                        <a:rPr sz="860" b="1">
                          <a:solidFill>
                            <a:srgbClr val="112233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EAADA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52.3%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104,189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17.9%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103,856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1,631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0">
                          <a:solidFill>
                            <a:srgbClr val="9FB0A8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60" b="1">
                          <a:solidFill>
                            <a:srgbClr val="0A4B44"/>
                          </a:solidFill>
                          <a:latin typeface="Segoe UI"/>
                        </a:rPr>
                        <a:t>Incluidos (4)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0A4B44"/>
                          </a:solidFill>
                          <a:latin typeface="Segoe UI"/>
                        </a:rPr>
                        <a:t>30.7%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0A4B44"/>
                          </a:solidFill>
                          <a:latin typeface="Segoe UI"/>
                        </a:rPr>
                        <a:t>66,145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0A4B44"/>
                          </a:solidFill>
                          <a:latin typeface="Segoe UI"/>
                        </a:rPr>
                        <a:t>11.3%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0A4B44"/>
                          </a:solidFill>
                          <a:latin typeface="Segoe UI"/>
                        </a:rPr>
                        <a:t>44,020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0A4B44"/>
                          </a:solidFill>
                          <a:latin typeface="Segoe UI"/>
                        </a:rPr>
                        <a:t>12,442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60" b="1">
                          <a:solidFill>
                            <a:srgbClr val="0A4B44"/>
                          </a:solidFill>
                          <a:latin typeface="Segoe UI"/>
                        </a:rPr>
                        <a:t>693</a:t>
                      </a:r>
                    </a:p>
                  </a:txBody>
                  <a:tcPr anchor="ctr" marL="54864" marR="54864" marT="9144" marB="9144">
                    <a:lnL w="9525" cap="flat">
                      <a:solidFill>
                        <a:srgbClr val="EAF1ED"/>
                      </a:solidFill>
                    </a:lnL>
                    <a:lnR w="9525" cap="flat">
                      <a:solidFill>
                        <a:srgbClr val="EAF1ED"/>
                      </a:solidFill>
                    </a:lnR>
                    <a:lnT w="9525" cap="flat">
                      <a:solidFill>
                        <a:srgbClr val="EAF1ED"/>
                      </a:solidFill>
                    </a:lnT>
                    <a:lnB w="9525" cap="flat">
                      <a:solidFill>
                        <a:srgbClr val="EAF1ED"/>
                      </a:solidFill>
                    </a:lnB>
                    <a:solidFill>
                      <a:srgbClr val="DFF0EA"/>
                    </a:solidFill>
                  </a:tcPr>
                </a:tc>
              </a:tr>
            </a:tbl>
          </a:graphicData>
        </a:graphic>
      </p:graphicFrame>
      <p:cxnSp>
        <p:nvCxnSpPr>
          <p:cNvPr id="35" name="Connector 34"/>
          <p:cNvCxnSpPr/>
          <p:nvPr/>
        </p:nvCxnSpPr>
        <p:spPr>
          <a:xfrm>
            <a:off x="384048" y="3511296"/>
            <a:ext cx="11420856" cy="0"/>
          </a:xfrm>
          <a:prstGeom prst="line">
            <a:avLst/>
          </a:prstGeom>
          <a:ln w="20320">
            <a:solidFill>
              <a:srgbClr val="D24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hlinkClick r:id="rId2"/>
          </p:cNvPr>
          <p:cNvSpPr/>
          <p:nvPr/>
        </p:nvSpPr>
        <p:spPr>
          <a:xfrm>
            <a:off x="4472787" y="5925312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1AA44C"/>
          </a:solidFill>
          <a:ln w="15875">
            <a:solidFill>
              <a:srgbClr val="1F5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▶  Abrir simulador interactivo (HTML)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4048" y="6455664"/>
            <a:ext cx="11420856" cy="0"/>
          </a:xfrm>
          <a:prstGeom prst="line">
            <a:avLst/>
          </a:prstGeom>
          <a:ln w="12700">
            <a:solidFill>
              <a:srgbClr val="E3E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4048" y="65196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Leads elegibles:</a:t>
            </a:r>
            <a:r>
              <a:rPr sz="760" b="0">
                <a:solidFill>
                  <a:srgbClr val="8A9B93"/>
                </a:solidFill>
                <a:latin typeface="Segoe UI"/>
              </a:rPr>
              <a:t> Σ Cantidad de la base inicial con Prob. ≤ 35%</a:t>
            </a:r>
            <a:r>
              <a:rPr sz="760" b="1">
                <a:solidFill>
                  <a:srgbClr val="26603A"/>
                </a:solidFill>
                <a:latin typeface="Segoe UI"/>
              </a:rPr>
              <a:t>  ·  Nuevos:</a:t>
            </a:r>
            <a:r>
              <a:rPr sz="760" b="0">
                <a:solidFill>
                  <a:srgbClr val="8A9B93"/>
                </a:solidFill>
                <a:latin typeface="Segoe UI"/>
              </a:rPr>
              <a:t> elegibles − los que hoy están en campaña.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5196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26603A"/>
                </a:solidFill>
                <a:latin typeface="Segoe UI"/>
              </a:rPr>
              <a:t>Enlace:</a:t>
            </a:r>
            <a:r>
              <a:rPr sz="760" b="0">
                <a:solidFill>
                  <a:srgbClr val="8A9B93"/>
                </a:solidFill>
                <a:latin typeface="Segoe UI"/>
              </a:rPr>
              <a:t> mantén el HTML junto a este PPT.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