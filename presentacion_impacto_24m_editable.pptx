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mpacto_leads_24m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377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F5130"/>
                </a:solidFill>
                <a:latin typeface="Segoe UI"/>
              </a:rPr>
              <a:t>Impacto </a:t>
            </a:r>
            <a:r>
              <a:rPr sz="2100" b="1">
                <a:solidFill>
                  <a:srgbClr val="9AA6A0"/>
                </a:solidFill>
                <a:latin typeface="Segoe UI"/>
              </a:rPr>
              <a:t>| Nuevos leads · 24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7315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F66"/>
                </a:solidFill>
                <a:latin typeface="Segoe UI"/>
              </a:rPr>
              <a:t>Foto del apetito de riesgo: leads elegibles de la </a:t>
            </a:r>
            <a:r>
              <a:rPr sz="1000" b="1">
                <a:solidFill>
                  <a:srgbClr val="1F5130"/>
                </a:solidFill>
                <a:latin typeface="Segoe UI"/>
              </a:rPr>
              <a:t>base inicial</a:t>
            </a:r>
            <a:r>
              <a:rPr sz="1000" b="0">
                <a:solidFill>
                  <a:srgbClr val="5B6F66"/>
                </a:solidFill>
                <a:latin typeface="Segoe UI"/>
              </a:rPr>
              <a:t>, incremento vs. campaña actual y riesgo del pool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92440" y="27432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31089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1F5130"/>
                </a:solidFill>
                <a:latin typeface="Segoe UI"/>
              </a:rPr>
              <a:t>RD MÁXIMA 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0456" y="5029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5130"/>
                </a:solidFill>
                <a:latin typeface="Segoe UI"/>
              </a:rPr>
              <a:t>11%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85248" y="274320"/>
            <a:ext cx="1819656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4120" y="310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1F5130"/>
                </a:solidFill>
                <a:latin typeface="Segoe UI"/>
              </a:rPr>
              <a:t>APETITO RESULTANTE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04120" y="502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hasta </a:t>
            </a:r>
            <a:r>
              <a:rPr sz="1300" b="1">
                <a:solidFill>
                  <a:srgbClr val="22B24C"/>
                </a:solidFill>
                <a:latin typeface="Segoe UI"/>
              </a:rPr>
              <a:t>B4</a:t>
            </a:r>
            <a:r>
              <a:rPr sz="950" b="0">
                <a:solidFill>
                  <a:srgbClr val="5B6F66"/>
                </a:solidFill>
                <a:latin typeface="Segoe UI"/>
              </a:rPr>
              <a:t> · 4 buckets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Leads elegibles (base inicial)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66,145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11.3% de la base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3822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22B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21838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(incremento vs. campaña)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1838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+50,876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1838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× 4.3 vs. campaña actual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3596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1612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Hoy en campaña (en estos buckets)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1612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1F5130"/>
                </a:solidFill>
                <a:latin typeface="Segoe UI"/>
              </a:rPr>
              <a:t>15,269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1612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5B6F66"/>
                </a:solidFill>
                <a:latin typeface="Segoe UI"/>
              </a:rPr>
              <a:t>base de campañas · 20260617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3371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1387" y="1170431"/>
            <a:ext cx="196230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Riesgo del pool seleccionado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1387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Prob. prom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1387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30.7%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54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RD 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54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95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95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693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3145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0A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1161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por 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1161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+8,479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1161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11,024 elegibles / mes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84048" y="2304288"/>
          <a:ext cx="11420852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9459"/>
                <a:gridCol w="970772"/>
                <a:gridCol w="970772"/>
                <a:gridCol w="1941545"/>
                <a:gridCol w="1027877"/>
                <a:gridCol w="1941545"/>
                <a:gridCol w="1713128"/>
                <a:gridCol w="2055754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RD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Base inicial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% base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Nuevos (fuera camp.)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Hoy en campaña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DEAB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24.4%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4,442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0.8%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2,954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1,362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756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B2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26.9%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7,021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4,902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1,128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730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B3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BB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28.8%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27,721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4.8%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16,929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6,142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711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B4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C7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34.6%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10.1%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26,961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4.6%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18,063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6,637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654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3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35.1%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51,215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41,532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4,564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32,686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24,734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8,438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599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E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12.7%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132,679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22.8%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120,012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8,466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597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44.4%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20,663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17,898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6,063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555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1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45.1%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108,579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18.6%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103,198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6,900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C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45.3%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28,296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27,765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435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547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B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51.8%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38,475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36,960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24,874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482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A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52.3%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104,189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103,089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4,188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Incluidos (4)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30.7%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66,145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11.3%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42,848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15,269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693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</a:tr>
            </a:tbl>
          </a:graphicData>
        </a:graphic>
      </p:graphicFrame>
      <p:cxnSp>
        <p:nvCxnSpPr>
          <p:cNvPr id="35" name="Connector 34"/>
          <p:cNvCxnSpPr/>
          <p:nvPr/>
        </p:nvCxnSpPr>
        <p:spPr>
          <a:xfrm>
            <a:off x="384048" y="3438144"/>
            <a:ext cx="11420856" cy="0"/>
          </a:xfrm>
          <a:prstGeom prst="line">
            <a:avLst/>
          </a:prstGeom>
          <a:ln w="20320">
            <a:solidFill>
              <a:srgbClr val="D24B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hlinkClick r:id="rId2"/>
          </p:cNvPr>
          <p:cNvSpPr/>
          <p:nvPr/>
        </p:nvSpPr>
        <p:spPr>
          <a:xfrm>
            <a:off x="4472787" y="5925312"/>
            <a:ext cx="3246120" cy="438912"/>
          </a:xfrm>
          <a:prstGeom prst="roundRect">
            <a:avLst>
              <a:gd name="adj" fmla="val 50000"/>
            </a:avLst>
          </a:prstGeom>
          <a:solidFill>
            <a:srgbClr val="1AA44C"/>
          </a:solidFill>
          <a:ln w="15875">
            <a:solidFill>
              <a:srgbClr val="1F51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▶  Abrir simulador interactivo (HTML)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" y="6455664"/>
            <a:ext cx="11420856" cy="0"/>
          </a:xfrm>
          <a:prstGeom prst="line">
            <a:avLst/>
          </a:prstGeom>
          <a:ln w="12700">
            <a:solidFill>
              <a:srgbClr val="E3E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84048" y="65196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Leads elegibles:</a:t>
            </a:r>
            <a:r>
              <a:rPr sz="760" b="0">
                <a:solidFill>
                  <a:srgbClr val="8A9B93"/>
                </a:solidFill>
                <a:latin typeface="Segoe UI"/>
              </a:rPr>
              <a:t> Σ Cantidad de la base inicial con RD ≤ 11%</a:t>
            </a:r>
            <a:r>
              <a:rPr sz="760" b="1">
                <a:solidFill>
                  <a:srgbClr val="26603A"/>
                </a:solidFill>
                <a:latin typeface="Segoe UI"/>
              </a:rPr>
              <a:t>  ·  RD</a:t>
            </a:r>
            <a:r>
              <a:rPr sz="760" b="0">
                <a:solidFill>
                  <a:srgbClr val="8A9B93"/>
                </a:solidFill>
                <a:latin typeface="Segoe UI"/>
              </a:rPr>
              <a:t> = tasa de riesgo / default observado  ·  </a:t>
            </a:r>
            <a:r>
              <a:rPr sz="760" b="1">
                <a:solidFill>
                  <a:srgbClr val="26603A"/>
                </a:solidFill>
                <a:latin typeface="Segoe UI"/>
              </a:rPr>
              <a:t>Nuevos:</a:t>
            </a:r>
            <a:r>
              <a:rPr sz="760" b="0">
                <a:solidFill>
                  <a:srgbClr val="8A9B93"/>
                </a:solidFill>
                <a:latin typeface="Segoe UI"/>
              </a:rPr>
              <a:t> elegibles − los de campaña.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5196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Enlace:</a:t>
            </a:r>
            <a:r>
              <a:rPr sz="760" b="0">
                <a:solidFill>
                  <a:srgbClr val="8A9B93"/>
                </a:solidFill>
                <a:latin typeface="Segoe UI"/>
              </a:rPr>
              <a:t> mantén el HTML junto a este PPT.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