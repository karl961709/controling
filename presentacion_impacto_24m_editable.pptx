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impacto_leads_24m.html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237744"/>
            <a:ext cx="7498079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1">
                <a:solidFill>
                  <a:srgbClr val="1F5130"/>
                </a:solidFill>
                <a:latin typeface="Segoe UI"/>
              </a:rPr>
              <a:t>Impacto </a:t>
            </a:r>
            <a:r>
              <a:rPr sz="2100" b="1">
                <a:solidFill>
                  <a:srgbClr val="9AA6A0"/>
                </a:solidFill>
                <a:latin typeface="Segoe UI"/>
              </a:rPr>
              <a:t>| Nuevos leads · 24 meses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676656"/>
            <a:ext cx="731520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5B6F66"/>
                </a:solidFill>
                <a:latin typeface="Segoe UI"/>
              </a:rPr>
              <a:t>Foto del apetito de riesgo: leads elegibles de la </a:t>
            </a:r>
            <a:r>
              <a:rPr sz="1000" b="1">
                <a:solidFill>
                  <a:srgbClr val="1F5130"/>
                </a:solidFill>
                <a:latin typeface="Segoe UI"/>
              </a:rPr>
              <a:t>base inicial</a:t>
            </a:r>
            <a:r>
              <a:rPr sz="1000" b="0">
                <a:solidFill>
                  <a:srgbClr val="5B6F66"/>
                </a:solidFill>
                <a:latin typeface="Segoe UI"/>
              </a:rPr>
              <a:t>, incremento vs. campaña actual y riesgo del pool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092440" y="274320"/>
            <a:ext cx="1783080" cy="566928"/>
          </a:xfrm>
          <a:prstGeom prst="roundRect">
            <a:avLst>
              <a:gd name="adj" fmla="val 16129"/>
            </a:avLst>
          </a:prstGeom>
          <a:solidFill>
            <a:srgbClr val="EEF4F1"/>
          </a:solidFill>
          <a:ln w="12700">
            <a:solidFill>
              <a:srgbClr val="E0EB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0456" y="310896"/>
            <a:ext cx="15544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50" b="1">
                <a:solidFill>
                  <a:srgbClr val="1F5130"/>
                </a:solidFill>
                <a:latin typeface="Segoe UI"/>
              </a:rPr>
              <a:t>RD MÁXIMA 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0456" y="502920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>
                <a:solidFill>
                  <a:srgbClr val="1F5130"/>
                </a:solidFill>
                <a:latin typeface="Segoe UI"/>
              </a:rPr>
              <a:t>11%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985248" y="274320"/>
            <a:ext cx="1819656" cy="566928"/>
          </a:xfrm>
          <a:prstGeom prst="roundRect">
            <a:avLst>
              <a:gd name="adj" fmla="val 16129"/>
            </a:avLst>
          </a:prstGeom>
          <a:solidFill>
            <a:srgbClr val="EEF4F1"/>
          </a:solidFill>
          <a:ln w="12700">
            <a:solidFill>
              <a:srgbClr val="E0EB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104120" y="310896"/>
            <a:ext cx="1645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1">
                <a:solidFill>
                  <a:srgbClr val="1F5130"/>
                </a:solidFill>
                <a:latin typeface="Segoe UI"/>
              </a:rPr>
              <a:t>APETITO RESULTANTE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104120" y="502920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5B6F66"/>
                </a:solidFill>
                <a:latin typeface="Segoe UI"/>
              </a:rPr>
              <a:t>hasta </a:t>
            </a:r>
            <a:r>
              <a:rPr sz="1300" b="1">
                <a:solidFill>
                  <a:srgbClr val="22B24C"/>
                </a:solidFill>
                <a:latin typeface="Segoe UI"/>
              </a:rPr>
              <a:t>B4</a:t>
            </a:r>
            <a:r>
              <a:rPr sz="950" b="0">
                <a:solidFill>
                  <a:srgbClr val="5B6F66"/>
                </a:solidFill>
                <a:latin typeface="Segoe UI"/>
              </a:rPr>
              <a:t> · 4 buckets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84048" y="1060704"/>
            <a:ext cx="2181758" cy="1060704"/>
          </a:xfrm>
          <a:prstGeom prst="roundRect">
            <a:avLst>
              <a:gd name="adj" fmla="val 9482"/>
            </a:avLst>
          </a:prstGeom>
          <a:solidFill>
            <a:srgbClr val="1F5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2064" y="1170431"/>
            <a:ext cx="196230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1">
                <a:solidFill>
                  <a:srgbClr val="FFFFFF"/>
                </a:solidFill>
                <a:latin typeface="Segoe UI"/>
              </a:rPr>
              <a:t>Leads elegibles (base inicial)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2064" y="1517904"/>
            <a:ext cx="1962302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300" b="1">
                <a:solidFill>
                  <a:srgbClr val="FFFFFF"/>
                </a:solidFill>
                <a:latin typeface="Segoe UI"/>
              </a:rPr>
              <a:t>66,145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2064" y="1901952"/>
            <a:ext cx="196230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69" b="0">
                <a:solidFill>
                  <a:srgbClr val="E6F3EC"/>
                </a:solidFill>
                <a:latin typeface="Segoe UI"/>
              </a:rPr>
              <a:t>11.3% de la base inicial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693822" y="1060704"/>
            <a:ext cx="2181758" cy="1060704"/>
          </a:xfrm>
          <a:prstGeom prst="roundRect">
            <a:avLst>
              <a:gd name="adj" fmla="val 9482"/>
            </a:avLst>
          </a:prstGeom>
          <a:solidFill>
            <a:srgbClr val="22B2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821838" y="1170431"/>
            <a:ext cx="196230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1">
                <a:solidFill>
                  <a:srgbClr val="FFFFFF"/>
                </a:solidFill>
                <a:latin typeface="Segoe UI"/>
              </a:rPr>
              <a:t>Nuevos leads (incremento vs. campaña)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21838" y="1517904"/>
            <a:ext cx="1962302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300" b="1">
                <a:solidFill>
                  <a:srgbClr val="FFFFFF"/>
                </a:solidFill>
                <a:latin typeface="Segoe UI"/>
              </a:rPr>
              <a:t>+53,703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21838" y="1901952"/>
            <a:ext cx="196230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69" b="0">
                <a:solidFill>
                  <a:srgbClr val="E6F3EC"/>
                </a:solidFill>
                <a:latin typeface="Segoe UI"/>
              </a:rPr>
              <a:t>× 5.3 vs. campaña actual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03596" y="1060704"/>
            <a:ext cx="2181758" cy="1060704"/>
          </a:xfrm>
          <a:prstGeom prst="roundRect">
            <a:avLst>
              <a:gd name="adj" fmla="val 9482"/>
            </a:avLst>
          </a:prstGeom>
          <a:solidFill>
            <a:srgbClr val="EEF4F1"/>
          </a:solidFill>
          <a:ln w="12700">
            <a:solidFill>
              <a:srgbClr val="E0EB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31612" y="1170431"/>
            <a:ext cx="196230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1">
                <a:solidFill>
                  <a:srgbClr val="5B6F66"/>
                </a:solidFill>
                <a:latin typeface="Segoe UI"/>
              </a:rPr>
              <a:t>Hoy en campaña (en estos buckets)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31612" y="1517904"/>
            <a:ext cx="1962302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300" b="1">
                <a:solidFill>
                  <a:srgbClr val="1F5130"/>
                </a:solidFill>
                <a:latin typeface="Segoe UI"/>
              </a:rPr>
              <a:t>12,442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31612" y="1901952"/>
            <a:ext cx="196230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69" b="0">
                <a:solidFill>
                  <a:srgbClr val="5B6F66"/>
                </a:solidFill>
                <a:latin typeface="Segoe UI"/>
              </a:rPr>
              <a:t>base de campañas · 20260624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13371" y="1060704"/>
            <a:ext cx="2181758" cy="1060704"/>
          </a:xfrm>
          <a:prstGeom prst="roundRect">
            <a:avLst>
              <a:gd name="adj" fmla="val 9482"/>
            </a:avLst>
          </a:prstGeom>
          <a:solidFill>
            <a:srgbClr val="EEF4F1"/>
          </a:solidFill>
          <a:ln w="12700">
            <a:solidFill>
              <a:srgbClr val="E0EB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441387" y="1170431"/>
            <a:ext cx="196230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1">
                <a:solidFill>
                  <a:srgbClr val="5B6F66"/>
                </a:solidFill>
                <a:latin typeface="Segoe UI"/>
              </a:rPr>
              <a:t>Riesgo del pool seleccionado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41387" y="1536192"/>
            <a:ext cx="6541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30" b="0">
                <a:solidFill>
                  <a:srgbClr val="5B6F66"/>
                </a:solidFill>
                <a:latin typeface="Segoe UI"/>
              </a:rPr>
              <a:t>Prob. prom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41387" y="1700784"/>
            <a:ext cx="6541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>
                <a:solidFill>
                  <a:srgbClr val="1F5130"/>
                </a:solidFill>
                <a:latin typeface="Segoe UI"/>
              </a:rPr>
              <a:t>30.7%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95488" y="1536192"/>
            <a:ext cx="6541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30" b="0">
                <a:solidFill>
                  <a:srgbClr val="5B6F66"/>
                </a:solidFill>
                <a:latin typeface="Segoe UI"/>
              </a:rPr>
              <a:t>RD prom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95488" y="1700784"/>
            <a:ext cx="6541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>
                <a:solidFill>
                  <a:srgbClr val="1F5130"/>
                </a:solidFill>
                <a:latin typeface="Segoe UI"/>
              </a:rPr>
              <a:t>7.8%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749588" y="1536192"/>
            <a:ext cx="6541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30" b="0">
                <a:solidFill>
                  <a:srgbClr val="5B6F66"/>
                </a:solidFill>
                <a:latin typeface="Segoe UI"/>
              </a:rPr>
              <a:t>Score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749588" y="1700784"/>
            <a:ext cx="6541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>
                <a:solidFill>
                  <a:srgbClr val="1F5130"/>
                </a:solidFill>
                <a:latin typeface="Segoe UI"/>
              </a:rPr>
              <a:t>693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623145" y="1060704"/>
            <a:ext cx="2181758" cy="1060704"/>
          </a:xfrm>
          <a:prstGeom prst="roundRect">
            <a:avLst>
              <a:gd name="adj" fmla="val 9482"/>
            </a:avLst>
          </a:prstGeom>
          <a:solidFill>
            <a:srgbClr val="0A5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751161" y="1170431"/>
            <a:ext cx="196230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1">
                <a:solidFill>
                  <a:srgbClr val="FFFFFF"/>
                </a:solidFill>
                <a:latin typeface="Segoe UI"/>
              </a:rPr>
              <a:t>Nuevos leads por mes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751161" y="1517904"/>
            <a:ext cx="1962302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300" b="1">
                <a:solidFill>
                  <a:srgbClr val="FFFFFF"/>
                </a:solidFill>
                <a:latin typeface="Segoe UI"/>
              </a:rPr>
              <a:t>+8,950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751161" y="1901952"/>
            <a:ext cx="196230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69" b="0">
                <a:solidFill>
                  <a:srgbClr val="E6F3EC"/>
                </a:solidFill>
                <a:latin typeface="Segoe UI"/>
              </a:rPr>
              <a:t>11,024 elegibles / mes</a:t>
            </a:r>
          </a:p>
        </p:txBody>
      </p:sp>
      <p:graphicFrame>
        <p:nvGraphicFramePr>
          <p:cNvPr id="34" name="Table 33"/>
          <p:cNvGraphicFramePr>
            <a:graphicFrameLocks noGrp="1"/>
          </p:cNvGraphicFramePr>
          <p:nvPr/>
        </p:nvGraphicFramePr>
        <p:xfrm>
          <a:off x="384048" y="2304288"/>
          <a:ext cx="11420852" cy="3401568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799459"/>
                <a:gridCol w="970772"/>
                <a:gridCol w="970772"/>
                <a:gridCol w="1941545"/>
                <a:gridCol w="1027877"/>
                <a:gridCol w="1941545"/>
                <a:gridCol w="1713128"/>
                <a:gridCol w="2055754"/>
              </a:tblGrid>
              <a:tr h="237744">
                <a:tc>
                  <a:txBody>
                    <a:bodyPr wrap="none"/>
                    <a:lstStyle/>
                    <a:p>
                      <a:pPr algn="l"/>
                      <a:r>
                        <a:rPr sz="840" b="1">
                          <a:solidFill>
                            <a:srgbClr val="FFFFFF"/>
                          </a:solidFill>
                          <a:latin typeface="Segoe UI"/>
                        </a:rPr>
                        <a:t>Buck.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1F513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40" b="1">
                          <a:solidFill>
                            <a:srgbClr val="FFFFFF"/>
                          </a:solidFill>
                          <a:latin typeface="Segoe UI"/>
                        </a:rPr>
                        <a:t>Prob.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1F513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40" b="1">
                          <a:solidFill>
                            <a:srgbClr val="FFFFFF"/>
                          </a:solidFill>
                          <a:latin typeface="Segoe UI"/>
                        </a:rPr>
                        <a:t>RD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1F513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40" b="1">
                          <a:solidFill>
                            <a:srgbClr val="FFFFFF"/>
                          </a:solidFill>
                          <a:latin typeface="Segoe UI"/>
                        </a:rPr>
                        <a:t>Base inicial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1F513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40" b="1">
                          <a:solidFill>
                            <a:srgbClr val="FFFFFF"/>
                          </a:solidFill>
                          <a:latin typeface="Segoe UI"/>
                        </a:rPr>
                        <a:t>% base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1F513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40" b="1">
                          <a:solidFill>
                            <a:srgbClr val="FFFFFF"/>
                          </a:solidFill>
                          <a:latin typeface="Segoe UI"/>
                        </a:rPr>
                        <a:t>Nuevos (fuera camp.)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1F513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40" b="1">
                          <a:solidFill>
                            <a:srgbClr val="FFFFFF"/>
                          </a:solidFill>
                          <a:latin typeface="Segoe UI"/>
                        </a:rPr>
                        <a:t>Hoy en campaña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1F513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40" b="1">
                          <a:solidFill>
                            <a:srgbClr val="FFFFFF"/>
                          </a:solidFill>
                          <a:latin typeface="Segoe UI"/>
                        </a:rPr>
                        <a:t>Score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1F5130"/>
                    </a:solidFill>
                  </a:tcPr>
                </a:tc>
              </a:tr>
              <a:tr h="242316">
                <a:tc>
                  <a:txBody>
                    <a:bodyPr wrap="none"/>
                    <a:lstStyle/>
                    <a:p>
                      <a:pPr algn="ctr"/>
                      <a:r>
                        <a:rPr sz="840" b="1">
                          <a:solidFill>
                            <a:srgbClr val="112233"/>
                          </a:solidFill>
                          <a:latin typeface="Segoe UI"/>
                        </a:rPr>
                        <a:t>B1  ✓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ADEAB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40" b="0">
                          <a:solidFill>
                            <a:srgbClr val="14271D"/>
                          </a:solidFill>
                          <a:latin typeface="Segoe UI"/>
                        </a:rPr>
                        <a:t>24.4%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EAFAE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40" b="1">
                          <a:solidFill>
                            <a:srgbClr val="1F5130"/>
                          </a:solidFill>
                          <a:latin typeface="Segoe UI"/>
                        </a:rPr>
                        <a:t>4.5%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EAFAE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40" b="1">
                          <a:solidFill>
                            <a:srgbClr val="1F5130"/>
                          </a:solidFill>
                          <a:latin typeface="Segoe UI"/>
                        </a:rPr>
                        <a:t>4,442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EAFAE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40" b="0">
                          <a:solidFill>
                            <a:srgbClr val="14271D"/>
                          </a:solidFill>
                          <a:latin typeface="Segoe UI"/>
                        </a:rPr>
                        <a:t>0.8%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EAFAE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40" b="0">
                          <a:solidFill>
                            <a:srgbClr val="14271D"/>
                          </a:solidFill>
                          <a:latin typeface="Segoe UI"/>
                        </a:rPr>
                        <a:t>3,233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EAFAE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40" b="0">
                          <a:solidFill>
                            <a:srgbClr val="14271D"/>
                          </a:solidFill>
                          <a:latin typeface="Segoe UI"/>
                        </a:rPr>
                        <a:t>1,102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EAFAE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40" b="0">
                          <a:solidFill>
                            <a:srgbClr val="14271D"/>
                          </a:solidFill>
                          <a:latin typeface="Segoe UI"/>
                        </a:rPr>
                        <a:t>756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EAFAEF"/>
                    </a:solidFill>
                  </a:tcPr>
                </a:tc>
              </a:tr>
              <a:tr h="242316">
                <a:tc>
                  <a:txBody>
                    <a:bodyPr wrap="none"/>
                    <a:lstStyle/>
                    <a:p>
                      <a:pPr algn="ctr"/>
                      <a:r>
                        <a:rPr sz="840" b="1">
                          <a:solidFill>
                            <a:srgbClr val="112233"/>
                          </a:solidFill>
                          <a:latin typeface="Segoe UI"/>
                        </a:rPr>
                        <a:t>B2  ✓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AFEAA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40" b="0">
                          <a:solidFill>
                            <a:srgbClr val="14271D"/>
                          </a:solidFill>
                          <a:latin typeface="Segoe UI"/>
                        </a:rPr>
                        <a:t>26.9%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EAFAE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40" b="1">
                          <a:solidFill>
                            <a:srgbClr val="1F5130"/>
                          </a:solidFill>
                          <a:latin typeface="Segoe UI"/>
                        </a:rPr>
                        <a:t>5.5%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EAFAE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40" b="1">
                          <a:solidFill>
                            <a:srgbClr val="1F5130"/>
                          </a:solidFill>
                          <a:latin typeface="Segoe UI"/>
                        </a:rPr>
                        <a:t>7,021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EAFAE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40" b="0">
                          <a:solidFill>
                            <a:srgbClr val="14271D"/>
                          </a:solidFill>
                          <a:latin typeface="Segoe UI"/>
                        </a:rPr>
                        <a:t>1.2%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EAFAE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40" b="0">
                          <a:solidFill>
                            <a:srgbClr val="14271D"/>
                          </a:solidFill>
                          <a:latin typeface="Segoe UI"/>
                        </a:rPr>
                        <a:t>5,668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EAFAE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40" b="0">
                          <a:solidFill>
                            <a:srgbClr val="14271D"/>
                          </a:solidFill>
                          <a:latin typeface="Segoe UI"/>
                        </a:rPr>
                        <a:t>708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EAFAE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40" b="0">
                          <a:solidFill>
                            <a:srgbClr val="14271D"/>
                          </a:solidFill>
                          <a:latin typeface="Segoe UI"/>
                        </a:rPr>
                        <a:t>730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EAFAEF"/>
                    </a:solidFill>
                  </a:tcPr>
                </a:tc>
              </a:tr>
              <a:tr h="242316">
                <a:tc>
                  <a:txBody>
                    <a:bodyPr wrap="none"/>
                    <a:lstStyle/>
                    <a:p>
                      <a:pPr algn="ctr"/>
                      <a:r>
                        <a:rPr sz="840" b="1">
                          <a:solidFill>
                            <a:srgbClr val="112233"/>
                          </a:solidFill>
                          <a:latin typeface="Segoe UI"/>
                        </a:rPr>
                        <a:t>B3  ✓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BBEAA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40" b="0">
                          <a:solidFill>
                            <a:srgbClr val="14271D"/>
                          </a:solidFill>
                          <a:latin typeface="Segoe UI"/>
                        </a:rPr>
                        <a:t>28.8%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EAFAE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40" b="1">
                          <a:solidFill>
                            <a:srgbClr val="1F5130"/>
                          </a:solidFill>
                          <a:latin typeface="Segoe UI"/>
                        </a:rPr>
                        <a:t>6.7%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EAFAE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40" b="1">
                          <a:solidFill>
                            <a:srgbClr val="1F5130"/>
                          </a:solidFill>
                          <a:latin typeface="Segoe UI"/>
                        </a:rPr>
                        <a:t>27,721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EAFAE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40" b="0">
                          <a:solidFill>
                            <a:srgbClr val="14271D"/>
                          </a:solidFill>
                          <a:latin typeface="Segoe UI"/>
                        </a:rPr>
                        <a:t>4.8%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EAFAE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40" b="0">
                          <a:solidFill>
                            <a:srgbClr val="14271D"/>
                          </a:solidFill>
                          <a:latin typeface="Segoe UI"/>
                        </a:rPr>
                        <a:t>17,052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EAFAE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40" b="0">
                          <a:solidFill>
                            <a:srgbClr val="14271D"/>
                          </a:solidFill>
                          <a:latin typeface="Segoe UI"/>
                        </a:rPr>
                        <a:t>5,045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EAFAE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40" b="0">
                          <a:solidFill>
                            <a:srgbClr val="14271D"/>
                          </a:solidFill>
                          <a:latin typeface="Segoe UI"/>
                        </a:rPr>
                        <a:t>711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EAFAEF"/>
                    </a:solidFill>
                  </a:tcPr>
                </a:tc>
              </a:tr>
              <a:tr h="242316">
                <a:tc>
                  <a:txBody>
                    <a:bodyPr wrap="none"/>
                    <a:lstStyle/>
                    <a:p>
                      <a:pPr algn="ctr"/>
                      <a:r>
                        <a:rPr sz="840" b="1">
                          <a:solidFill>
                            <a:srgbClr val="112233"/>
                          </a:solidFill>
                          <a:latin typeface="Segoe UI"/>
                        </a:rPr>
                        <a:t>B4  ✓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C7EAA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40" b="0">
                          <a:solidFill>
                            <a:srgbClr val="14271D"/>
                          </a:solidFill>
                          <a:latin typeface="Segoe UI"/>
                        </a:rPr>
                        <a:t>34.6%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EAFAE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40" b="1">
                          <a:solidFill>
                            <a:srgbClr val="1F5130"/>
                          </a:solidFill>
                          <a:latin typeface="Segoe UI"/>
                        </a:rPr>
                        <a:t>10.1%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EAFAE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40" b="1">
                          <a:solidFill>
                            <a:srgbClr val="1F5130"/>
                          </a:solidFill>
                          <a:latin typeface="Segoe UI"/>
                        </a:rPr>
                        <a:t>26,961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EAFAE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40" b="0">
                          <a:solidFill>
                            <a:srgbClr val="14271D"/>
                          </a:solidFill>
                          <a:latin typeface="Segoe UI"/>
                        </a:rPr>
                        <a:t>4.6%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EAFAE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40" b="0">
                          <a:solidFill>
                            <a:srgbClr val="14271D"/>
                          </a:solidFill>
                          <a:latin typeface="Segoe UI"/>
                        </a:rPr>
                        <a:t>18,067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EAFAE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40" b="0">
                          <a:solidFill>
                            <a:srgbClr val="14271D"/>
                          </a:solidFill>
                          <a:latin typeface="Segoe UI"/>
                        </a:rPr>
                        <a:t>5,587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EAFAE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40" b="0">
                          <a:solidFill>
                            <a:srgbClr val="14271D"/>
                          </a:solidFill>
                          <a:latin typeface="Segoe UI"/>
                        </a:rPr>
                        <a:t>654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EAFAEF"/>
                    </a:solidFill>
                  </a:tcPr>
                </a:tc>
              </a:tr>
              <a:tr h="242316">
                <a:tc>
                  <a:txBody>
                    <a:bodyPr wrap="none"/>
                    <a:lstStyle/>
                    <a:p>
                      <a:pPr algn="ctr"/>
                      <a:r>
                        <a:rPr sz="840" b="1">
                          <a:solidFill>
                            <a:srgbClr val="112233"/>
                          </a:solidFill>
                          <a:latin typeface="Segoe UI"/>
                        </a:rPr>
                        <a:t>B5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D3EAA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40" b="0">
                          <a:solidFill>
                            <a:srgbClr val="9FB0A8"/>
                          </a:solidFill>
                          <a:latin typeface="Segoe UI"/>
                        </a:rPr>
                        <a:t>35.1%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40" b="0">
                          <a:solidFill>
                            <a:srgbClr val="9FB0A8"/>
                          </a:solidFill>
                          <a:latin typeface="Segoe UI"/>
                        </a:rPr>
                        <a:t>11.5%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40" b="0">
                          <a:solidFill>
                            <a:srgbClr val="9FB0A8"/>
                          </a:solidFill>
                          <a:latin typeface="Segoe UI"/>
                        </a:rPr>
                        <a:t>51,215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40" b="0">
                          <a:solidFill>
                            <a:srgbClr val="9FB0A8"/>
                          </a:solidFill>
                          <a:latin typeface="Segoe UI"/>
                        </a:rPr>
                        <a:t>8.8%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40" b="0">
                          <a:solidFill>
                            <a:srgbClr val="9FB0A8"/>
                          </a:solidFill>
                          <a:latin typeface="Segoe UI"/>
                        </a:rPr>
                        <a:t>42,440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40" b="0">
                          <a:solidFill>
                            <a:srgbClr val="9FB0A8"/>
                          </a:solidFill>
                          <a:latin typeface="Segoe UI"/>
                        </a:rPr>
                        <a:t>2,983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40" b="0">
                          <a:solidFill>
                            <a:srgbClr val="9FB0A8"/>
                          </a:solidFill>
                          <a:latin typeface="Segoe UI"/>
                        </a:rPr>
                        <a:t>649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2316">
                <a:tc>
                  <a:txBody>
                    <a:bodyPr wrap="none"/>
                    <a:lstStyle/>
                    <a:p>
                      <a:pPr algn="ctr"/>
                      <a:r>
                        <a:rPr sz="840" b="1">
                          <a:solidFill>
                            <a:srgbClr val="112233"/>
                          </a:solidFill>
                          <a:latin typeface="Segoe UI"/>
                        </a:rPr>
                        <a:t>B6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DFEAA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40" b="0">
                          <a:solidFill>
                            <a:srgbClr val="9FB0A8"/>
                          </a:solidFill>
                          <a:latin typeface="Segoe UI"/>
                        </a:rPr>
                        <a:t>40.0%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40" b="0">
                          <a:solidFill>
                            <a:srgbClr val="9FB0A8"/>
                          </a:solidFill>
                          <a:latin typeface="Segoe UI"/>
                        </a:rPr>
                        <a:t>13.4%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40" b="0">
                          <a:solidFill>
                            <a:srgbClr val="9FB0A8"/>
                          </a:solidFill>
                          <a:latin typeface="Segoe UI"/>
                        </a:rPr>
                        <a:t>32,686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40" b="0">
                          <a:solidFill>
                            <a:srgbClr val="9FB0A8"/>
                          </a:solidFill>
                          <a:latin typeface="Segoe UI"/>
                        </a:rPr>
                        <a:t>5.6%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40" b="0">
                          <a:solidFill>
                            <a:srgbClr val="9FB0A8"/>
                          </a:solidFill>
                          <a:latin typeface="Segoe UI"/>
                        </a:rPr>
                        <a:t>24,750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40" b="0">
                          <a:solidFill>
                            <a:srgbClr val="9FB0A8"/>
                          </a:solidFill>
                          <a:latin typeface="Segoe UI"/>
                        </a:rPr>
                        <a:t>6,747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40" b="0">
                          <a:solidFill>
                            <a:srgbClr val="9FB0A8"/>
                          </a:solidFill>
                          <a:latin typeface="Segoe UI"/>
                        </a:rPr>
                        <a:t>599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2316">
                <a:tc>
                  <a:txBody>
                    <a:bodyPr wrap="none"/>
                    <a:lstStyle/>
                    <a:p>
                      <a:pPr algn="ctr"/>
                      <a:r>
                        <a:rPr sz="840" b="1">
                          <a:solidFill>
                            <a:srgbClr val="112233"/>
                          </a:solidFill>
                          <a:latin typeface="Segoe UI"/>
                        </a:rPr>
                        <a:t>B7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EAE9A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40" b="0">
                          <a:solidFill>
                            <a:srgbClr val="9FB0A8"/>
                          </a:solidFill>
                          <a:latin typeface="Segoe UI"/>
                        </a:rPr>
                        <a:t>40.3%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40" b="0">
                          <a:solidFill>
                            <a:srgbClr val="9FB0A8"/>
                          </a:solidFill>
                          <a:latin typeface="Segoe UI"/>
                        </a:rPr>
                        <a:t>12.7%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40" b="0">
                          <a:solidFill>
                            <a:srgbClr val="9FB0A8"/>
                          </a:solidFill>
                          <a:latin typeface="Segoe UI"/>
                        </a:rPr>
                        <a:t>132,679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40" b="0">
                          <a:solidFill>
                            <a:srgbClr val="9FB0A8"/>
                          </a:solidFill>
                          <a:latin typeface="Segoe UI"/>
                        </a:rPr>
                        <a:t>22.8%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40" b="0">
                          <a:solidFill>
                            <a:srgbClr val="9FB0A8"/>
                          </a:solidFill>
                          <a:latin typeface="Segoe UI"/>
                        </a:rPr>
                        <a:t>121,324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40" b="0">
                          <a:solidFill>
                            <a:srgbClr val="9FB0A8"/>
                          </a:solidFill>
                          <a:latin typeface="Segoe UI"/>
                        </a:rPr>
                        <a:t>5,418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40" b="0">
                          <a:solidFill>
                            <a:srgbClr val="9FB0A8"/>
                          </a:solidFill>
                          <a:latin typeface="Segoe UI"/>
                        </a:rPr>
                        <a:t>597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2316">
                <a:tc>
                  <a:txBody>
                    <a:bodyPr wrap="none"/>
                    <a:lstStyle/>
                    <a:p>
                      <a:pPr algn="ctr"/>
                      <a:r>
                        <a:rPr sz="840" b="1">
                          <a:solidFill>
                            <a:srgbClr val="112233"/>
                          </a:solidFill>
                          <a:latin typeface="Segoe UI"/>
                        </a:rPr>
                        <a:t>B8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EADDA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40" b="0">
                          <a:solidFill>
                            <a:srgbClr val="9FB0A8"/>
                          </a:solidFill>
                          <a:latin typeface="Segoe UI"/>
                        </a:rPr>
                        <a:t>44.4%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40" b="0">
                          <a:solidFill>
                            <a:srgbClr val="9FB0A8"/>
                          </a:solidFill>
                          <a:latin typeface="Segoe UI"/>
                        </a:rPr>
                        <a:t>17.1%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40" b="0">
                          <a:solidFill>
                            <a:srgbClr val="9FB0A8"/>
                          </a:solidFill>
                          <a:latin typeface="Segoe UI"/>
                        </a:rPr>
                        <a:t>20,663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40" b="0">
                          <a:solidFill>
                            <a:srgbClr val="9FB0A8"/>
                          </a:solidFill>
                          <a:latin typeface="Segoe UI"/>
                        </a:rPr>
                        <a:t>3.5%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40" b="0">
                          <a:solidFill>
                            <a:srgbClr val="9FB0A8"/>
                          </a:solidFill>
                          <a:latin typeface="Segoe UI"/>
                        </a:rPr>
                        <a:t>17,990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40" b="0">
                          <a:solidFill>
                            <a:srgbClr val="9FB0A8"/>
                          </a:solidFill>
                          <a:latin typeface="Segoe UI"/>
                        </a:rPr>
                        <a:t>5,167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40" b="0">
                          <a:solidFill>
                            <a:srgbClr val="9FB0A8"/>
                          </a:solidFill>
                          <a:latin typeface="Segoe UI"/>
                        </a:rPr>
                        <a:t>555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2316">
                <a:tc>
                  <a:txBody>
                    <a:bodyPr wrap="none"/>
                    <a:lstStyle/>
                    <a:p>
                      <a:pPr algn="ctr"/>
                      <a:r>
                        <a:rPr sz="840" b="1">
                          <a:solidFill>
                            <a:srgbClr val="112233"/>
                          </a:solidFill>
                          <a:latin typeface="Segoe UI"/>
                        </a:rPr>
                        <a:t>B9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EAD1A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40" b="0">
                          <a:solidFill>
                            <a:srgbClr val="9FB0A8"/>
                          </a:solidFill>
                          <a:latin typeface="Segoe UI"/>
                        </a:rPr>
                        <a:t>45.1%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40" b="0">
                          <a:solidFill>
                            <a:srgbClr val="9FB0A8"/>
                          </a:solidFill>
                          <a:latin typeface="Segoe UI"/>
                        </a:rPr>
                        <a:t>17.7%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40" b="0">
                          <a:solidFill>
                            <a:srgbClr val="9FB0A8"/>
                          </a:solidFill>
                          <a:latin typeface="Segoe UI"/>
                        </a:rPr>
                        <a:t>108,579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40" b="0">
                          <a:solidFill>
                            <a:srgbClr val="9FB0A8"/>
                          </a:solidFill>
                          <a:latin typeface="Segoe UI"/>
                        </a:rPr>
                        <a:t>18.6%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40" b="0">
                          <a:solidFill>
                            <a:srgbClr val="9FB0A8"/>
                          </a:solidFill>
                          <a:latin typeface="Segoe UI"/>
                        </a:rPr>
                        <a:t>103,892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40" b="0">
                          <a:solidFill>
                            <a:srgbClr val="9FB0A8"/>
                          </a:solidFill>
                          <a:latin typeface="Segoe UI"/>
                        </a:rPr>
                        <a:t>5,243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40" b="0">
                          <a:solidFill>
                            <a:srgbClr val="9FB0A8"/>
                          </a:solidFill>
                          <a:latin typeface="Segoe UI"/>
                        </a:rPr>
                        <a:t>549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2316">
                <a:tc>
                  <a:txBody>
                    <a:bodyPr wrap="none"/>
                    <a:lstStyle/>
                    <a:p>
                      <a:pPr algn="ctr"/>
                      <a:r>
                        <a:rPr sz="840" b="1">
                          <a:solidFill>
                            <a:srgbClr val="112233"/>
                          </a:solidFill>
                          <a:latin typeface="Segoe UI"/>
                        </a:rPr>
                        <a:t>B10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EAC5A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40" b="0">
                          <a:solidFill>
                            <a:srgbClr val="9FB0A8"/>
                          </a:solidFill>
                          <a:latin typeface="Segoe UI"/>
                        </a:rPr>
                        <a:t>45.3%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40" b="0">
                          <a:solidFill>
                            <a:srgbClr val="9FB0A8"/>
                          </a:solidFill>
                          <a:latin typeface="Segoe UI"/>
                        </a:rPr>
                        <a:t>19.6%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40" b="0">
                          <a:solidFill>
                            <a:srgbClr val="9FB0A8"/>
                          </a:solidFill>
                          <a:latin typeface="Segoe UI"/>
                        </a:rPr>
                        <a:t>28,296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40" b="0">
                          <a:solidFill>
                            <a:srgbClr val="9FB0A8"/>
                          </a:solidFill>
                          <a:latin typeface="Segoe UI"/>
                        </a:rPr>
                        <a:t>4.9%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40" b="0">
                          <a:solidFill>
                            <a:srgbClr val="9FB0A8"/>
                          </a:solidFill>
                          <a:latin typeface="Segoe UI"/>
                        </a:rPr>
                        <a:t>28,128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40" b="0">
                          <a:solidFill>
                            <a:srgbClr val="9FB0A8"/>
                          </a:solidFill>
                          <a:latin typeface="Segoe UI"/>
                        </a:rPr>
                        <a:t>145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40" b="0">
                          <a:solidFill>
                            <a:srgbClr val="9FB0A8"/>
                          </a:solidFill>
                          <a:latin typeface="Segoe UI"/>
                        </a:rPr>
                        <a:t>547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2316">
                <a:tc>
                  <a:txBody>
                    <a:bodyPr wrap="none"/>
                    <a:lstStyle/>
                    <a:p>
                      <a:pPr algn="ctr"/>
                      <a:r>
                        <a:rPr sz="840" b="1">
                          <a:solidFill>
                            <a:srgbClr val="112233"/>
                          </a:solidFill>
                          <a:latin typeface="Segoe UI"/>
                        </a:rPr>
                        <a:t>B11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EAB9A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40" b="0">
                          <a:solidFill>
                            <a:srgbClr val="9FB0A8"/>
                          </a:solidFill>
                          <a:latin typeface="Segoe UI"/>
                        </a:rPr>
                        <a:t>51.8%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40" b="0">
                          <a:solidFill>
                            <a:srgbClr val="9FB0A8"/>
                          </a:solidFill>
                          <a:latin typeface="Segoe UI"/>
                        </a:rPr>
                        <a:t>37.0%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40" b="0">
                          <a:solidFill>
                            <a:srgbClr val="9FB0A8"/>
                          </a:solidFill>
                          <a:latin typeface="Segoe UI"/>
                        </a:rPr>
                        <a:t>38,475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40" b="0">
                          <a:solidFill>
                            <a:srgbClr val="9FB0A8"/>
                          </a:solidFill>
                          <a:latin typeface="Segoe UI"/>
                        </a:rPr>
                        <a:t>6.6%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40" b="0">
                          <a:solidFill>
                            <a:srgbClr val="9FB0A8"/>
                          </a:solidFill>
                          <a:latin typeface="Segoe UI"/>
                        </a:rPr>
                        <a:t>37,084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40" b="0">
                          <a:solidFill>
                            <a:srgbClr val="9FB0A8"/>
                          </a:solidFill>
                          <a:latin typeface="Segoe UI"/>
                        </a:rPr>
                        <a:t>19,931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40" b="0">
                          <a:solidFill>
                            <a:srgbClr val="9FB0A8"/>
                          </a:solidFill>
                          <a:latin typeface="Segoe UI"/>
                        </a:rPr>
                        <a:t>482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2316">
                <a:tc>
                  <a:txBody>
                    <a:bodyPr wrap="none"/>
                    <a:lstStyle/>
                    <a:p>
                      <a:pPr algn="ctr"/>
                      <a:r>
                        <a:rPr sz="840" b="1">
                          <a:solidFill>
                            <a:srgbClr val="112233"/>
                          </a:solidFill>
                          <a:latin typeface="Segoe UI"/>
                        </a:rPr>
                        <a:t>B12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EAADA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40" b="0">
                          <a:solidFill>
                            <a:srgbClr val="9FB0A8"/>
                          </a:solidFill>
                          <a:latin typeface="Segoe UI"/>
                        </a:rPr>
                        <a:t>52.3%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40" b="0">
                          <a:solidFill>
                            <a:srgbClr val="9FB0A8"/>
                          </a:solidFill>
                          <a:latin typeface="Segoe UI"/>
                        </a:rPr>
                        <a:t>40.8%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40" b="0">
                          <a:solidFill>
                            <a:srgbClr val="9FB0A8"/>
                          </a:solidFill>
                          <a:latin typeface="Segoe UI"/>
                        </a:rPr>
                        <a:t>104,189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40" b="0">
                          <a:solidFill>
                            <a:srgbClr val="9FB0A8"/>
                          </a:solidFill>
                          <a:latin typeface="Segoe UI"/>
                        </a:rPr>
                        <a:t>17.9%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40" b="0">
                          <a:solidFill>
                            <a:srgbClr val="9FB0A8"/>
                          </a:solidFill>
                          <a:latin typeface="Segoe UI"/>
                        </a:rPr>
                        <a:t>103,856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40" b="0">
                          <a:solidFill>
                            <a:srgbClr val="9FB0A8"/>
                          </a:solidFill>
                          <a:latin typeface="Segoe UI"/>
                        </a:rPr>
                        <a:t>1,631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40" b="0">
                          <a:solidFill>
                            <a:srgbClr val="9FB0A8"/>
                          </a:solidFill>
                          <a:latin typeface="Segoe UI"/>
                        </a:rPr>
                        <a:t>477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 wrap="none"/>
                    <a:lstStyle/>
                    <a:p>
                      <a:pPr algn="l"/>
                      <a:r>
                        <a:rPr sz="840" b="1">
                          <a:solidFill>
                            <a:srgbClr val="0A4B44"/>
                          </a:solidFill>
                          <a:latin typeface="Segoe UI"/>
                        </a:rPr>
                        <a:t>Incluidos (4)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DFF0E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40" b="1">
                          <a:solidFill>
                            <a:srgbClr val="0A4B44"/>
                          </a:solidFill>
                          <a:latin typeface="Segoe UI"/>
                        </a:rPr>
                        <a:t>30.7%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DFF0E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40" b="1">
                          <a:solidFill>
                            <a:srgbClr val="0A4B44"/>
                          </a:solidFill>
                          <a:latin typeface="Segoe UI"/>
                        </a:rPr>
                        <a:t>7.8%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DFF0E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40" b="1">
                          <a:solidFill>
                            <a:srgbClr val="0A4B44"/>
                          </a:solidFill>
                          <a:latin typeface="Segoe UI"/>
                        </a:rPr>
                        <a:t>66,145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DFF0E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40" b="1">
                          <a:solidFill>
                            <a:srgbClr val="0A4B44"/>
                          </a:solidFill>
                          <a:latin typeface="Segoe UI"/>
                        </a:rPr>
                        <a:t>11.3%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DFF0E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40" b="1">
                          <a:solidFill>
                            <a:srgbClr val="0A4B44"/>
                          </a:solidFill>
                          <a:latin typeface="Segoe UI"/>
                        </a:rPr>
                        <a:t>44,020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DFF0E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40" b="1">
                          <a:solidFill>
                            <a:srgbClr val="0A4B44"/>
                          </a:solidFill>
                          <a:latin typeface="Segoe UI"/>
                        </a:rPr>
                        <a:t>12,442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DFF0E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40" b="1">
                          <a:solidFill>
                            <a:srgbClr val="0A4B44"/>
                          </a:solidFill>
                          <a:latin typeface="Segoe UI"/>
                        </a:rPr>
                        <a:t>693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DFF0EA"/>
                    </a:solidFill>
                  </a:tcPr>
                </a:tc>
              </a:tr>
            </a:tbl>
          </a:graphicData>
        </a:graphic>
      </p:graphicFrame>
      <p:cxnSp>
        <p:nvCxnSpPr>
          <p:cNvPr id="35" name="Connector 34"/>
          <p:cNvCxnSpPr/>
          <p:nvPr/>
        </p:nvCxnSpPr>
        <p:spPr>
          <a:xfrm>
            <a:off x="384048" y="3511296"/>
            <a:ext cx="11420856" cy="0"/>
          </a:xfrm>
          <a:prstGeom prst="line">
            <a:avLst/>
          </a:prstGeom>
          <a:ln w="20320">
            <a:solidFill>
              <a:srgbClr val="D24B3E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ounded Rectangle 35">
            <a:hlinkClick r:id="rId2"/>
          </p:cNvPr>
          <p:cNvSpPr/>
          <p:nvPr/>
        </p:nvSpPr>
        <p:spPr>
          <a:xfrm>
            <a:off x="4472787" y="5925312"/>
            <a:ext cx="3246120" cy="438912"/>
          </a:xfrm>
          <a:prstGeom prst="roundRect">
            <a:avLst>
              <a:gd name="adj" fmla="val 50000"/>
            </a:avLst>
          </a:prstGeom>
          <a:solidFill>
            <a:srgbClr val="1AA44C"/>
          </a:solidFill>
          <a:ln w="15875">
            <a:solidFill>
              <a:srgbClr val="1F51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350" b="1">
                <a:solidFill>
                  <a:srgbClr val="FFFFFF"/>
                </a:solidFill>
                <a:latin typeface="Segoe UI"/>
              </a:rPr>
              <a:t>▶  Abrir simulador interactivo (HTML)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384048" y="6455664"/>
            <a:ext cx="11420856" cy="0"/>
          </a:xfrm>
          <a:prstGeom prst="line">
            <a:avLst/>
          </a:prstGeom>
          <a:ln w="12700">
            <a:solidFill>
              <a:srgbClr val="E3ECE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384048" y="6519672"/>
            <a:ext cx="8138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60" b="1">
                <a:solidFill>
                  <a:srgbClr val="26603A"/>
                </a:solidFill>
                <a:latin typeface="Segoe UI"/>
              </a:rPr>
              <a:t>Leads elegibles:</a:t>
            </a:r>
            <a:r>
              <a:rPr sz="760" b="0">
                <a:solidFill>
                  <a:srgbClr val="8A9B93"/>
                </a:solidFill>
                <a:latin typeface="Segoe UI"/>
              </a:rPr>
              <a:t> Σ Cantidad de la base inicial con RD ≤ 11%</a:t>
            </a:r>
            <a:r>
              <a:rPr sz="760" b="1">
                <a:solidFill>
                  <a:srgbClr val="26603A"/>
                </a:solidFill>
                <a:latin typeface="Segoe UI"/>
              </a:rPr>
              <a:t>  ·  RD</a:t>
            </a:r>
            <a:r>
              <a:rPr sz="760" b="0">
                <a:solidFill>
                  <a:srgbClr val="8A9B93"/>
                </a:solidFill>
                <a:latin typeface="Segoe UI"/>
              </a:rPr>
              <a:t> = tasa de riesgo / default observado  ·  </a:t>
            </a:r>
            <a:r>
              <a:rPr sz="760" b="1">
                <a:solidFill>
                  <a:srgbClr val="26603A"/>
                </a:solidFill>
                <a:latin typeface="Segoe UI"/>
              </a:rPr>
              <a:t>Nuevos:</a:t>
            </a:r>
            <a:r>
              <a:rPr sz="760" b="0">
                <a:solidFill>
                  <a:srgbClr val="8A9B93"/>
                </a:solidFill>
                <a:latin typeface="Segoe UI"/>
              </a:rPr>
              <a:t> elegibles − los de campaña.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503920" y="6519672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60" b="1">
                <a:solidFill>
                  <a:srgbClr val="26603A"/>
                </a:solidFill>
                <a:latin typeface="Segoe UI"/>
              </a:rPr>
              <a:t>Enlace:</a:t>
            </a:r>
            <a:r>
              <a:rPr sz="760" b="0">
                <a:solidFill>
                  <a:srgbClr val="8A9B93"/>
                </a:solidFill>
                <a:latin typeface="Segoe UI"/>
              </a:rPr>
              <a:t> mantén el HTML junto a este PPT.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